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0" r:id="rId2"/>
    <p:sldId id="321" r:id="rId3"/>
    <p:sldId id="258" r:id="rId4"/>
    <p:sldId id="361" r:id="rId5"/>
    <p:sldId id="261" r:id="rId6"/>
    <p:sldId id="317" r:id="rId7"/>
    <p:sldId id="269" r:id="rId8"/>
    <p:sldId id="357" r:id="rId9"/>
    <p:sldId id="358" r:id="rId10"/>
    <p:sldId id="359" r:id="rId11"/>
    <p:sldId id="3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2" orient="horz" pos="2160" userDrawn="1">
          <p15:clr>
            <a:srgbClr val="A4A3A4"/>
          </p15:clr>
        </p15:guide>
        <p15:guide id="3" pos="3840"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4024"/>
    <a:srgbClr val="FB8734"/>
    <a:srgbClr val="A0BC34"/>
    <a:srgbClr val="45BE9B"/>
    <a:srgbClr val="0087B1"/>
    <a:srgbClr val="6D6386"/>
    <a:srgbClr val="EAD47E"/>
    <a:srgbClr val="EC9260"/>
    <a:srgbClr val="75C98E"/>
    <a:srgbClr val="00B8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33" autoAdjust="0"/>
    <p:restoredTop sz="94660"/>
  </p:normalViewPr>
  <p:slideViewPr>
    <p:cSldViewPr snapToGrid="0">
      <p:cViewPr>
        <p:scale>
          <a:sx n="55" d="100"/>
          <a:sy n="55" d="100"/>
        </p:scale>
        <p:origin x="-1128" y="-348"/>
      </p:cViewPr>
      <p:guideLst>
        <p:guide orient="horz" pos="2160"/>
        <p:guide pos="3840"/>
      </p:guideLst>
    </p:cSldViewPr>
  </p:slideViewPr>
  <p:notesTextViewPr>
    <p:cViewPr>
      <p:scale>
        <a:sx n="1" d="1"/>
        <a:sy n="1" d="1"/>
      </p:scale>
      <p:origin x="0" y="0"/>
    </p:cViewPr>
  </p:notesTextViewPr>
  <p:sorterViewPr>
    <p:cViewPr>
      <p:scale>
        <a:sx n="50" d="100"/>
        <a:sy n="50" d="100"/>
      </p:scale>
      <p:origin x="0" y="-6186"/>
    </p:cViewPr>
  </p:sorterViewPr>
  <p:notesViewPr>
    <p:cSldViewPr snapToGrid="0" showGuides="1">
      <p:cViewPr varScale="1">
        <p:scale>
          <a:sx n="57" d="100"/>
          <a:sy n="57" d="100"/>
        </p:scale>
        <p:origin x="19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8CAC218-E353-415B-80A2-7156E1FF4879}" type="datetimeFigureOut">
              <a:rPr lang="en-US" smtClean="0"/>
              <a:pPr/>
              <a:t>5/26/2025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3CFC87-2E25-4413-AEA2-517C1DD6647A}" type="slidenum">
              <a:rPr lang="en-US" smtClean="0"/>
              <a:pPr/>
              <a:t>‹#›</a:t>
            </a:fld>
            <a:endParaRPr lang="en-US"/>
          </a:p>
        </p:txBody>
      </p:sp>
    </p:spTree>
    <p:extLst>
      <p:ext uri="{BB962C8B-B14F-4D97-AF65-F5344CB8AC3E}">
        <p14:creationId xmlns:p14="http://schemas.microsoft.com/office/powerpoint/2010/main" val="3259007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B7D8E1-73C1-49C9-BEC6-63E2E92F6B0D}" type="datetimeFigureOut">
              <a:rPr lang="en-US" smtClean="0"/>
              <a:pPr/>
              <a:t>5/26/2025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F7B19A-EDBD-432A-9EB2-33ED3789B438}" type="slidenum">
              <a:rPr lang="en-US" smtClean="0"/>
              <a:pPr/>
              <a:t>‹#›</a:t>
            </a:fld>
            <a:endParaRPr lang="en-US"/>
          </a:p>
        </p:txBody>
      </p:sp>
    </p:spTree>
    <p:extLst>
      <p:ext uri="{BB962C8B-B14F-4D97-AF65-F5344CB8AC3E}">
        <p14:creationId xmlns:p14="http://schemas.microsoft.com/office/powerpoint/2010/main" val="2868815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191B987-AF5B-4E0F-BDD5-2EA312D9F5D8}" type="datetime1">
              <a:rPr lang="en-US" smtClean="0"/>
              <a:pPr/>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C37ADA-FE03-4EF7-8F15-3521BBE76F4D}" type="slidenum">
              <a:rPr lang="en-US" smtClean="0"/>
              <a:pPr/>
              <a:t>‹#›</a:t>
            </a:fld>
            <a:endParaRPr lang="en-US"/>
          </a:p>
        </p:txBody>
      </p:sp>
    </p:spTree>
    <p:extLst>
      <p:ext uri="{BB962C8B-B14F-4D97-AF65-F5344CB8AC3E}">
        <p14:creationId xmlns:p14="http://schemas.microsoft.com/office/powerpoint/2010/main" val="3716264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52B0800-84B7-4DAB-9B06-DFBC184CBF7C}" type="datetime1">
              <a:rPr lang="en-US" smtClean="0"/>
              <a:pPr/>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C37ADA-FE03-4EF7-8F15-3521BBE76F4D}" type="slidenum">
              <a:rPr lang="en-US" smtClean="0"/>
              <a:pPr/>
              <a:t>‹#›</a:t>
            </a:fld>
            <a:endParaRPr lang="en-US"/>
          </a:p>
        </p:txBody>
      </p:sp>
    </p:spTree>
    <p:extLst>
      <p:ext uri="{BB962C8B-B14F-4D97-AF65-F5344CB8AC3E}">
        <p14:creationId xmlns:p14="http://schemas.microsoft.com/office/powerpoint/2010/main" val="2057043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823D66C-26FA-41EB-AECB-2838A456B6A4}" type="datetime1">
              <a:rPr lang="en-US" smtClean="0"/>
              <a:pPr/>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C37ADA-FE03-4EF7-8F15-3521BBE76F4D}" type="slidenum">
              <a:rPr lang="en-US" smtClean="0"/>
              <a:pPr/>
              <a:t>‹#›</a:t>
            </a:fld>
            <a:endParaRPr lang="en-US"/>
          </a:p>
        </p:txBody>
      </p:sp>
    </p:spTree>
    <p:extLst>
      <p:ext uri="{BB962C8B-B14F-4D97-AF65-F5344CB8AC3E}">
        <p14:creationId xmlns:p14="http://schemas.microsoft.com/office/powerpoint/2010/main" val="3147702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C679345-EA1F-4CC2-814B-3B7A2BA3DB80}" type="datetime1">
              <a:rPr lang="en-US" smtClean="0"/>
              <a:pPr/>
              <a:t>5/26/2025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C37ADA-FE03-4EF7-8F15-3521BBE76F4D}" type="slidenum">
              <a:rPr lang="en-US" smtClean="0"/>
              <a:pPr/>
              <a:t>‹#›</a:t>
            </a:fld>
            <a:endParaRPr lang="en-US"/>
          </a:p>
        </p:txBody>
      </p:sp>
    </p:spTree>
    <p:extLst>
      <p:ext uri="{BB962C8B-B14F-4D97-AF65-F5344CB8AC3E}">
        <p14:creationId xmlns:p14="http://schemas.microsoft.com/office/powerpoint/2010/main" val="3434699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29E421D-6F7A-4980-92CF-C8F618F05004}" type="datetime1">
              <a:rPr lang="en-US" smtClean="0"/>
              <a:pPr/>
              <a:t>5/26/2025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C37ADA-FE03-4EF7-8F15-3521BBE76F4D}" type="slidenum">
              <a:rPr lang="en-US" smtClean="0"/>
              <a:pPr/>
              <a:t>‹#›</a:t>
            </a:fld>
            <a:endParaRPr lang="en-US"/>
          </a:p>
        </p:txBody>
      </p:sp>
    </p:spTree>
    <p:extLst>
      <p:ext uri="{BB962C8B-B14F-4D97-AF65-F5344CB8AC3E}">
        <p14:creationId xmlns:p14="http://schemas.microsoft.com/office/powerpoint/2010/main" val="972597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88355" y="211014"/>
            <a:ext cx="8615290" cy="801226"/>
          </a:xfrm>
        </p:spPr>
        <p:txBody>
          <a:bodyPr>
            <a:normAutofit/>
          </a:bodyPr>
          <a:lstStyle>
            <a:lvl1pPr algn="ctr">
              <a:defRPr sz="4000">
                <a:solidFill>
                  <a:schemeClr val="bg2"/>
                </a:solidFill>
              </a:defRPr>
            </a:lvl1pPr>
          </a:lstStyle>
          <a:p>
            <a:r>
              <a:rPr lang="en-US" dirty="0" smtClean="0"/>
              <a:t>Click to edit Master title style</a:t>
            </a:r>
            <a:endParaRPr lang="en-US" dirty="0"/>
          </a:p>
        </p:txBody>
      </p:sp>
      <p:sp>
        <p:nvSpPr>
          <p:cNvPr id="4" name="Footer Placeholder 3"/>
          <p:cNvSpPr>
            <a:spLocks noGrp="1"/>
          </p:cNvSpPr>
          <p:nvPr>
            <p:ph type="ftr" sz="quarter" idx="11"/>
          </p:nvPr>
        </p:nvSpPr>
        <p:spPr>
          <a:xfrm>
            <a:off x="4038598" y="871560"/>
            <a:ext cx="4114800" cy="365125"/>
          </a:xfrm>
        </p:spPr>
        <p:txBody>
          <a:bodyPr/>
          <a:lstStyle>
            <a:lvl1pPr>
              <a:defRPr sz="1400">
                <a:solidFill>
                  <a:schemeClr val="tx2"/>
                </a:solidFill>
              </a:defRPr>
            </a:lvl1pPr>
          </a:lstStyle>
          <a:p>
            <a:r>
              <a:rPr lang="en-US" smtClean="0">
                <a:solidFill>
                  <a:schemeClr val="bg2"/>
                </a:solidFill>
              </a:rPr>
              <a:t>Click Here To Change </a:t>
            </a:r>
            <a:r>
              <a:rPr lang="en-US" smtClean="0">
                <a:solidFill>
                  <a:schemeClr val="accent2"/>
                </a:solidFill>
              </a:rPr>
              <a:t>Your Subtitle</a:t>
            </a:r>
            <a:endParaRPr lang="en-US">
              <a:solidFill>
                <a:schemeClr val="accent2"/>
              </a:solidFill>
            </a:endParaRPr>
          </a:p>
        </p:txBody>
      </p:sp>
      <p:sp>
        <p:nvSpPr>
          <p:cNvPr id="7" name="Oval 6"/>
          <p:cNvSpPr/>
          <p:nvPr userDrawn="1"/>
        </p:nvSpPr>
        <p:spPr>
          <a:xfrm>
            <a:off x="11467932" y="6235784"/>
            <a:ext cx="516155" cy="5161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a:xfrm>
            <a:off x="11423606" y="6311298"/>
            <a:ext cx="604805" cy="365125"/>
          </a:xfrm>
        </p:spPr>
        <p:txBody>
          <a:bodyPr/>
          <a:lstStyle>
            <a:lvl1pPr algn="ctr">
              <a:defRPr sz="1400" b="1">
                <a:solidFill>
                  <a:schemeClr val="bg2"/>
                </a:solidFill>
              </a:defRPr>
            </a:lvl1pPr>
          </a:lstStyle>
          <a:p>
            <a:fld id="{98C37ADA-FE03-4EF7-8F15-3521BBE76F4D}" type="slidenum">
              <a:rPr lang="en-US" smtClean="0"/>
              <a:pPr/>
              <a:t>‹#›</a:t>
            </a:fld>
            <a:endParaRPr lang="en-US"/>
          </a:p>
        </p:txBody>
      </p:sp>
      <p:grpSp>
        <p:nvGrpSpPr>
          <p:cNvPr id="15" name="Group 14"/>
          <p:cNvGrpSpPr/>
          <p:nvPr userDrawn="1"/>
        </p:nvGrpSpPr>
        <p:grpSpPr>
          <a:xfrm>
            <a:off x="5666430" y="1236685"/>
            <a:ext cx="859135" cy="199000"/>
            <a:chOff x="7725979" y="2223853"/>
            <a:chExt cx="2965968" cy="687003"/>
          </a:xfrm>
        </p:grpSpPr>
        <p:sp>
          <p:nvSpPr>
            <p:cNvPr id="11" name="Diamond 10"/>
            <p:cNvSpPr/>
            <p:nvPr userDrawn="1"/>
          </p:nvSpPr>
          <p:spPr>
            <a:xfrm>
              <a:off x="7725979" y="2223853"/>
              <a:ext cx="687003" cy="687003"/>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p:cNvSpPr/>
            <p:nvPr userDrawn="1"/>
          </p:nvSpPr>
          <p:spPr>
            <a:xfrm>
              <a:off x="8485634" y="2223853"/>
              <a:ext cx="687003" cy="687003"/>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p:cNvSpPr/>
            <p:nvPr userDrawn="1"/>
          </p:nvSpPr>
          <p:spPr>
            <a:xfrm>
              <a:off x="9245289" y="2223853"/>
              <a:ext cx="687003" cy="687003"/>
            </a:xfrm>
            <a:prstGeom prst="diamond">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iamond 13"/>
            <p:cNvSpPr/>
            <p:nvPr userDrawn="1"/>
          </p:nvSpPr>
          <p:spPr>
            <a:xfrm>
              <a:off x="10004944" y="2223853"/>
              <a:ext cx="687003" cy="687003"/>
            </a:xfrm>
            <a:prstGeom prst="diamond">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77298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Oval 9"/>
          <p:cNvSpPr/>
          <p:nvPr userDrawn="1"/>
        </p:nvSpPr>
        <p:spPr>
          <a:xfrm>
            <a:off x="11413988" y="6167772"/>
            <a:ext cx="567771" cy="5677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4"/>
          <p:cNvSpPr>
            <a:spLocks noGrp="1"/>
          </p:cNvSpPr>
          <p:nvPr>
            <p:ph type="sldNum" sz="quarter" idx="12"/>
          </p:nvPr>
        </p:nvSpPr>
        <p:spPr>
          <a:xfrm>
            <a:off x="11333338" y="6269094"/>
            <a:ext cx="729069" cy="365125"/>
          </a:xfrm>
        </p:spPr>
        <p:txBody>
          <a:bodyPr/>
          <a:lstStyle>
            <a:lvl1pPr algn="ctr">
              <a:defRPr sz="1400" b="1">
                <a:solidFill>
                  <a:schemeClr val="bg2"/>
                </a:solidFill>
              </a:defRPr>
            </a:lvl1pPr>
          </a:lstStyle>
          <a:p>
            <a:fld id="{98C37ADA-FE03-4EF7-8F15-3521BBE76F4D}" type="slidenum">
              <a:rPr lang="en-US" smtClean="0"/>
              <a:pPr/>
              <a:t>‹#›</a:t>
            </a:fld>
            <a:endParaRPr lang="en-US"/>
          </a:p>
        </p:txBody>
      </p:sp>
    </p:spTree>
    <p:extLst>
      <p:ext uri="{BB962C8B-B14F-4D97-AF65-F5344CB8AC3E}">
        <p14:creationId xmlns:p14="http://schemas.microsoft.com/office/powerpoint/2010/main" val="799270401"/>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6778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9D4E48-2ADD-4B82-B5E9-2CBC29F56727}" type="datetime1">
              <a:rPr lang="en-US" smtClean="0"/>
              <a:pPr/>
              <a:t>5/26/2025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C37ADA-FE03-4EF7-8F15-3521BBE76F4D}" type="slidenum">
              <a:rPr lang="en-US" smtClean="0"/>
              <a:pPr/>
              <a:t>‹#›</a:t>
            </a:fld>
            <a:endParaRPr lang="en-US"/>
          </a:p>
        </p:txBody>
      </p:sp>
    </p:spTree>
    <p:extLst>
      <p:ext uri="{BB962C8B-B14F-4D97-AF65-F5344CB8AC3E}">
        <p14:creationId xmlns:p14="http://schemas.microsoft.com/office/powerpoint/2010/main" val="3186925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04521A-398F-4036-A1D0-B0A72CFE8D3C}" type="datetime1">
              <a:rPr lang="en-US" smtClean="0"/>
              <a:pPr/>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C37ADA-FE03-4EF7-8F15-3521BBE76F4D}" type="slidenum">
              <a:rPr lang="en-US" smtClean="0"/>
              <a:pPr/>
              <a:t>‹#›</a:t>
            </a:fld>
            <a:endParaRPr lang="en-US"/>
          </a:p>
        </p:txBody>
      </p:sp>
    </p:spTree>
    <p:extLst>
      <p:ext uri="{BB962C8B-B14F-4D97-AF65-F5344CB8AC3E}">
        <p14:creationId xmlns:p14="http://schemas.microsoft.com/office/powerpoint/2010/main" val="1924961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A7DCFB-FE36-4419-BA39-D8B1484D3249}" type="datetime1">
              <a:rPr lang="en-US" smtClean="0"/>
              <a:pPr/>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C37ADA-FE03-4EF7-8F15-3521BBE76F4D}" type="slidenum">
              <a:rPr lang="en-US" smtClean="0"/>
              <a:pPr/>
              <a:t>‹#›</a:t>
            </a:fld>
            <a:endParaRPr lang="en-US"/>
          </a:p>
        </p:txBody>
      </p:sp>
    </p:spTree>
    <p:extLst>
      <p:ext uri="{BB962C8B-B14F-4D97-AF65-F5344CB8AC3E}">
        <p14:creationId xmlns:p14="http://schemas.microsoft.com/office/powerpoint/2010/main" val="1968193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80EF69-68BE-44B4-A775-B7B2D2E26829}" type="datetime1">
              <a:rPr lang="en-US" smtClean="0"/>
              <a:pPr/>
              <a:t>5/26/2025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C37ADA-FE03-4EF7-8F15-3521BBE76F4D}" type="slidenum">
              <a:rPr lang="en-US" smtClean="0"/>
              <a:pPr/>
              <a:t>‹#›</a:t>
            </a:fld>
            <a:endParaRPr lang="en-US"/>
          </a:p>
        </p:txBody>
      </p:sp>
    </p:spTree>
    <p:extLst>
      <p:ext uri="{BB962C8B-B14F-4D97-AF65-F5344CB8AC3E}">
        <p14:creationId xmlns:p14="http://schemas.microsoft.com/office/powerpoint/2010/main" val="40629547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shalvitechnologieslko@gmail.com" TargetMode="External"/><Relationship Id="rId1" Type="http://schemas.openxmlformats.org/officeDocument/2006/relationships/slideLayout" Target="../slideLayouts/slideLayout8.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6857999"/>
          </a:xfrm>
          <a:prstGeom prst="rect">
            <a:avLst/>
          </a:prstGeom>
          <a:solidFill>
            <a:schemeClr val="tx2">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320430" y="4478969"/>
            <a:ext cx="5579477" cy="646331"/>
          </a:xfrm>
          <a:prstGeom prst="rect">
            <a:avLst/>
          </a:prstGeom>
          <a:noFill/>
        </p:spPr>
        <p:txBody>
          <a:bodyPr wrap="none" rtlCol="0">
            <a:spAutoFit/>
          </a:bodyPr>
          <a:lstStyle/>
          <a:p>
            <a:pPr algn="ctr"/>
            <a:r>
              <a:rPr lang="en-US" sz="3600" dirty="0">
                <a:solidFill>
                  <a:schemeClr val="bg2"/>
                </a:solidFill>
                <a:latin typeface="+mj-lt"/>
              </a:rPr>
              <a:t>SHALVI TECHNOLOGIES</a:t>
            </a:r>
          </a:p>
        </p:txBody>
      </p:sp>
      <p:grpSp>
        <p:nvGrpSpPr>
          <p:cNvPr id="14" name="Group 13"/>
          <p:cNvGrpSpPr/>
          <p:nvPr/>
        </p:nvGrpSpPr>
        <p:grpSpPr>
          <a:xfrm>
            <a:off x="4079463" y="3412536"/>
            <a:ext cx="4033073" cy="917648"/>
            <a:chOff x="3694079" y="3412536"/>
            <a:chExt cx="4033073" cy="917648"/>
          </a:xfrm>
        </p:grpSpPr>
        <p:sp>
          <p:nvSpPr>
            <p:cNvPr id="18" name="Oval 17"/>
            <p:cNvSpPr/>
            <p:nvPr/>
          </p:nvSpPr>
          <p:spPr>
            <a:xfrm>
              <a:off x="3694079" y="3415784"/>
              <a:ext cx="914400" cy="914400"/>
            </a:xfrm>
            <a:prstGeom prst="ellipse">
              <a:avLst/>
            </a:prstGeom>
            <a:solidFill>
              <a:schemeClr val="accent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4473748" y="3412536"/>
              <a:ext cx="914400" cy="914400"/>
            </a:xfrm>
            <a:prstGeom prst="ellipse">
              <a:avLst/>
            </a:prstGeom>
            <a:solidFill>
              <a:schemeClr val="accent2">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5253416" y="3412536"/>
              <a:ext cx="914400" cy="914400"/>
            </a:xfrm>
            <a:prstGeom prst="ellipse">
              <a:avLst/>
            </a:prstGeom>
            <a:solidFill>
              <a:schemeClr val="accent3">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6033084" y="3412536"/>
              <a:ext cx="914400" cy="914400"/>
            </a:xfrm>
            <a:prstGeom prst="ellipse">
              <a:avLst/>
            </a:prstGeom>
            <a:solidFill>
              <a:schemeClr val="accent4">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6812752" y="3412536"/>
              <a:ext cx="914400" cy="914400"/>
            </a:xfrm>
            <a:prstGeom prst="ellipse">
              <a:avLst/>
            </a:prstGeom>
            <a:solidFill>
              <a:schemeClr val="accent5">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p:cNvGrpSpPr/>
            <p:nvPr/>
          </p:nvGrpSpPr>
          <p:grpSpPr>
            <a:xfrm>
              <a:off x="5523112" y="3680504"/>
              <a:ext cx="383755" cy="384412"/>
              <a:chOff x="9145588" y="4435475"/>
              <a:chExt cx="464344" cy="465138"/>
            </a:xfrm>
            <a:solidFill>
              <a:schemeClr val="bg2"/>
            </a:solidFill>
          </p:grpSpPr>
          <p:sp>
            <p:nvSpPr>
              <p:cNvPr id="24" name="AutoShape 7"/>
              <p:cNvSpPr>
                <a:spLocks/>
              </p:cNvSpPr>
              <p:nvPr/>
            </p:nvSpPr>
            <p:spPr bwMode="auto">
              <a:xfrm>
                <a:off x="9145588" y="4435475"/>
                <a:ext cx="464344" cy="465138"/>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a:sym typeface="Gill Sans" charset="0"/>
                </a:endParaRPr>
              </a:p>
            </p:txBody>
          </p:sp>
          <p:sp>
            <p:nvSpPr>
              <p:cNvPr id="25" name="AutoShape 8"/>
              <p:cNvSpPr>
                <a:spLocks/>
              </p:cNvSpPr>
              <p:nvPr/>
            </p:nvSpPr>
            <p:spPr bwMode="auto">
              <a:xfrm>
                <a:off x="9348788" y="4638675"/>
                <a:ext cx="57944" cy="5794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a:sym typeface="Gill Sans" charset="0"/>
                </a:endParaRPr>
              </a:p>
            </p:txBody>
          </p:sp>
          <p:sp>
            <p:nvSpPr>
              <p:cNvPr id="26" name="AutoShape 9"/>
              <p:cNvSpPr>
                <a:spLocks/>
              </p:cNvSpPr>
              <p:nvPr/>
            </p:nvSpPr>
            <p:spPr bwMode="auto">
              <a:xfrm>
                <a:off x="9290050" y="4580732"/>
                <a:ext cx="174625" cy="174625"/>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a:sym typeface="Gill Sans" charset="0"/>
                </a:endParaRPr>
              </a:p>
            </p:txBody>
          </p:sp>
          <p:sp>
            <p:nvSpPr>
              <p:cNvPr id="27" name="AutoShape 10"/>
              <p:cNvSpPr>
                <a:spLocks/>
              </p:cNvSpPr>
              <p:nvPr/>
            </p:nvSpPr>
            <p:spPr bwMode="auto">
              <a:xfrm>
                <a:off x="9406732" y="4696619"/>
                <a:ext cx="72231" cy="74613"/>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a:sym typeface="Gill Sans" charset="0"/>
                </a:endParaRPr>
              </a:p>
            </p:txBody>
          </p:sp>
          <p:sp>
            <p:nvSpPr>
              <p:cNvPr id="28" name="AutoShape 11"/>
              <p:cNvSpPr>
                <a:spLocks/>
              </p:cNvSpPr>
              <p:nvPr/>
            </p:nvSpPr>
            <p:spPr bwMode="auto">
              <a:xfrm>
                <a:off x="9435307" y="4725988"/>
                <a:ext cx="103981" cy="106363"/>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a:sym typeface="Gill Sans" charset="0"/>
                </a:endParaRPr>
              </a:p>
            </p:txBody>
          </p:sp>
          <p:sp>
            <p:nvSpPr>
              <p:cNvPr id="29" name="AutoShape 12"/>
              <p:cNvSpPr>
                <a:spLocks/>
              </p:cNvSpPr>
              <p:nvPr/>
            </p:nvSpPr>
            <p:spPr bwMode="auto">
              <a:xfrm>
                <a:off x="9421019" y="4711700"/>
                <a:ext cx="88106" cy="89694"/>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a:sym typeface="Gill Sans" charset="0"/>
                </a:endParaRPr>
              </a:p>
            </p:txBody>
          </p:sp>
          <p:sp>
            <p:nvSpPr>
              <p:cNvPr id="30" name="AutoShape 13"/>
              <p:cNvSpPr>
                <a:spLocks/>
              </p:cNvSpPr>
              <p:nvPr/>
            </p:nvSpPr>
            <p:spPr bwMode="auto">
              <a:xfrm>
                <a:off x="9275763" y="4566444"/>
                <a:ext cx="73025" cy="7381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a:sym typeface="Gill Sans" charset="0"/>
                </a:endParaRPr>
              </a:p>
            </p:txBody>
          </p:sp>
          <p:sp>
            <p:nvSpPr>
              <p:cNvPr id="31" name="AutoShape 14"/>
              <p:cNvSpPr>
                <a:spLocks/>
              </p:cNvSpPr>
              <p:nvPr/>
            </p:nvSpPr>
            <p:spPr bwMode="auto">
              <a:xfrm>
                <a:off x="9217819" y="4508500"/>
                <a:ext cx="103981" cy="105569"/>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a:sym typeface="Gill Sans" charset="0"/>
                </a:endParaRPr>
              </a:p>
            </p:txBody>
          </p:sp>
          <p:sp>
            <p:nvSpPr>
              <p:cNvPr id="32" name="AutoShape 15"/>
              <p:cNvSpPr>
                <a:spLocks/>
              </p:cNvSpPr>
              <p:nvPr/>
            </p:nvSpPr>
            <p:spPr bwMode="auto">
              <a:xfrm>
                <a:off x="9247188" y="4537075"/>
                <a:ext cx="88107" cy="904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a:sym typeface="Gill Sans" charset="0"/>
                </a:endParaRPr>
              </a:p>
            </p:txBody>
          </p:sp>
        </p:grpSp>
        <p:sp>
          <p:nvSpPr>
            <p:cNvPr id="33" name="AutoShape 46"/>
            <p:cNvSpPr>
              <a:spLocks/>
            </p:cNvSpPr>
            <p:nvPr/>
          </p:nvSpPr>
          <p:spPr bwMode="auto">
            <a:xfrm>
              <a:off x="4734697" y="3669330"/>
              <a:ext cx="383755" cy="38375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4" y="17549"/>
                  </a:moveTo>
                  <a:cubicBezTo>
                    <a:pt x="15513" y="17549"/>
                    <a:pt x="14343" y="15612"/>
                    <a:pt x="13809" y="12825"/>
                  </a:cubicBezTo>
                  <a:lnTo>
                    <a:pt x="15524" y="12825"/>
                  </a:lnTo>
                  <a:cubicBezTo>
                    <a:pt x="17038" y="12825"/>
                    <a:pt x="18224" y="11343"/>
                    <a:pt x="18224" y="9450"/>
                  </a:cubicBezTo>
                  <a:cubicBezTo>
                    <a:pt x="18224" y="7558"/>
                    <a:pt x="17038" y="6075"/>
                    <a:pt x="15524" y="6075"/>
                  </a:cubicBezTo>
                  <a:lnTo>
                    <a:pt x="13809" y="6075"/>
                  </a:lnTo>
                  <a:cubicBezTo>
                    <a:pt x="14343" y="3289"/>
                    <a:pt x="15513" y="1350"/>
                    <a:pt x="16874" y="1350"/>
                  </a:cubicBezTo>
                  <a:cubicBezTo>
                    <a:pt x="18739" y="1350"/>
                    <a:pt x="20249" y="4976"/>
                    <a:pt x="20249" y="9450"/>
                  </a:cubicBezTo>
                  <a:cubicBezTo>
                    <a:pt x="20249" y="13923"/>
                    <a:pt x="18739" y="17549"/>
                    <a:pt x="16874" y="17549"/>
                  </a:cubicBezTo>
                  <a:moveTo>
                    <a:pt x="8926" y="11482"/>
                  </a:moveTo>
                  <a:lnTo>
                    <a:pt x="8774" y="11482"/>
                  </a:lnTo>
                  <a:lnTo>
                    <a:pt x="8774" y="11475"/>
                  </a:lnTo>
                  <a:cubicBezTo>
                    <a:pt x="8028" y="11475"/>
                    <a:pt x="7424" y="10569"/>
                    <a:pt x="7424" y="9450"/>
                  </a:cubicBezTo>
                  <a:cubicBezTo>
                    <a:pt x="7424" y="8332"/>
                    <a:pt x="8028" y="7425"/>
                    <a:pt x="8774" y="7425"/>
                  </a:cubicBezTo>
                  <a:lnTo>
                    <a:pt x="8926" y="7425"/>
                  </a:lnTo>
                  <a:cubicBezTo>
                    <a:pt x="10200" y="7425"/>
                    <a:pt x="11391" y="6924"/>
                    <a:pt x="12441" y="6063"/>
                  </a:cubicBezTo>
                  <a:cubicBezTo>
                    <a:pt x="12248" y="7149"/>
                    <a:pt x="12149" y="8300"/>
                    <a:pt x="12149" y="9450"/>
                  </a:cubicBezTo>
                  <a:cubicBezTo>
                    <a:pt x="12149" y="10603"/>
                    <a:pt x="12248" y="11758"/>
                    <a:pt x="12442" y="12846"/>
                  </a:cubicBezTo>
                  <a:cubicBezTo>
                    <a:pt x="11393" y="11983"/>
                    <a:pt x="10200" y="11482"/>
                    <a:pt x="8926" y="11482"/>
                  </a:cubicBezTo>
                  <a:moveTo>
                    <a:pt x="8096" y="20249"/>
                  </a:moveTo>
                  <a:lnTo>
                    <a:pt x="5396" y="20249"/>
                  </a:lnTo>
                  <a:lnTo>
                    <a:pt x="5396" y="14175"/>
                  </a:lnTo>
                  <a:cubicBezTo>
                    <a:pt x="5396" y="13683"/>
                    <a:pt x="5264" y="13223"/>
                    <a:pt x="5033" y="12825"/>
                  </a:cubicBezTo>
                  <a:lnTo>
                    <a:pt x="5505" y="12825"/>
                  </a:lnTo>
                  <a:lnTo>
                    <a:pt x="5505" y="12832"/>
                  </a:lnTo>
                  <a:lnTo>
                    <a:pt x="7535" y="12832"/>
                  </a:lnTo>
                  <a:cubicBezTo>
                    <a:pt x="7463" y="13042"/>
                    <a:pt x="7421" y="13265"/>
                    <a:pt x="7421" y="13500"/>
                  </a:cubicBezTo>
                  <a:lnTo>
                    <a:pt x="7421" y="18225"/>
                  </a:lnTo>
                  <a:cubicBezTo>
                    <a:pt x="7421" y="18874"/>
                    <a:pt x="7784" y="19307"/>
                    <a:pt x="8001" y="19565"/>
                  </a:cubicBezTo>
                  <a:cubicBezTo>
                    <a:pt x="8031" y="19601"/>
                    <a:pt x="8065" y="19638"/>
                    <a:pt x="8096" y="19677"/>
                  </a:cubicBezTo>
                  <a:cubicBezTo>
                    <a:pt x="8096" y="19677"/>
                    <a:pt x="8096" y="20249"/>
                    <a:pt x="8096" y="20249"/>
                  </a:cubicBezTo>
                  <a:close/>
                  <a:moveTo>
                    <a:pt x="1349" y="9450"/>
                  </a:moveTo>
                  <a:cubicBezTo>
                    <a:pt x="1349" y="8332"/>
                    <a:pt x="1953" y="7425"/>
                    <a:pt x="2699" y="7425"/>
                  </a:cubicBezTo>
                  <a:lnTo>
                    <a:pt x="7434" y="7425"/>
                  </a:lnTo>
                  <a:cubicBezTo>
                    <a:pt x="7014" y="7916"/>
                    <a:pt x="6749" y="8631"/>
                    <a:pt x="6749" y="9450"/>
                  </a:cubicBezTo>
                  <a:cubicBezTo>
                    <a:pt x="6749" y="10270"/>
                    <a:pt x="7014" y="10984"/>
                    <a:pt x="7434" y="11475"/>
                  </a:cubicBezTo>
                  <a:lnTo>
                    <a:pt x="2699" y="11475"/>
                  </a:lnTo>
                  <a:cubicBezTo>
                    <a:pt x="1953" y="11475"/>
                    <a:pt x="1349" y="10569"/>
                    <a:pt x="1349" y="9450"/>
                  </a:cubicBezTo>
                  <a:moveTo>
                    <a:pt x="13499" y="9450"/>
                  </a:moveTo>
                  <a:cubicBezTo>
                    <a:pt x="13499" y="8749"/>
                    <a:pt x="13540" y="8073"/>
                    <a:pt x="13610" y="7425"/>
                  </a:cubicBezTo>
                  <a:lnTo>
                    <a:pt x="15524" y="7425"/>
                  </a:lnTo>
                  <a:cubicBezTo>
                    <a:pt x="16269" y="7425"/>
                    <a:pt x="16874" y="8332"/>
                    <a:pt x="16874" y="9450"/>
                  </a:cubicBezTo>
                  <a:cubicBezTo>
                    <a:pt x="16874" y="10569"/>
                    <a:pt x="16269" y="11475"/>
                    <a:pt x="15524" y="11475"/>
                  </a:cubicBezTo>
                  <a:lnTo>
                    <a:pt x="13610" y="11475"/>
                  </a:lnTo>
                  <a:cubicBezTo>
                    <a:pt x="13540" y="10826"/>
                    <a:pt x="13499" y="10151"/>
                    <a:pt x="13499" y="9450"/>
                  </a:cubicBezTo>
                  <a:moveTo>
                    <a:pt x="16874" y="0"/>
                  </a:moveTo>
                  <a:cubicBezTo>
                    <a:pt x="15489" y="0"/>
                    <a:pt x="14400" y="951"/>
                    <a:pt x="13618" y="2420"/>
                  </a:cubicBezTo>
                  <a:lnTo>
                    <a:pt x="13604" y="2412"/>
                  </a:lnTo>
                  <a:cubicBezTo>
                    <a:pt x="12469" y="4635"/>
                    <a:pt x="10778" y="6075"/>
                    <a:pt x="8926" y="6075"/>
                  </a:cubicBezTo>
                  <a:lnTo>
                    <a:pt x="8479" y="6075"/>
                  </a:lnTo>
                  <a:lnTo>
                    <a:pt x="5505" y="6075"/>
                  </a:lnTo>
                  <a:lnTo>
                    <a:pt x="2699" y="6075"/>
                  </a:lnTo>
                  <a:cubicBezTo>
                    <a:pt x="1185" y="6075"/>
                    <a:pt x="0" y="7558"/>
                    <a:pt x="0" y="9450"/>
                  </a:cubicBezTo>
                  <a:cubicBezTo>
                    <a:pt x="0" y="11343"/>
                    <a:pt x="1185" y="12825"/>
                    <a:pt x="2699" y="12825"/>
                  </a:cubicBezTo>
                  <a:cubicBezTo>
                    <a:pt x="3443" y="12827"/>
                    <a:pt x="4046" y="13430"/>
                    <a:pt x="4046" y="14175"/>
                  </a:cubicBezTo>
                  <a:lnTo>
                    <a:pt x="4046" y="20249"/>
                  </a:lnTo>
                  <a:cubicBezTo>
                    <a:pt x="4046" y="20996"/>
                    <a:pt x="4651" y="21599"/>
                    <a:pt x="5396" y="21599"/>
                  </a:cubicBezTo>
                  <a:lnTo>
                    <a:pt x="8096" y="21599"/>
                  </a:lnTo>
                  <a:cubicBezTo>
                    <a:pt x="8842" y="21599"/>
                    <a:pt x="9446" y="20996"/>
                    <a:pt x="9446" y="20249"/>
                  </a:cubicBezTo>
                  <a:lnTo>
                    <a:pt x="9446" y="19575"/>
                  </a:lnTo>
                  <a:cubicBezTo>
                    <a:pt x="9446" y="18900"/>
                    <a:pt x="8771" y="18598"/>
                    <a:pt x="8771" y="18225"/>
                  </a:cubicBezTo>
                  <a:lnTo>
                    <a:pt x="8771" y="13500"/>
                  </a:lnTo>
                  <a:cubicBezTo>
                    <a:pt x="8771" y="13484"/>
                    <a:pt x="8781" y="13473"/>
                    <a:pt x="8782" y="13458"/>
                  </a:cubicBezTo>
                  <a:cubicBezTo>
                    <a:pt x="8789" y="13361"/>
                    <a:pt x="8815" y="13271"/>
                    <a:pt x="8859" y="13191"/>
                  </a:cubicBezTo>
                  <a:cubicBezTo>
                    <a:pt x="8871" y="13169"/>
                    <a:pt x="8884" y="13151"/>
                    <a:pt x="8898" y="13132"/>
                  </a:cubicBezTo>
                  <a:cubicBezTo>
                    <a:pt x="8952" y="13051"/>
                    <a:pt x="9020" y="12985"/>
                    <a:pt x="9103" y="12934"/>
                  </a:cubicBezTo>
                  <a:cubicBezTo>
                    <a:pt x="9107" y="12931"/>
                    <a:pt x="9108" y="12927"/>
                    <a:pt x="9112" y="12925"/>
                  </a:cubicBezTo>
                  <a:cubicBezTo>
                    <a:pt x="9115" y="12925"/>
                    <a:pt x="9117" y="12922"/>
                    <a:pt x="9120" y="12922"/>
                  </a:cubicBezTo>
                  <a:cubicBezTo>
                    <a:pt x="9174" y="12892"/>
                    <a:pt x="9238" y="12885"/>
                    <a:pt x="9299" y="12868"/>
                  </a:cubicBezTo>
                  <a:cubicBezTo>
                    <a:pt x="11003" y="13049"/>
                    <a:pt x="12545" y="14424"/>
                    <a:pt x="13604" y="16495"/>
                  </a:cubicBezTo>
                  <a:lnTo>
                    <a:pt x="13621" y="16487"/>
                  </a:lnTo>
                  <a:cubicBezTo>
                    <a:pt x="14404" y="17950"/>
                    <a:pt x="15490" y="18900"/>
                    <a:pt x="16874" y="18900"/>
                  </a:cubicBezTo>
                  <a:cubicBezTo>
                    <a:pt x="19977" y="18900"/>
                    <a:pt x="21600" y="14145"/>
                    <a:pt x="21600" y="9450"/>
                  </a:cubicBezTo>
                  <a:cubicBezTo>
                    <a:pt x="21600" y="4754"/>
                    <a:pt x="19977" y="0"/>
                    <a:pt x="16874" y="0"/>
                  </a:cubicBezTo>
                </a:path>
              </a:pathLst>
            </a:custGeom>
            <a:solidFill>
              <a:schemeClr val="bg2"/>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nvGrpSpPr>
            <p:cNvPr id="34" name="Group 33"/>
            <p:cNvGrpSpPr/>
            <p:nvPr/>
          </p:nvGrpSpPr>
          <p:grpSpPr>
            <a:xfrm>
              <a:off x="7090210" y="3683710"/>
              <a:ext cx="359484" cy="383755"/>
              <a:chOff x="9159875" y="1647825"/>
              <a:chExt cx="434975" cy="464344"/>
            </a:xfrm>
            <a:solidFill>
              <a:schemeClr val="bg2"/>
            </a:solidFill>
          </p:grpSpPr>
          <p:sp>
            <p:nvSpPr>
              <p:cNvPr id="35" name="AutoShape 78"/>
              <p:cNvSpPr>
                <a:spLocks/>
              </p:cNvSpPr>
              <p:nvPr/>
            </p:nvSpPr>
            <p:spPr bwMode="auto">
              <a:xfrm>
                <a:off x="9159875" y="1647825"/>
                <a:ext cx="434975"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18900"/>
                    </a:moveTo>
                    <a:cubicBezTo>
                      <a:pt x="20160" y="19643"/>
                      <a:pt x="19513" y="20249"/>
                      <a:pt x="18720" y="20249"/>
                    </a:cubicBezTo>
                    <a:lnTo>
                      <a:pt x="2880" y="20249"/>
                    </a:lnTo>
                    <a:cubicBezTo>
                      <a:pt x="2086" y="20249"/>
                      <a:pt x="1440" y="19643"/>
                      <a:pt x="1440" y="18900"/>
                    </a:cubicBezTo>
                    <a:lnTo>
                      <a:pt x="1440" y="2700"/>
                    </a:lnTo>
                    <a:cubicBezTo>
                      <a:pt x="1440" y="1955"/>
                      <a:pt x="2086" y="1350"/>
                      <a:pt x="2880" y="1350"/>
                    </a:cubicBezTo>
                    <a:lnTo>
                      <a:pt x="18720" y="1350"/>
                    </a:lnTo>
                    <a:cubicBezTo>
                      <a:pt x="19513" y="1350"/>
                      <a:pt x="20160" y="1955"/>
                      <a:pt x="20160" y="2700"/>
                    </a:cubicBezTo>
                    <a:cubicBezTo>
                      <a:pt x="20160" y="2700"/>
                      <a:pt x="20160" y="18900"/>
                      <a:pt x="20160" y="18900"/>
                    </a:cubicBezTo>
                    <a:close/>
                    <a:moveTo>
                      <a:pt x="18720" y="0"/>
                    </a:moveTo>
                    <a:lnTo>
                      <a:pt x="2880" y="0"/>
                    </a:lnTo>
                    <a:cubicBezTo>
                      <a:pt x="1289" y="0"/>
                      <a:pt x="0" y="1208"/>
                      <a:pt x="0" y="2700"/>
                    </a:cubicBezTo>
                    <a:lnTo>
                      <a:pt x="0" y="18900"/>
                    </a:lnTo>
                    <a:cubicBezTo>
                      <a:pt x="0" y="20391"/>
                      <a:pt x="1289" y="21599"/>
                      <a:pt x="2880" y="21599"/>
                    </a:cubicBezTo>
                    <a:lnTo>
                      <a:pt x="18720" y="21599"/>
                    </a:lnTo>
                    <a:cubicBezTo>
                      <a:pt x="20310" y="21599"/>
                      <a:pt x="21599" y="20391"/>
                      <a:pt x="21599" y="18900"/>
                    </a:cubicBezTo>
                    <a:lnTo>
                      <a:pt x="21599" y="2700"/>
                    </a:lnTo>
                    <a:cubicBezTo>
                      <a:pt x="21599" y="1208"/>
                      <a:pt x="20310" y="0"/>
                      <a:pt x="1872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36" name="AutoShape 79"/>
              <p:cNvSpPr>
                <a:spLocks/>
              </p:cNvSpPr>
              <p:nvPr/>
            </p:nvSpPr>
            <p:spPr bwMode="auto">
              <a:xfrm>
                <a:off x="9217819" y="1705769"/>
                <a:ext cx="319088" cy="2905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18" y="20519"/>
                    </a:moveTo>
                    <a:lnTo>
                      <a:pt x="14053" y="16248"/>
                    </a:lnTo>
                    <a:lnTo>
                      <a:pt x="16690" y="12959"/>
                    </a:lnTo>
                    <a:lnTo>
                      <a:pt x="20618" y="17689"/>
                    </a:lnTo>
                    <a:lnTo>
                      <a:pt x="20618" y="20519"/>
                    </a:lnTo>
                    <a:cubicBezTo>
                      <a:pt x="20618" y="20519"/>
                      <a:pt x="17418" y="20519"/>
                      <a:pt x="17418" y="20519"/>
                    </a:cubicBezTo>
                    <a:close/>
                    <a:moveTo>
                      <a:pt x="981" y="11446"/>
                    </a:moveTo>
                    <a:lnTo>
                      <a:pt x="4909" y="6479"/>
                    </a:lnTo>
                    <a:lnTo>
                      <a:pt x="12828" y="16353"/>
                    </a:lnTo>
                    <a:lnTo>
                      <a:pt x="13398" y="17064"/>
                    </a:lnTo>
                    <a:lnTo>
                      <a:pt x="16109" y="20519"/>
                    </a:lnTo>
                    <a:lnTo>
                      <a:pt x="981" y="20519"/>
                    </a:lnTo>
                    <a:cubicBezTo>
                      <a:pt x="981" y="20519"/>
                      <a:pt x="981" y="11446"/>
                      <a:pt x="981" y="11446"/>
                    </a:cubicBezTo>
                    <a:close/>
                    <a:moveTo>
                      <a:pt x="20618" y="1080"/>
                    </a:moveTo>
                    <a:lnTo>
                      <a:pt x="20618" y="16058"/>
                    </a:lnTo>
                    <a:lnTo>
                      <a:pt x="17427" y="12244"/>
                    </a:lnTo>
                    <a:cubicBezTo>
                      <a:pt x="17240" y="12012"/>
                      <a:pt x="16972" y="11879"/>
                      <a:pt x="16690" y="11879"/>
                    </a:cubicBezTo>
                    <a:cubicBezTo>
                      <a:pt x="16409" y="11879"/>
                      <a:pt x="16141" y="12012"/>
                      <a:pt x="15954" y="12244"/>
                    </a:cubicBezTo>
                    <a:lnTo>
                      <a:pt x="13399" y="15432"/>
                    </a:lnTo>
                    <a:lnTo>
                      <a:pt x="5645" y="5764"/>
                    </a:lnTo>
                    <a:cubicBezTo>
                      <a:pt x="5458" y="5532"/>
                      <a:pt x="5190" y="5400"/>
                      <a:pt x="4909" y="5400"/>
                    </a:cubicBezTo>
                    <a:cubicBezTo>
                      <a:pt x="4627" y="5400"/>
                      <a:pt x="4359" y="5532"/>
                      <a:pt x="4172" y="5764"/>
                    </a:cubicBezTo>
                    <a:lnTo>
                      <a:pt x="981" y="9812"/>
                    </a:lnTo>
                    <a:lnTo>
                      <a:pt x="981" y="1080"/>
                    </a:lnTo>
                    <a:cubicBezTo>
                      <a:pt x="981" y="1080"/>
                      <a:pt x="20618" y="1080"/>
                      <a:pt x="20618" y="1080"/>
                    </a:cubicBezTo>
                    <a:close/>
                    <a:moveTo>
                      <a:pt x="20618" y="0"/>
                    </a:moveTo>
                    <a:lnTo>
                      <a:pt x="981" y="0"/>
                    </a:lnTo>
                    <a:cubicBezTo>
                      <a:pt x="439" y="0"/>
                      <a:pt x="0" y="483"/>
                      <a:pt x="0" y="1080"/>
                    </a:cubicBezTo>
                    <a:lnTo>
                      <a:pt x="0" y="20519"/>
                    </a:lnTo>
                    <a:cubicBezTo>
                      <a:pt x="0" y="21116"/>
                      <a:pt x="439" y="21599"/>
                      <a:pt x="981" y="21599"/>
                    </a:cubicBezTo>
                    <a:lnTo>
                      <a:pt x="20618" y="21599"/>
                    </a:lnTo>
                    <a:cubicBezTo>
                      <a:pt x="21160" y="21599"/>
                      <a:pt x="21600" y="21116"/>
                      <a:pt x="21600" y="20519"/>
                    </a:cubicBezTo>
                    <a:lnTo>
                      <a:pt x="21600" y="1080"/>
                    </a:lnTo>
                    <a:cubicBezTo>
                      <a:pt x="21600" y="483"/>
                      <a:pt x="21160" y="0"/>
                      <a:pt x="20618"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37" name="AutoShape 80"/>
              <p:cNvSpPr>
                <a:spLocks/>
              </p:cNvSpPr>
              <p:nvPr/>
            </p:nvSpPr>
            <p:spPr bwMode="auto">
              <a:xfrm>
                <a:off x="9391650" y="1749425"/>
                <a:ext cx="87313" cy="873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3600"/>
                    </a:moveTo>
                    <a:cubicBezTo>
                      <a:pt x="14769" y="3600"/>
                      <a:pt x="17999" y="6827"/>
                      <a:pt x="17999" y="10800"/>
                    </a:cubicBezTo>
                    <a:cubicBezTo>
                      <a:pt x="17999" y="14769"/>
                      <a:pt x="14769" y="18000"/>
                      <a:pt x="10800" y="18000"/>
                    </a:cubicBezTo>
                    <a:cubicBezTo>
                      <a:pt x="6830" y="18000"/>
                      <a:pt x="3600" y="14769"/>
                      <a:pt x="3600" y="10800"/>
                    </a:cubicBezTo>
                    <a:cubicBezTo>
                      <a:pt x="3600" y="6827"/>
                      <a:pt x="6830" y="3600"/>
                      <a:pt x="10800" y="3600"/>
                    </a:cubicBezTo>
                    <a:moveTo>
                      <a:pt x="10800" y="21599"/>
                    </a:moveTo>
                    <a:cubicBezTo>
                      <a:pt x="16766" y="21599"/>
                      <a:pt x="21600" y="16762"/>
                      <a:pt x="21600" y="10800"/>
                    </a:cubicBezTo>
                    <a:cubicBezTo>
                      <a:pt x="21600" y="4833"/>
                      <a:pt x="16766" y="0"/>
                      <a:pt x="10800" y="0"/>
                    </a:cubicBezTo>
                    <a:cubicBezTo>
                      <a:pt x="4833" y="0"/>
                      <a:pt x="0" y="4833"/>
                      <a:pt x="0" y="10800"/>
                    </a:cubicBezTo>
                    <a:cubicBezTo>
                      <a:pt x="0" y="16762"/>
                      <a:pt x="4833" y="21599"/>
                      <a:pt x="10800" y="21599"/>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38" name="Group 37"/>
            <p:cNvGrpSpPr/>
            <p:nvPr/>
          </p:nvGrpSpPr>
          <p:grpSpPr>
            <a:xfrm>
              <a:off x="6298078" y="3702457"/>
              <a:ext cx="384412" cy="323405"/>
              <a:chOff x="5368132" y="2625725"/>
              <a:chExt cx="465138" cy="391319"/>
            </a:xfrm>
            <a:solidFill>
              <a:schemeClr val="bg2"/>
            </a:solidFill>
          </p:grpSpPr>
          <p:sp>
            <p:nvSpPr>
              <p:cNvPr id="39" name="AutoShape 120"/>
              <p:cNvSpPr>
                <a:spLocks/>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0" name="AutoShape 121"/>
              <p:cNvSpPr>
                <a:spLocks/>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1" name="AutoShape 122"/>
              <p:cNvSpPr>
                <a:spLocks/>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42" name="Group 41"/>
            <p:cNvGrpSpPr/>
            <p:nvPr/>
          </p:nvGrpSpPr>
          <p:grpSpPr>
            <a:xfrm>
              <a:off x="3959402" y="3719842"/>
              <a:ext cx="383755" cy="299788"/>
              <a:chOff x="2581275" y="1710532"/>
              <a:chExt cx="464344" cy="362744"/>
            </a:xfrm>
            <a:solidFill>
              <a:schemeClr val="bg2"/>
            </a:solidFill>
          </p:grpSpPr>
          <p:sp>
            <p:nvSpPr>
              <p:cNvPr id="43" name="AutoShape 140"/>
              <p:cNvSpPr>
                <a:spLocks/>
              </p:cNvSpPr>
              <p:nvPr/>
            </p:nvSpPr>
            <p:spPr bwMode="auto">
              <a:xfrm>
                <a:off x="2639219" y="1768475"/>
                <a:ext cx="290513" cy="235744"/>
              </a:xfrm>
              <a:custGeom>
                <a:avLst/>
                <a:gdLst>
                  <a:gd name="T0" fmla="+- 0 10800 376"/>
                  <a:gd name="T1" fmla="*/ T0 w 20848"/>
                  <a:gd name="T2" fmla="*/ 10800 h 21600"/>
                  <a:gd name="T3" fmla="+- 0 10800 376"/>
                  <a:gd name="T4" fmla="*/ T3 w 20848"/>
                  <a:gd name="T5" fmla="*/ 10800 h 21600"/>
                  <a:gd name="T6" fmla="+- 0 10800 376"/>
                  <a:gd name="T7" fmla="*/ T6 w 20848"/>
                  <a:gd name="T8" fmla="*/ 10800 h 21600"/>
                  <a:gd name="T9" fmla="+- 0 10800 376"/>
                  <a:gd name="T10" fmla="*/ T9 w 20848"/>
                  <a:gd name="T11" fmla="*/ 10800 h 21600"/>
                </a:gdLst>
                <a:ahLst/>
                <a:cxnLst>
                  <a:cxn ang="0">
                    <a:pos x="T1" y="T2"/>
                  </a:cxn>
                  <a:cxn ang="0">
                    <a:pos x="T4" y="T5"/>
                  </a:cxn>
                  <a:cxn ang="0">
                    <a:pos x="T7" y="T8"/>
                  </a:cxn>
                  <a:cxn ang="0">
                    <a:pos x="T10" y="T11"/>
                  </a:cxn>
                </a:cxnLst>
                <a:rect l="0" t="0" r="r" b="b"/>
                <a:pathLst>
                  <a:path w="20848" h="21600">
                    <a:moveTo>
                      <a:pt x="18728" y="19178"/>
                    </a:moveTo>
                    <a:cubicBezTo>
                      <a:pt x="13191" y="20631"/>
                      <a:pt x="7654" y="20631"/>
                      <a:pt x="2118" y="19178"/>
                    </a:cubicBezTo>
                    <a:cubicBezTo>
                      <a:pt x="678" y="13592"/>
                      <a:pt x="678" y="8008"/>
                      <a:pt x="2118" y="2421"/>
                    </a:cubicBezTo>
                    <a:cubicBezTo>
                      <a:pt x="7654" y="968"/>
                      <a:pt x="13191" y="968"/>
                      <a:pt x="18728" y="2421"/>
                    </a:cubicBezTo>
                    <a:cubicBezTo>
                      <a:pt x="20168" y="8008"/>
                      <a:pt x="20168" y="13592"/>
                      <a:pt x="18728" y="19178"/>
                    </a:cubicBezTo>
                    <a:moveTo>
                      <a:pt x="18938" y="1116"/>
                    </a:moveTo>
                    <a:cubicBezTo>
                      <a:pt x="16114" y="375"/>
                      <a:pt x="13249" y="0"/>
                      <a:pt x="10423" y="0"/>
                    </a:cubicBezTo>
                    <a:cubicBezTo>
                      <a:pt x="7597" y="0"/>
                      <a:pt x="4732" y="375"/>
                      <a:pt x="1908" y="1116"/>
                    </a:cubicBezTo>
                    <a:cubicBezTo>
                      <a:pt x="1543" y="1213"/>
                      <a:pt x="1244" y="1552"/>
                      <a:pt x="1127" y="2004"/>
                    </a:cubicBezTo>
                    <a:cubicBezTo>
                      <a:pt x="-376" y="7841"/>
                      <a:pt x="-376" y="13759"/>
                      <a:pt x="1127" y="19593"/>
                    </a:cubicBezTo>
                    <a:cubicBezTo>
                      <a:pt x="1244" y="20047"/>
                      <a:pt x="1543" y="20386"/>
                      <a:pt x="1908" y="20482"/>
                    </a:cubicBezTo>
                    <a:cubicBezTo>
                      <a:pt x="4732" y="21224"/>
                      <a:pt x="7597" y="21600"/>
                      <a:pt x="10423" y="21600"/>
                    </a:cubicBezTo>
                    <a:cubicBezTo>
                      <a:pt x="13249" y="21600"/>
                      <a:pt x="16114" y="21224"/>
                      <a:pt x="18938" y="20482"/>
                    </a:cubicBezTo>
                    <a:cubicBezTo>
                      <a:pt x="19303" y="20386"/>
                      <a:pt x="19602" y="20047"/>
                      <a:pt x="19719" y="19593"/>
                    </a:cubicBezTo>
                    <a:cubicBezTo>
                      <a:pt x="21223" y="13759"/>
                      <a:pt x="21223" y="7841"/>
                      <a:pt x="19719" y="2004"/>
                    </a:cubicBezTo>
                    <a:cubicBezTo>
                      <a:pt x="19602" y="1552"/>
                      <a:pt x="19303" y="1213"/>
                      <a:pt x="18938" y="1116"/>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4" name="AutoShape 141"/>
              <p:cNvSpPr>
                <a:spLocks/>
              </p:cNvSpPr>
              <p:nvPr/>
            </p:nvSpPr>
            <p:spPr bwMode="auto">
              <a:xfrm>
                <a:off x="2581275" y="1710532"/>
                <a:ext cx="464344" cy="362744"/>
              </a:xfrm>
              <a:custGeom>
                <a:avLst/>
                <a:gdLst>
                  <a:gd name="T0" fmla="+- 0 10800 252"/>
                  <a:gd name="T1" fmla="*/ T0 w 21096"/>
                  <a:gd name="T2" fmla="*/ 10800 h 21600"/>
                  <a:gd name="T3" fmla="+- 0 10800 252"/>
                  <a:gd name="T4" fmla="*/ T3 w 21096"/>
                  <a:gd name="T5" fmla="*/ 10800 h 21600"/>
                  <a:gd name="T6" fmla="+- 0 10800 252"/>
                  <a:gd name="T7" fmla="*/ T6 w 21096"/>
                  <a:gd name="T8" fmla="*/ 10800 h 21600"/>
                  <a:gd name="T9" fmla="+- 0 10800 252"/>
                  <a:gd name="T10" fmla="*/ T9 w 21096"/>
                  <a:gd name="T11" fmla="*/ 10800 h 21600"/>
                </a:gdLst>
                <a:ahLst/>
                <a:cxnLst>
                  <a:cxn ang="0">
                    <a:pos x="T1" y="T2"/>
                  </a:cxn>
                  <a:cxn ang="0">
                    <a:pos x="T4" y="T5"/>
                  </a:cxn>
                  <a:cxn ang="0">
                    <a:pos x="T7" y="T8"/>
                  </a:cxn>
                  <a:cxn ang="0">
                    <a:pos x="T10" y="T11"/>
                  </a:cxn>
                </a:cxnLst>
                <a:rect l="0" t="0" r="r" b="b"/>
                <a:pathLst>
                  <a:path w="21096" h="21600">
                    <a:moveTo>
                      <a:pt x="19056" y="18331"/>
                    </a:moveTo>
                    <a:cubicBezTo>
                      <a:pt x="13383" y="19233"/>
                      <a:pt x="7711" y="19233"/>
                      <a:pt x="2038" y="18331"/>
                    </a:cubicBezTo>
                    <a:cubicBezTo>
                      <a:pt x="1074" y="13022"/>
                      <a:pt x="1074" y="7713"/>
                      <a:pt x="2038" y="2404"/>
                    </a:cubicBezTo>
                    <a:cubicBezTo>
                      <a:pt x="7711" y="1502"/>
                      <a:pt x="13383" y="1502"/>
                      <a:pt x="19056" y="2404"/>
                    </a:cubicBezTo>
                    <a:cubicBezTo>
                      <a:pt x="20021" y="7713"/>
                      <a:pt x="20021" y="13022"/>
                      <a:pt x="19056" y="18331"/>
                    </a:cubicBezTo>
                    <a:moveTo>
                      <a:pt x="20338" y="2005"/>
                    </a:moveTo>
                    <a:cubicBezTo>
                      <a:pt x="20211" y="1301"/>
                      <a:pt x="19762" y="776"/>
                      <a:pt x="19215" y="689"/>
                    </a:cubicBezTo>
                    <a:cubicBezTo>
                      <a:pt x="16339" y="232"/>
                      <a:pt x="13423" y="0"/>
                      <a:pt x="10547" y="0"/>
                    </a:cubicBezTo>
                    <a:cubicBezTo>
                      <a:pt x="7671" y="0"/>
                      <a:pt x="4755" y="232"/>
                      <a:pt x="1879" y="689"/>
                    </a:cubicBezTo>
                    <a:cubicBezTo>
                      <a:pt x="1332" y="776"/>
                      <a:pt x="883" y="1301"/>
                      <a:pt x="756" y="2005"/>
                    </a:cubicBezTo>
                    <a:cubicBezTo>
                      <a:pt x="-252" y="7553"/>
                      <a:pt x="-252" y="13181"/>
                      <a:pt x="756" y="18731"/>
                    </a:cubicBezTo>
                    <a:cubicBezTo>
                      <a:pt x="883" y="19434"/>
                      <a:pt x="1332" y="19959"/>
                      <a:pt x="1879" y="20046"/>
                    </a:cubicBezTo>
                    <a:cubicBezTo>
                      <a:pt x="3265" y="20266"/>
                      <a:pt x="4660" y="20429"/>
                      <a:pt x="6055" y="20544"/>
                    </a:cubicBezTo>
                    <a:cubicBezTo>
                      <a:pt x="5979" y="20606"/>
                      <a:pt x="5931" y="20670"/>
                      <a:pt x="5931" y="20735"/>
                    </a:cubicBezTo>
                    <a:cubicBezTo>
                      <a:pt x="5931" y="21213"/>
                      <a:pt x="7997" y="21599"/>
                      <a:pt x="10547" y="21599"/>
                    </a:cubicBezTo>
                    <a:cubicBezTo>
                      <a:pt x="13097" y="21599"/>
                      <a:pt x="15164" y="21213"/>
                      <a:pt x="15164" y="20735"/>
                    </a:cubicBezTo>
                    <a:cubicBezTo>
                      <a:pt x="15164" y="20670"/>
                      <a:pt x="15115" y="20606"/>
                      <a:pt x="15040" y="20544"/>
                    </a:cubicBezTo>
                    <a:cubicBezTo>
                      <a:pt x="16434" y="20429"/>
                      <a:pt x="17830" y="20266"/>
                      <a:pt x="19215" y="20046"/>
                    </a:cubicBezTo>
                    <a:cubicBezTo>
                      <a:pt x="19762" y="19959"/>
                      <a:pt x="20211" y="19434"/>
                      <a:pt x="20338" y="18731"/>
                    </a:cubicBezTo>
                    <a:cubicBezTo>
                      <a:pt x="21347" y="13181"/>
                      <a:pt x="21347" y="7553"/>
                      <a:pt x="20338" y="2005"/>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5" name="AutoShape 142"/>
              <p:cNvSpPr>
                <a:spLocks/>
              </p:cNvSpPr>
              <p:nvPr/>
            </p:nvSpPr>
            <p:spPr bwMode="auto">
              <a:xfrm>
                <a:off x="2944019" y="1783557"/>
                <a:ext cx="43656" cy="428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200"/>
                    </a:moveTo>
                    <a:cubicBezTo>
                      <a:pt x="12779" y="7200"/>
                      <a:pt x="14399" y="8820"/>
                      <a:pt x="14399" y="10800"/>
                    </a:cubicBezTo>
                    <a:cubicBezTo>
                      <a:pt x="14399" y="12779"/>
                      <a:pt x="12779" y="14400"/>
                      <a:pt x="10800" y="14400"/>
                    </a:cubicBezTo>
                    <a:cubicBezTo>
                      <a:pt x="8820" y="14400"/>
                      <a:pt x="7199" y="12779"/>
                      <a:pt x="7199" y="10800"/>
                    </a:cubicBezTo>
                    <a:cubicBezTo>
                      <a:pt x="7199" y="8820"/>
                      <a:pt x="8820" y="7200"/>
                      <a:pt x="10800" y="7200"/>
                    </a:cubicBezTo>
                    <a:moveTo>
                      <a:pt x="10800" y="21599"/>
                    </a:moveTo>
                    <a:cubicBezTo>
                      <a:pt x="16762" y="21599"/>
                      <a:pt x="21600" y="16762"/>
                      <a:pt x="21600" y="10800"/>
                    </a:cubicBezTo>
                    <a:cubicBezTo>
                      <a:pt x="21600" y="4837"/>
                      <a:pt x="16762" y="0"/>
                      <a:pt x="10800" y="0"/>
                    </a:cubicBezTo>
                    <a:cubicBezTo>
                      <a:pt x="4837" y="0"/>
                      <a:pt x="0" y="4837"/>
                      <a:pt x="0" y="10800"/>
                    </a:cubicBezTo>
                    <a:cubicBezTo>
                      <a:pt x="0" y="16762"/>
                      <a:pt x="4837" y="21599"/>
                      <a:pt x="10800" y="21599"/>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6" name="AutoShape 143"/>
              <p:cNvSpPr>
                <a:spLocks/>
              </p:cNvSpPr>
              <p:nvPr/>
            </p:nvSpPr>
            <p:spPr bwMode="auto">
              <a:xfrm>
                <a:off x="2929732" y="1971675"/>
                <a:ext cx="57944" cy="150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7" name="AutoShape 144"/>
              <p:cNvSpPr>
                <a:spLocks/>
              </p:cNvSpPr>
              <p:nvPr/>
            </p:nvSpPr>
            <p:spPr bwMode="auto">
              <a:xfrm>
                <a:off x="2944019" y="1928019"/>
                <a:ext cx="58738" cy="150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8" name="AutoShape 145"/>
              <p:cNvSpPr>
                <a:spLocks/>
              </p:cNvSpPr>
              <p:nvPr/>
            </p:nvSpPr>
            <p:spPr bwMode="auto">
              <a:xfrm>
                <a:off x="2944019" y="1885157"/>
                <a:ext cx="58738"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9" name="AutoShape 146"/>
              <p:cNvSpPr>
                <a:spLocks/>
              </p:cNvSpPr>
              <p:nvPr/>
            </p:nvSpPr>
            <p:spPr bwMode="auto">
              <a:xfrm>
                <a:off x="2697957" y="1826419"/>
                <a:ext cx="86519" cy="61119"/>
              </a:xfrm>
              <a:custGeom>
                <a:avLst/>
                <a:gdLst>
                  <a:gd name="T0" fmla="+- 0 10822 44"/>
                  <a:gd name="T1" fmla="*/ T0 w 21556"/>
                  <a:gd name="T2" fmla="+- 0 10826 53"/>
                  <a:gd name="T3" fmla="*/ 10826 h 21547"/>
                  <a:gd name="T4" fmla="+- 0 10822 44"/>
                  <a:gd name="T5" fmla="*/ T4 w 21556"/>
                  <a:gd name="T6" fmla="+- 0 10826 53"/>
                  <a:gd name="T7" fmla="*/ 10826 h 21547"/>
                  <a:gd name="T8" fmla="+- 0 10822 44"/>
                  <a:gd name="T9" fmla="*/ T8 w 21556"/>
                  <a:gd name="T10" fmla="+- 0 10826 53"/>
                  <a:gd name="T11" fmla="*/ 10826 h 21547"/>
                  <a:gd name="T12" fmla="+- 0 10822 44"/>
                  <a:gd name="T13" fmla="*/ T12 w 21556"/>
                  <a:gd name="T14" fmla="+- 0 10826 53"/>
                  <a:gd name="T15" fmla="*/ 10826 h 21547"/>
                </a:gdLst>
                <a:ahLst/>
                <a:cxnLst>
                  <a:cxn ang="0">
                    <a:pos x="T1" y="T3"/>
                  </a:cxn>
                  <a:cxn ang="0">
                    <a:pos x="T5" y="T7"/>
                  </a:cxn>
                  <a:cxn ang="0">
                    <a:pos x="T9" y="T11"/>
                  </a:cxn>
                  <a:cxn ang="0">
                    <a:pos x="T13" y="T15"/>
                  </a:cxn>
                </a:cxnLst>
                <a:rect l="0" t="0" r="r" b="b"/>
                <a:pathLst>
                  <a:path w="21556" h="21547">
                    <a:moveTo>
                      <a:pt x="19751" y="2"/>
                    </a:moveTo>
                    <a:lnTo>
                      <a:pt x="3200" y="1845"/>
                    </a:lnTo>
                    <a:cubicBezTo>
                      <a:pt x="2215" y="2010"/>
                      <a:pt x="1272" y="3284"/>
                      <a:pt x="1106" y="4676"/>
                    </a:cubicBezTo>
                    <a:lnTo>
                      <a:pt x="1" y="18986"/>
                    </a:lnTo>
                    <a:cubicBezTo>
                      <a:pt x="-44" y="20398"/>
                      <a:pt x="724" y="21547"/>
                      <a:pt x="1712" y="21547"/>
                    </a:cubicBezTo>
                    <a:cubicBezTo>
                      <a:pt x="2698" y="21547"/>
                      <a:pt x="3542" y="20398"/>
                      <a:pt x="3582" y="18978"/>
                    </a:cubicBezTo>
                    <a:lnTo>
                      <a:pt x="4185" y="9251"/>
                    </a:lnTo>
                    <a:cubicBezTo>
                      <a:pt x="4319" y="7849"/>
                      <a:pt x="5235" y="6592"/>
                      <a:pt x="6220" y="6447"/>
                    </a:cubicBezTo>
                    <a:lnTo>
                      <a:pt x="19751" y="5128"/>
                    </a:lnTo>
                    <a:cubicBezTo>
                      <a:pt x="20743" y="5078"/>
                      <a:pt x="21556" y="3884"/>
                      <a:pt x="21556" y="2467"/>
                    </a:cubicBezTo>
                    <a:cubicBezTo>
                      <a:pt x="21556" y="1055"/>
                      <a:pt x="20743" y="-53"/>
                      <a:pt x="19751" y="2"/>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sp>
        <p:nvSpPr>
          <p:cNvPr id="50" name="TextBox 49"/>
          <p:cNvSpPr txBox="1"/>
          <p:nvPr/>
        </p:nvSpPr>
        <p:spPr>
          <a:xfrm>
            <a:off x="4641674" y="5139368"/>
            <a:ext cx="2407582" cy="369332"/>
          </a:xfrm>
          <a:prstGeom prst="rect">
            <a:avLst/>
          </a:prstGeom>
          <a:noFill/>
        </p:spPr>
        <p:txBody>
          <a:bodyPr wrap="none" rtlCol="0">
            <a:spAutoFit/>
          </a:bodyPr>
          <a:lstStyle/>
          <a:p>
            <a:pPr algn="ctr"/>
            <a:r>
              <a:rPr lang="en-US" b="1" dirty="0" smtClean="0">
                <a:solidFill>
                  <a:schemeClr val="bg2"/>
                </a:solidFill>
              </a:rPr>
              <a:t>COMPANY </a:t>
            </a:r>
            <a:r>
              <a:rPr lang="en-US" b="1" dirty="0">
                <a:solidFill>
                  <a:schemeClr val="bg2"/>
                </a:solidFill>
              </a:rPr>
              <a:t>PROFILE</a:t>
            </a:r>
          </a:p>
        </p:txBody>
      </p:sp>
      <p:pic>
        <p:nvPicPr>
          <p:cNvPr id="51" name="Picture 50"/>
          <p:cNvPicPr/>
          <p:nvPr/>
        </p:nvPicPr>
        <p:blipFill>
          <a:blip r:embed="rId2" cstate="print"/>
          <a:srcRect/>
          <a:stretch>
            <a:fillRect/>
          </a:stretch>
        </p:blipFill>
        <p:spPr bwMode="auto">
          <a:xfrm>
            <a:off x="5349503" y="1643975"/>
            <a:ext cx="1391765" cy="1410510"/>
          </a:xfrm>
          <a:prstGeom prst="rect">
            <a:avLst/>
          </a:prstGeom>
          <a:noFill/>
          <a:ln w="9525">
            <a:noFill/>
            <a:miter lim="800000"/>
            <a:headEnd/>
            <a:tailEnd/>
          </a:ln>
        </p:spPr>
      </p:pic>
    </p:spTree>
    <p:extLst>
      <p:ext uri="{BB962C8B-B14F-4D97-AF65-F5344CB8AC3E}">
        <p14:creationId xmlns:p14="http://schemas.microsoft.com/office/powerpoint/2010/main" val="2590318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plus(in)">
                                      <p:cBhvr>
                                        <p:cTn id="7" dur="2000"/>
                                        <p:tgtEl>
                                          <p:spTgt spid="14"/>
                                        </p:tgtEl>
                                      </p:cBhvr>
                                    </p:animEffect>
                                  </p:childTnLst>
                                </p:cTn>
                              </p:par>
                            </p:childTnLst>
                          </p:cTn>
                        </p:par>
                        <p:par>
                          <p:cTn id="8" fill="hold">
                            <p:stCondLst>
                              <p:cond delay="2000"/>
                            </p:stCondLst>
                            <p:childTnLst>
                              <p:par>
                                <p:cTn id="9" presetID="3" presetClass="entr" presetSubtype="1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linds(horizontal)">
                                      <p:cBhvr>
                                        <p:cTn id="11" dur="500"/>
                                        <p:tgtEl>
                                          <p:spTgt spid="11"/>
                                        </p:tgtEl>
                                      </p:cBhvr>
                                    </p:animEffect>
                                  </p:childTnLst>
                                </p:cTn>
                              </p:par>
                            </p:childTnLst>
                          </p:cTn>
                        </p:par>
                        <p:par>
                          <p:cTn id="12" fill="hold">
                            <p:stCondLst>
                              <p:cond delay="2500"/>
                            </p:stCondLst>
                            <p:childTnLst>
                              <p:par>
                                <p:cTn id="13" presetID="3" presetClass="entr" presetSubtype="10" fill="hold" grpId="0" nodeType="after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blinds(horizontal)">
                                      <p:cBhvr>
                                        <p:cTn id="15"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50"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p:cNvSpPr/>
          <p:nvPr/>
        </p:nvSpPr>
        <p:spPr>
          <a:xfrm>
            <a:off x="0" y="0"/>
            <a:ext cx="12192000" cy="6858000"/>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98C37ADA-FE03-4EF7-8F15-3521BBE76F4D}" type="slidenum">
              <a:rPr lang="en-US"/>
              <a:pPr/>
              <a:t>2</a:t>
            </a:fld>
            <a:endParaRPr lang="en-US"/>
          </a:p>
        </p:txBody>
      </p:sp>
      <p:grpSp>
        <p:nvGrpSpPr>
          <p:cNvPr id="8" name="Group 7"/>
          <p:cNvGrpSpPr/>
          <p:nvPr/>
        </p:nvGrpSpPr>
        <p:grpSpPr>
          <a:xfrm>
            <a:off x="3705859" y="422171"/>
            <a:ext cx="4780283" cy="947932"/>
            <a:chOff x="3705859" y="422171"/>
            <a:chExt cx="4780283" cy="947932"/>
          </a:xfrm>
        </p:grpSpPr>
        <p:sp>
          <p:nvSpPr>
            <p:cNvPr id="5" name="TextBox 4"/>
            <p:cNvSpPr txBox="1"/>
            <p:nvPr/>
          </p:nvSpPr>
          <p:spPr>
            <a:xfrm>
              <a:off x="3705859" y="422171"/>
              <a:ext cx="4780283" cy="707886"/>
            </a:xfrm>
            <a:prstGeom prst="rect">
              <a:avLst/>
            </a:prstGeom>
            <a:noFill/>
          </p:spPr>
          <p:txBody>
            <a:bodyPr wrap="none" rtlCol="0">
              <a:spAutoFit/>
            </a:bodyPr>
            <a:lstStyle/>
            <a:p>
              <a:pPr algn="ctr"/>
              <a:r>
                <a:rPr lang="en-US" sz="4000">
                  <a:solidFill>
                    <a:schemeClr val="bg2"/>
                  </a:solidFill>
                  <a:latin typeface="+mj-lt"/>
                </a:rPr>
                <a:t>About The Company</a:t>
              </a:r>
            </a:p>
          </p:txBody>
        </p:sp>
        <p:sp>
          <p:nvSpPr>
            <p:cNvPr id="6" name="Rectangle 5"/>
            <p:cNvSpPr/>
            <p:nvPr/>
          </p:nvSpPr>
          <p:spPr>
            <a:xfrm>
              <a:off x="4414963" y="1062326"/>
              <a:ext cx="3833037" cy="307777"/>
            </a:xfrm>
            <a:prstGeom prst="rect">
              <a:avLst/>
            </a:prstGeom>
          </p:spPr>
          <p:txBody>
            <a:bodyPr wrap="none">
              <a:spAutoFit/>
            </a:bodyPr>
            <a:lstStyle/>
            <a:p>
              <a:pPr algn="ctr"/>
              <a:r>
                <a:rPr lang="en-US" sz="1400" dirty="0">
                  <a:solidFill>
                    <a:schemeClr val="bg2"/>
                  </a:solidFill>
                </a:rPr>
                <a:t>EXPERTISE | EXPERIENCE | EXCELLENCE</a:t>
              </a:r>
            </a:p>
          </p:txBody>
        </p:sp>
      </p:grpSp>
      <p:sp>
        <p:nvSpPr>
          <p:cNvPr id="7" name="Rectangle 6"/>
          <p:cNvSpPr/>
          <p:nvPr/>
        </p:nvSpPr>
        <p:spPr>
          <a:xfrm>
            <a:off x="0" y="2704499"/>
            <a:ext cx="12192000" cy="309139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8865708" y="4459536"/>
            <a:ext cx="3536161" cy="1200329"/>
          </a:xfrm>
          <a:prstGeom prst="rect">
            <a:avLst/>
          </a:prstGeom>
          <a:noFill/>
        </p:spPr>
        <p:txBody>
          <a:bodyPr wrap="none" rtlCol="0">
            <a:spAutoFit/>
          </a:bodyPr>
          <a:lstStyle/>
          <a:p>
            <a:r>
              <a:rPr lang="en-US" sz="3600" b="1" dirty="0">
                <a:solidFill>
                  <a:schemeClr val="accent4"/>
                </a:solidFill>
                <a:latin typeface="+mj-lt"/>
              </a:rPr>
              <a:t>CUSTOMER</a:t>
            </a:r>
          </a:p>
          <a:p>
            <a:r>
              <a:rPr lang="en-US" sz="3600" b="1" dirty="0">
                <a:solidFill>
                  <a:schemeClr val="accent4"/>
                </a:solidFill>
                <a:latin typeface="+mj-lt"/>
              </a:rPr>
              <a:t>SATISFACTION</a:t>
            </a:r>
            <a:endParaRPr lang="en-GB" sz="3600" b="1" dirty="0">
              <a:solidFill>
                <a:schemeClr val="accent4"/>
              </a:solidFill>
              <a:latin typeface="+mj-lt"/>
            </a:endParaRPr>
          </a:p>
        </p:txBody>
      </p:sp>
      <p:sp>
        <p:nvSpPr>
          <p:cNvPr id="17" name="TextBox 16"/>
          <p:cNvSpPr txBox="1"/>
          <p:nvPr/>
        </p:nvSpPr>
        <p:spPr>
          <a:xfrm>
            <a:off x="8846622" y="2808869"/>
            <a:ext cx="2869119" cy="646331"/>
          </a:xfrm>
          <a:prstGeom prst="rect">
            <a:avLst/>
          </a:prstGeom>
          <a:noFill/>
        </p:spPr>
        <p:txBody>
          <a:bodyPr wrap="none" rtlCol="0">
            <a:spAutoFit/>
          </a:bodyPr>
          <a:lstStyle/>
          <a:p>
            <a:r>
              <a:rPr lang="en-US" sz="3600" b="1" dirty="0">
                <a:solidFill>
                  <a:schemeClr val="accent2"/>
                </a:solidFill>
                <a:latin typeface="+mj-lt"/>
              </a:rPr>
              <a:t>RELIABILTY</a:t>
            </a:r>
            <a:endParaRPr lang="en-GB" sz="3600" b="1" dirty="0">
              <a:solidFill>
                <a:schemeClr val="accent2"/>
              </a:solidFill>
              <a:latin typeface="+mj-lt"/>
            </a:endParaRPr>
          </a:p>
        </p:txBody>
      </p:sp>
      <p:sp>
        <p:nvSpPr>
          <p:cNvPr id="19" name="TextBox 18"/>
          <p:cNvSpPr txBox="1"/>
          <p:nvPr/>
        </p:nvSpPr>
        <p:spPr>
          <a:xfrm>
            <a:off x="5516354" y="2808869"/>
            <a:ext cx="3014415" cy="646331"/>
          </a:xfrm>
          <a:prstGeom prst="rect">
            <a:avLst/>
          </a:prstGeom>
          <a:noFill/>
        </p:spPr>
        <p:txBody>
          <a:bodyPr wrap="none" rtlCol="0">
            <a:spAutoFit/>
          </a:bodyPr>
          <a:lstStyle/>
          <a:p>
            <a:r>
              <a:rPr lang="en-US" sz="3600" b="1" dirty="0">
                <a:solidFill>
                  <a:schemeClr val="accent1"/>
                </a:solidFill>
                <a:latin typeface="+mj-lt"/>
              </a:rPr>
              <a:t>INNOVATION</a:t>
            </a:r>
            <a:endParaRPr lang="en-GB" sz="3600" b="1" dirty="0">
              <a:solidFill>
                <a:schemeClr val="accent1"/>
              </a:solidFill>
              <a:latin typeface="+mj-lt"/>
            </a:endParaRPr>
          </a:p>
        </p:txBody>
      </p:sp>
      <p:sp>
        <p:nvSpPr>
          <p:cNvPr id="21" name="TextBox 20"/>
          <p:cNvSpPr txBox="1"/>
          <p:nvPr/>
        </p:nvSpPr>
        <p:spPr>
          <a:xfrm>
            <a:off x="5516354" y="4459536"/>
            <a:ext cx="3031599" cy="646331"/>
          </a:xfrm>
          <a:prstGeom prst="rect">
            <a:avLst/>
          </a:prstGeom>
          <a:noFill/>
        </p:spPr>
        <p:txBody>
          <a:bodyPr wrap="none" rtlCol="0">
            <a:spAutoFit/>
          </a:bodyPr>
          <a:lstStyle/>
          <a:p>
            <a:r>
              <a:rPr lang="en-US" sz="3600" b="1" dirty="0">
                <a:solidFill>
                  <a:schemeClr val="accent3"/>
                </a:solidFill>
                <a:latin typeface="+mj-lt"/>
              </a:rPr>
              <a:t>SCALIBILITY</a:t>
            </a:r>
            <a:endParaRPr lang="en-GB" sz="3600" b="1" dirty="0">
              <a:solidFill>
                <a:schemeClr val="accent3"/>
              </a:solidFill>
              <a:latin typeface="+mj-lt"/>
            </a:endParaRPr>
          </a:p>
        </p:txBody>
      </p:sp>
      <p:sp>
        <p:nvSpPr>
          <p:cNvPr id="27" name="TextBox 26"/>
          <p:cNvSpPr txBox="1"/>
          <p:nvPr/>
        </p:nvSpPr>
        <p:spPr>
          <a:xfrm>
            <a:off x="867573" y="3088272"/>
            <a:ext cx="4669868" cy="1446550"/>
          </a:xfrm>
          <a:prstGeom prst="rect">
            <a:avLst/>
          </a:prstGeom>
          <a:noFill/>
        </p:spPr>
        <p:txBody>
          <a:bodyPr wrap="none" rtlCol="0">
            <a:spAutoFit/>
          </a:bodyPr>
          <a:lstStyle/>
          <a:p>
            <a:r>
              <a:rPr lang="en-IN" sz="4400" dirty="0">
                <a:solidFill>
                  <a:schemeClr val="bg1"/>
                </a:solidFill>
                <a:latin typeface="Lato" panose="020F0502020204030203" pitchFamily="34" charset="0"/>
              </a:rPr>
              <a:t>SHALVI</a:t>
            </a:r>
            <a:endParaRPr lang="en-GB" sz="4400" dirty="0">
              <a:solidFill>
                <a:schemeClr val="bg1"/>
              </a:solidFill>
              <a:latin typeface="Lato" panose="020F0502020204030203" pitchFamily="34" charset="0"/>
            </a:endParaRPr>
          </a:p>
          <a:p>
            <a:r>
              <a:rPr lang="en-US" sz="4400" dirty="0">
                <a:solidFill>
                  <a:schemeClr val="accent5"/>
                </a:solidFill>
                <a:latin typeface="Lato" panose="020F0502020204030203" pitchFamily="34" charset="0"/>
              </a:rPr>
              <a:t>TECHNOLOGIES</a:t>
            </a:r>
          </a:p>
        </p:txBody>
      </p:sp>
      <p:sp>
        <p:nvSpPr>
          <p:cNvPr id="28" name="Rectangle 27"/>
          <p:cNvSpPr/>
          <p:nvPr/>
        </p:nvSpPr>
        <p:spPr>
          <a:xfrm>
            <a:off x="867574" y="4497087"/>
            <a:ext cx="3781206" cy="646331"/>
          </a:xfrm>
          <a:prstGeom prst="rect">
            <a:avLst/>
          </a:prstGeom>
        </p:spPr>
        <p:txBody>
          <a:bodyPr wrap="square">
            <a:spAutoFit/>
          </a:bodyPr>
          <a:lstStyle/>
          <a:p>
            <a:r>
              <a:rPr lang="en-GB" sz="1200" dirty="0">
                <a:solidFill>
                  <a:schemeClr val="bg2"/>
                </a:solidFill>
              </a:rPr>
              <a:t>Plot No </a:t>
            </a:r>
            <a:r>
              <a:rPr lang="en-GB" sz="1200" dirty="0" smtClean="0">
                <a:solidFill>
                  <a:schemeClr val="bg2"/>
                </a:solidFill>
              </a:rPr>
              <a:t>– 67 &amp; 68, </a:t>
            </a:r>
            <a:r>
              <a:rPr lang="en-GB" sz="1200" dirty="0" err="1" smtClean="0">
                <a:solidFill>
                  <a:schemeClr val="bg2"/>
                </a:solidFill>
              </a:rPr>
              <a:t>Aranya</a:t>
            </a:r>
            <a:r>
              <a:rPr lang="en-GB" sz="1200" dirty="0" smtClean="0">
                <a:solidFill>
                  <a:schemeClr val="bg2"/>
                </a:solidFill>
              </a:rPr>
              <a:t> Estate, C.G. City,</a:t>
            </a:r>
            <a:endParaRPr lang="en-GB" sz="1200" dirty="0">
              <a:solidFill>
                <a:schemeClr val="bg2"/>
              </a:solidFill>
            </a:endParaRPr>
          </a:p>
          <a:p>
            <a:r>
              <a:rPr lang="en-GB" sz="1200" dirty="0" err="1" smtClean="0">
                <a:solidFill>
                  <a:schemeClr val="bg2"/>
                </a:solidFill>
              </a:rPr>
              <a:t>Ahahamau</a:t>
            </a:r>
            <a:r>
              <a:rPr lang="en-GB" sz="1200" dirty="0" smtClean="0">
                <a:solidFill>
                  <a:schemeClr val="bg2"/>
                </a:solidFill>
              </a:rPr>
              <a:t>, </a:t>
            </a:r>
            <a:r>
              <a:rPr lang="en-GB" sz="1200" dirty="0" err="1" smtClean="0">
                <a:solidFill>
                  <a:schemeClr val="bg2"/>
                </a:solidFill>
              </a:rPr>
              <a:t>Sultanpur</a:t>
            </a:r>
            <a:r>
              <a:rPr lang="en-GB" sz="1200" dirty="0" smtClean="0">
                <a:solidFill>
                  <a:schemeClr val="bg2"/>
                </a:solidFill>
              </a:rPr>
              <a:t> Road</a:t>
            </a:r>
            <a:endParaRPr lang="en-GB" sz="1200" dirty="0">
              <a:solidFill>
                <a:schemeClr val="bg2"/>
              </a:solidFill>
            </a:endParaRPr>
          </a:p>
          <a:p>
            <a:r>
              <a:rPr lang="en-GB" sz="1200" dirty="0" err="1">
                <a:solidFill>
                  <a:schemeClr val="bg2"/>
                </a:solidFill>
              </a:rPr>
              <a:t>Lucknow</a:t>
            </a:r>
            <a:r>
              <a:rPr lang="en-GB" sz="1200" dirty="0">
                <a:solidFill>
                  <a:schemeClr val="bg2"/>
                </a:solidFill>
              </a:rPr>
              <a:t> </a:t>
            </a:r>
            <a:r>
              <a:rPr lang="en-GB" sz="1200" dirty="0" smtClean="0">
                <a:solidFill>
                  <a:schemeClr val="bg2"/>
                </a:solidFill>
              </a:rPr>
              <a:t>- 226002</a:t>
            </a:r>
            <a:endParaRPr lang="en-GB" sz="1200" dirty="0">
              <a:solidFill>
                <a:schemeClr val="bg2"/>
              </a:solidFill>
            </a:endParaRPr>
          </a:p>
        </p:txBody>
      </p:sp>
    </p:spTree>
    <p:extLst>
      <p:ext uri="{BB962C8B-B14F-4D97-AF65-F5344CB8AC3E}">
        <p14:creationId xmlns:p14="http://schemas.microsoft.com/office/powerpoint/2010/main" val="92439747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1000"/>
                                        <p:tgtEl>
                                          <p:spTgt spid="27"/>
                                        </p:tgtEl>
                                      </p:cBhvr>
                                    </p:animEffect>
                                    <p:anim calcmode="lin" valueType="num">
                                      <p:cBhvr>
                                        <p:cTn id="14" dur="1000" fill="hold"/>
                                        <p:tgtEl>
                                          <p:spTgt spid="27"/>
                                        </p:tgtEl>
                                        <p:attrNameLst>
                                          <p:attrName>ppt_x</p:attrName>
                                        </p:attrNameLst>
                                      </p:cBhvr>
                                      <p:tavLst>
                                        <p:tav tm="0">
                                          <p:val>
                                            <p:strVal val="#ppt_x"/>
                                          </p:val>
                                        </p:tav>
                                        <p:tav tm="100000">
                                          <p:val>
                                            <p:strVal val="#ppt_x"/>
                                          </p:val>
                                        </p:tav>
                                      </p:tavLst>
                                    </p:anim>
                                    <p:anim calcmode="lin" valueType="num">
                                      <p:cBhvr>
                                        <p:cTn id="15" dur="1000" fill="hold"/>
                                        <p:tgtEl>
                                          <p:spTgt spid="27"/>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childTnLst>
                          </p:cTn>
                        </p:par>
                        <p:par>
                          <p:cTn id="20" fill="hold">
                            <p:stCondLst>
                              <p:cond delay="2500"/>
                            </p:stCondLst>
                            <p:childTnLst>
                              <p:par>
                                <p:cTn id="21" presetID="53" presetClass="entr" presetSubtype="16"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p:cTn id="23" dur="500" fill="hold"/>
                                        <p:tgtEl>
                                          <p:spTgt spid="19"/>
                                        </p:tgtEl>
                                        <p:attrNameLst>
                                          <p:attrName>ppt_w</p:attrName>
                                        </p:attrNameLst>
                                      </p:cBhvr>
                                      <p:tavLst>
                                        <p:tav tm="0">
                                          <p:val>
                                            <p:fltVal val="0"/>
                                          </p:val>
                                        </p:tav>
                                        <p:tav tm="100000">
                                          <p:val>
                                            <p:strVal val="#ppt_w"/>
                                          </p:val>
                                        </p:tav>
                                      </p:tavLst>
                                    </p:anim>
                                    <p:anim calcmode="lin" valueType="num">
                                      <p:cBhvr>
                                        <p:cTn id="24" dur="500" fill="hold"/>
                                        <p:tgtEl>
                                          <p:spTgt spid="19"/>
                                        </p:tgtEl>
                                        <p:attrNameLst>
                                          <p:attrName>ppt_h</p:attrName>
                                        </p:attrNameLst>
                                      </p:cBhvr>
                                      <p:tavLst>
                                        <p:tav tm="0">
                                          <p:val>
                                            <p:fltVal val="0"/>
                                          </p:val>
                                        </p:tav>
                                        <p:tav tm="100000">
                                          <p:val>
                                            <p:strVal val="#ppt_h"/>
                                          </p:val>
                                        </p:tav>
                                      </p:tavLst>
                                    </p:anim>
                                    <p:animEffect transition="in" filter="fade">
                                      <p:cBhvr>
                                        <p:cTn id="25" dur="500"/>
                                        <p:tgtEl>
                                          <p:spTgt spid="19"/>
                                        </p:tgtEl>
                                      </p:cBhvr>
                                    </p:animEffect>
                                  </p:childTnLst>
                                </p:cTn>
                              </p:par>
                            </p:childTnLst>
                          </p:cTn>
                        </p:par>
                        <p:par>
                          <p:cTn id="26" fill="hold">
                            <p:stCondLst>
                              <p:cond delay="3000"/>
                            </p:stCondLst>
                            <p:childTnLst>
                              <p:par>
                                <p:cTn id="27" presetID="53" presetClass="entr" presetSubtype="16" fill="hold" grpId="0" nodeType="after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p:cTn id="29" dur="500" fill="hold"/>
                                        <p:tgtEl>
                                          <p:spTgt spid="21"/>
                                        </p:tgtEl>
                                        <p:attrNameLst>
                                          <p:attrName>ppt_w</p:attrName>
                                        </p:attrNameLst>
                                      </p:cBhvr>
                                      <p:tavLst>
                                        <p:tav tm="0">
                                          <p:val>
                                            <p:fltVal val="0"/>
                                          </p:val>
                                        </p:tav>
                                        <p:tav tm="100000">
                                          <p:val>
                                            <p:strVal val="#ppt_w"/>
                                          </p:val>
                                        </p:tav>
                                      </p:tavLst>
                                    </p:anim>
                                    <p:anim calcmode="lin" valueType="num">
                                      <p:cBhvr>
                                        <p:cTn id="30" dur="500" fill="hold"/>
                                        <p:tgtEl>
                                          <p:spTgt spid="21"/>
                                        </p:tgtEl>
                                        <p:attrNameLst>
                                          <p:attrName>ppt_h</p:attrName>
                                        </p:attrNameLst>
                                      </p:cBhvr>
                                      <p:tavLst>
                                        <p:tav tm="0">
                                          <p:val>
                                            <p:fltVal val="0"/>
                                          </p:val>
                                        </p:tav>
                                        <p:tav tm="100000">
                                          <p:val>
                                            <p:strVal val="#ppt_h"/>
                                          </p:val>
                                        </p:tav>
                                      </p:tavLst>
                                    </p:anim>
                                    <p:animEffect transition="in" filter="fade">
                                      <p:cBhvr>
                                        <p:cTn id="31" dur="500"/>
                                        <p:tgtEl>
                                          <p:spTgt spid="21"/>
                                        </p:tgtEl>
                                      </p:cBhvr>
                                    </p:animEffect>
                                  </p:childTnLst>
                                </p:cTn>
                              </p:par>
                            </p:childTnLst>
                          </p:cTn>
                        </p:par>
                        <p:par>
                          <p:cTn id="32" fill="hold">
                            <p:stCondLst>
                              <p:cond delay="3500"/>
                            </p:stCondLst>
                            <p:childTnLst>
                              <p:par>
                                <p:cTn id="33" presetID="53" presetClass="entr" presetSubtype="16" fill="hold" grpId="0" nodeType="after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p:cTn id="35" dur="500" fill="hold"/>
                                        <p:tgtEl>
                                          <p:spTgt spid="17"/>
                                        </p:tgtEl>
                                        <p:attrNameLst>
                                          <p:attrName>ppt_w</p:attrName>
                                        </p:attrNameLst>
                                      </p:cBhvr>
                                      <p:tavLst>
                                        <p:tav tm="0">
                                          <p:val>
                                            <p:fltVal val="0"/>
                                          </p:val>
                                        </p:tav>
                                        <p:tav tm="100000">
                                          <p:val>
                                            <p:strVal val="#ppt_w"/>
                                          </p:val>
                                        </p:tav>
                                      </p:tavLst>
                                    </p:anim>
                                    <p:anim calcmode="lin" valueType="num">
                                      <p:cBhvr>
                                        <p:cTn id="36" dur="500" fill="hold"/>
                                        <p:tgtEl>
                                          <p:spTgt spid="17"/>
                                        </p:tgtEl>
                                        <p:attrNameLst>
                                          <p:attrName>ppt_h</p:attrName>
                                        </p:attrNameLst>
                                      </p:cBhvr>
                                      <p:tavLst>
                                        <p:tav tm="0">
                                          <p:val>
                                            <p:fltVal val="0"/>
                                          </p:val>
                                        </p:tav>
                                        <p:tav tm="100000">
                                          <p:val>
                                            <p:strVal val="#ppt_h"/>
                                          </p:val>
                                        </p:tav>
                                      </p:tavLst>
                                    </p:anim>
                                    <p:animEffect transition="in" filter="fade">
                                      <p:cBhvr>
                                        <p:cTn id="37" dur="500"/>
                                        <p:tgtEl>
                                          <p:spTgt spid="17"/>
                                        </p:tgtEl>
                                      </p:cBhvr>
                                    </p:animEffect>
                                  </p:childTnLst>
                                </p:cTn>
                              </p:par>
                            </p:childTnLst>
                          </p:cTn>
                        </p:par>
                        <p:par>
                          <p:cTn id="38" fill="hold">
                            <p:stCondLst>
                              <p:cond delay="4000"/>
                            </p:stCondLst>
                            <p:childTnLst>
                              <p:par>
                                <p:cTn id="39" presetID="53" presetClass="entr" presetSubtype="16" fill="hold" grpId="0" nodeType="after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p:cTn id="41" dur="500" fill="hold"/>
                                        <p:tgtEl>
                                          <p:spTgt spid="15"/>
                                        </p:tgtEl>
                                        <p:attrNameLst>
                                          <p:attrName>ppt_w</p:attrName>
                                        </p:attrNameLst>
                                      </p:cBhvr>
                                      <p:tavLst>
                                        <p:tav tm="0">
                                          <p:val>
                                            <p:fltVal val="0"/>
                                          </p:val>
                                        </p:tav>
                                        <p:tav tm="100000">
                                          <p:val>
                                            <p:strVal val="#ppt_w"/>
                                          </p:val>
                                        </p:tav>
                                      </p:tavLst>
                                    </p:anim>
                                    <p:anim calcmode="lin" valueType="num">
                                      <p:cBhvr>
                                        <p:cTn id="42" dur="500" fill="hold"/>
                                        <p:tgtEl>
                                          <p:spTgt spid="15"/>
                                        </p:tgtEl>
                                        <p:attrNameLst>
                                          <p:attrName>ppt_h</p:attrName>
                                        </p:attrNameLst>
                                      </p:cBhvr>
                                      <p:tavLst>
                                        <p:tav tm="0">
                                          <p:val>
                                            <p:fltVal val="0"/>
                                          </p:val>
                                        </p:tav>
                                        <p:tav tm="100000">
                                          <p:val>
                                            <p:strVal val="#ppt_h"/>
                                          </p:val>
                                        </p:tav>
                                      </p:tavLst>
                                    </p:anim>
                                    <p:animEffect transition="in" filter="fade">
                                      <p:cBhvr>
                                        <p:cTn id="4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9" grpId="0"/>
      <p:bldP spid="21" grpId="0"/>
      <p:bldP spid="27" grpId="0"/>
      <p:bldP spid="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Footer Placeholder 2"/>
          <p:cNvSpPr>
            <a:spLocks noGrp="1"/>
          </p:cNvSpPr>
          <p:nvPr>
            <p:ph type="ftr" sz="quarter" idx="11"/>
          </p:nvPr>
        </p:nvSpPr>
        <p:spPr/>
        <p:txBody>
          <a:bodyPr/>
          <a:lstStyle/>
          <a:p>
            <a:r>
              <a:rPr lang="en-US" dirty="0">
                <a:solidFill>
                  <a:schemeClr val="bg2"/>
                </a:solidFill>
              </a:rPr>
              <a:t>EXPERTISE | EXPERIENCE | EXCELLENCE</a:t>
            </a:r>
          </a:p>
        </p:txBody>
      </p:sp>
      <p:sp>
        <p:nvSpPr>
          <p:cNvPr id="4" name="Slide Number Placeholder 3"/>
          <p:cNvSpPr>
            <a:spLocks noGrp="1"/>
          </p:cNvSpPr>
          <p:nvPr>
            <p:ph type="sldNum" sz="quarter" idx="12"/>
          </p:nvPr>
        </p:nvSpPr>
        <p:spPr/>
        <p:txBody>
          <a:bodyPr/>
          <a:lstStyle/>
          <a:p>
            <a:fld id="{98C37ADA-FE03-4EF7-8F15-3521BBE76F4D}" type="slidenum">
              <a:rPr lang="en-US"/>
              <a:pPr/>
              <a:t>3</a:t>
            </a:fld>
            <a:endParaRPr lang="en-US"/>
          </a:p>
        </p:txBody>
      </p:sp>
      <p:sp>
        <p:nvSpPr>
          <p:cNvPr id="8" name="Rectangle 7"/>
          <p:cNvSpPr/>
          <p:nvPr/>
        </p:nvSpPr>
        <p:spPr>
          <a:xfrm>
            <a:off x="0" y="1773383"/>
            <a:ext cx="12192000" cy="2820704"/>
          </a:xfrm>
          <a:prstGeom prst="rect">
            <a:avLst/>
          </a:prstGeom>
          <a:solidFill>
            <a:schemeClr val="tx2">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p:cNvGrpSpPr/>
          <p:nvPr/>
        </p:nvGrpSpPr>
        <p:grpSpPr>
          <a:xfrm>
            <a:off x="998807" y="1431986"/>
            <a:ext cx="3291840" cy="5478423"/>
            <a:chOff x="998807" y="2375481"/>
            <a:chExt cx="3291840" cy="4483728"/>
          </a:xfrm>
        </p:grpSpPr>
        <p:sp>
          <p:nvSpPr>
            <p:cNvPr id="11" name="Rectangle 10"/>
            <p:cNvSpPr/>
            <p:nvPr/>
          </p:nvSpPr>
          <p:spPr>
            <a:xfrm>
              <a:off x="998807" y="2389600"/>
              <a:ext cx="3291840" cy="4236091"/>
            </a:xfrm>
            <a:prstGeom prst="rect">
              <a:avLst/>
            </a:prstGeom>
            <a:solidFill>
              <a:schemeClr val="tx2">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350646" y="2375481"/>
              <a:ext cx="2588161" cy="4483728"/>
            </a:xfrm>
            <a:prstGeom prst="rect">
              <a:avLst/>
            </a:prstGeom>
            <a:noFill/>
          </p:spPr>
          <p:txBody>
            <a:bodyPr wrap="square" rtlCol="0">
              <a:spAutoFit/>
            </a:bodyPr>
            <a:lstStyle/>
            <a:p>
              <a:pPr algn="ctr"/>
              <a:r>
                <a:rPr lang="en-US" sz="1400" dirty="0">
                  <a:solidFill>
                    <a:schemeClr val="bg2"/>
                  </a:solidFill>
                </a:rPr>
                <a:t>“</a:t>
              </a:r>
              <a:r>
                <a:rPr lang="en-IN" sz="1400" dirty="0" err="1">
                  <a:solidFill>
                    <a:schemeClr val="bg2"/>
                  </a:solidFill>
                  <a:latin typeface="Lucida Bright" pitchFamily="18" charset="0"/>
                  <a:cs typeface="Aparajita" pitchFamily="18" charset="0"/>
                </a:rPr>
                <a:t>Shalvi</a:t>
              </a:r>
              <a:r>
                <a:rPr lang="en-IN" sz="1400" dirty="0">
                  <a:solidFill>
                    <a:schemeClr val="bg2"/>
                  </a:solidFill>
                  <a:latin typeface="Lucida Bright" pitchFamily="18" charset="0"/>
                  <a:cs typeface="Aparajita" pitchFamily="18" charset="0"/>
                </a:rPr>
                <a:t> </a:t>
              </a:r>
              <a:r>
                <a:rPr lang="en-IN" sz="1400" dirty="0" smtClean="0">
                  <a:solidFill>
                    <a:schemeClr val="bg2"/>
                  </a:solidFill>
                  <a:latin typeface="Lucida Bright" pitchFamily="18" charset="0"/>
                  <a:cs typeface="Aparajita" pitchFamily="18" charset="0"/>
                </a:rPr>
                <a:t>Technologies is </a:t>
              </a:r>
              <a:r>
                <a:rPr lang="en-IN" sz="1400" dirty="0">
                  <a:solidFill>
                    <a:schemeClr val="bg2"/>
                  </a:solidFill>
                  <a:latin typeface="Lucida Bright" pitchFamily="18" charset="0"/>
                  <a:cs typeface="Aparajita" pitchFamily="18" charset="0"/>
                </a:rPr>
                <a:t>a fast growing and professionally managed organisation having very strong Technical </a:t>
              </a:r>
              <a:r>
                <a:rPr lang="en-IN" sz="1400" dirty="0" smtClean="0">
                  <a:solidFill>
                    <a:schemeClr val="bg2"/>
                  </a:solidFill>
                  <a:latin typeface="Lucida Bright" pitchFamily="18" charset="0"/>
                  <a:cs typeface="Aparajita" pitchFamily="18" charset="0"/>
                </a:rPr>
                <a:t>base and </a:t>
              </a:r>
              <a:r>
                <a:rPr lang="en-IN" sz="1400" dirty="0">
                  <a:solidFill>
                    <a:schemeClr val="bg2"/>
                  </a:solidFill>
                  <a:latin typeface="Lucida Bright" pitchFamily="18" charset="0"/>
                  <a:cs typeface="Aparajita" pitchFamily="18" charset="0"/>
                </a:rPr>
                <a:t>oriented towards solution based selling and support</a:t>
              </a:r>
              <a:r>
                <a:rPr lang="en-IN" sz="1400" dirty="0" smtClean="0">
                  <a:solidFill>
                    <a:schemeClr val="bg2"/>
                  </a:solidFill>
                  <a:latin typeface="Lucida Bright" pitchFamily="18" charset="0"/>
                  <a:cs typeface="Aparajita" pitchFamily="18" charset="0"/>
                </a:rPr>
                <a:t>, Started with addressing </a:t>
              </a:r>
              <a:r>
                <a:rPr lang="en-IN" sz="1400" dirty="0">
                  <a:solidFill>
                    <a:schemeClr val="bg2"/>
                  </a:solidFill>
                  <a:latin typeface="Lucida Bright" pitchFamily="18" charset="0"/>
                  <a:cs typeface="Aparajita" pitchFamily="18" charset="0"/>
                </a:rPr>
                <a:t>most of the </a:t>
              </a:r>
              <a:r>
                <a:rPr lang="en-IN" sz="1400" dirty="0" smtClean="0">
                  <a:solidFill>
                    <a:schemeClr val="bg2"/>
                  </a:solidFill>
                  <a:latin typeface="Lucida Bright" pitchFamily="18" charset="0"/>
                  <a:cs typeface="Aparajita" pitchFamily="18" charset="0"/>
                </a:rPr>
                <a:t>requirements of </a:t>
              </a:r>
              <a:r>
                <a:rPr lang="en-IN" sz="1400" dirty="0" smtClean="0">
                  <a:solidFill>
                    <a:schemeClr val="bg2"/>
                  </a:solidFill>
                  <a:latin typeface="Lucida Bright" pitchFamily="18" charset="0"/>
                  <a:cs typeface="Aparajita" pitchFamily="18" charset="0"/>
                </a:rPr>
                <a:t>Information </a:t>
              </a:r>
              <a:r>
                <a:rPr lang="en-IN" sz="1400" dirty="0" smtClean="0">
                  <a:solidFill>
                    <a:schemeClr val="bg2"/>
                  </a:solidFill>
                  <a:latin typeface="Lucida Bright" pitchFamily="18" charset="0"/>
                  <a:cs typeface="Aparajita" pitchFamily="18" charset="0"/>
                </a:rPr>
                <a:t>Technology solutions, audio-visual solutions, office automation followed by Prime Minister’s </a:t>
              </a:r>
              <a:r>
                <a:rPr lang="en-IN" sz="1400" dirty="0" err="1" smtClean="0">
                  <a:solidFill>
                    <a:schemeClr val="bg2"/>
                  </a:solidFill>
                  <a:latin typeface="Lucida Bright" pitchFamily="18" charset="0"/>
                  <a:cs typeface="Aparajita" pitchFamily="18" charset="0"/>
                </a:rPr>
                <a:t>Swacch</a:t>
              </a:r>
              <a:r>
                <a:rPr lang="en-IN" sz="1400" dirty="0" smtClean="0">
                  <a:solidFill>
                    <a:schemeClr val="bg2"/>
                  </a:solidFill>
                  <a:latin typeface="Lucida Bright" pitchFamily="18" charset="0"/>
                  <a:cs typeface="Aparajita" pitchFamily="18" charset="0"/>
                </a:rPr>
                <a:t> Bharat Mission Waste Management Products and Solutions. </a:t>
              </a:r>
              <a:r>
                <a:rPr lang="en-IN" sz="1400" dirty="0">
                  <a:solidFill>
                    <a:schemeClr val="bg2"/>
                  </a:solidFill>
                  <a:latin typeface="Lucida Bright" pitchFamily="18" charset="0"/>
                  <a:cs typeface="Aparajita" pitchFamily="18" charset="0"/>
                </a:rPr>
                <a:t>We undertake a comprehensive analysis of the customer requirements to get a better </a:t>
              </a:r>
              <a:r>
                <a:rPr lang="en-IN" sz="1400" dirty="0" smtClean="0">
                  <a:solidFill>
                    <a:schemeClr val="bg2"/>
                  </a:solidFill>
                  <a:latin typeface="Lucida Bright" pitchFamily="18" charset="0"/>
                  <a:cs typeface="Aparajita" pitchFamily="18" charset="0"/>
                </a:rPr>
                <a:t>understanding , evaluate </a:t>
              </a:r>
              <a:r>
                <a:rPr lang="en-IN" sz="1400" dirty="0">
                  <a:solidFill>
                    <a:schemeClr val="bg2"/>
                  </a:solidFill>
                  <a:latin typeface="Lucida Bright" pitchFamily="18" charset="0"/>
                  <a:cs typeface="Aparajita" pitchFamily="18" charset="0"/>
                </a:rPr>
                <a:t>the various products </a:t>
              </a:r>
              <a:r>
                <a:rPr lang="en-IN" sz="1400" dirty="0" smtClean="0">
                  <a:solidFill>
                    <a:schemeClr val="bg2"/>
                  </a:solidFill>
                  <a:latin typeface="Lucida Bright" pitchFamily="18" charset="0"/>
                  <a:cs typeface="Aparajita" pitchFamily="18" charset="0"/>
                </a:rPr>
                <a:t>&amp; solutions </a:t>
              </a:r>
              <a:r>
                <a:rPr lang="en-IN" sz="1400" dirty="0">
                  <a:solidFill>
                    <a:schemeClr val="bg2"/>
                  </a:solidFill>
                  <a:latin typeface="Lucida Bright" pitchFamily="18" charset="0"/>
                  <a:cs typeface="Aparajita" pitchFamily="18" charset="0"/>
                </a:rPr>
                <a:t>available and provide the best solution to our customers</a:t>
              </a:r>
              <a:r>
                <a:rPr lang="en-US" sz="1400" dirty="0">
                  <a:solidFill>
                    <a:schemeClr val="bg2"/>
                  </a:solidFill>
                </a:rPr>
                <a:t>”</a:t>
              </a:r>
            </a:p>
          </p:txBody>
        </p:sp>
      </p:grpSp>
      <p:sp>
        <p:nvSpPr>
          <p:cNvPr id="12" name="TextBox 11"/>
          <p:cNvSpPr txBox="1"/>
          <p:nvPr/>
        </p:nvSpPr>
        <p:spPr>
          <a:xfrm>
            <a:off x="5043966" y="4502989"/>
            <a:ext cx="3634208" cy="369332"/>
          </a:xfrm>
          <a:prstGeom prst="rect">
            <a:avLst/>
          </a:prstGeom>
          <a:noFill/>
        </p:spPr>
        <p:txBody>
          <a:bodyPr wrap="square" rtlCol="0">
            <a:spAutoFit/>
          </a:bodyPr>
          <a:lstStyle/>
          <a:p>
            <a:r>
              <a:rPr lang="en-US" b="1">
                <a:solidFill>
                  <a:schemeClr val="bg2"/>
                </a:solidFill>
              </a:rPr>
              <a:t>Why Do You Choose With Us?</a:t>
            </a:r>
          </a:p>
        </p:txBody>
      </p:sp>
      <p:sp>
        <p:nvSpPr>
          <p:cNvPr id="13" name="Rectangle 12"/>
          <p:cNvSpPr/>
          <p:nvPr/>
        </p:nvSpPr>
        <p:spPr>
          <a:xfrm>
            <a:off x="5009460" y="5042118"/>
            <a:ext cx="6096000" cy="1815882"/>
          </a:xfrm>
          <a:prstGeom prst="rect">
            <a:avLst/>
          </a:prstGeom>
        </p:spPr>
        <p:txBody>
          <a:bodyPr>
            <a:spAutoFit/>
          </a:bodyPr>
          <a:lstStyle/>
          <a:p>
            <a:r>
              <a:rPr lang="en-IN" sz="1400" dirty="0" err="1">
                <a:solidFill>
                  <a:schemeClr val="bg2"/>
                </a:solidFill>
              </a:rPr>
              <a:t>Shalvi</a:t>
            </a:r>
            <a:r>
              <a:rPr lang="en-IN" sz="1400" dirty="0">
                <a:solidFill>
                  <a:schemeClr val="bg2"/>
                </a:solidFill>
              </a:rPr>
              <a:t> Technologies believes in maintaining long term relations with our customers and </a:t>
            </a:r>
            <a:r>
              <a:rPr lang="en-IN" sz="1400" dirty="0" smtClean="0">
                <a:solidFill>
                  <a:schemeClr val="bg2"/>
                </a:solidFill>
              </a:rPr>
              <a:t>have installed base of variety of solutions as per customers requirements. </a:t>
            </a:r>
            <a:r>
              <a:rPr lang="en-IN" sz="1400" dirty="0">
                <a:solidFill>
                  <a:schemeClr val="bg2"/>
                </a:solidFill>
              </a:rPr>
              <a:t>We have successfully </a:t>
            </a:r>
            <a:r>
              <a:rPr lang="en-IN" sz="1400" dirty="0" smtClean="0">
                <a:solidFill>
                  <a:schemeClr val="bg2"/>
                </a:solidFill>
              </a:rPr>
              <a:t>executed </a:t>
            </a:r>
            <a:r>
              <a:rPr lang="en-IN" sz="1400" dirty="0">
                <a:solidFill>
                  <a:schemeClr val="bg2"/>
                </a:solidFill>
              </a:rPr>
              <a:t>a number of complex projects of Govt. and corporate </a:t>
            </a:r>
            <a:r>
              <a:rPr lang="en-IN" sz="1400" dirty="0" smtClean="0">
                <a:solidFill>
                  <a:schemeClr val="bg2"/>
                </a:solidFill>
              </a:rPr>
              <a:t>clients</a:t>
            </a:r>
            <a:r>
              <a:rPr lang="en-IN" sz="1400" dirty="0">
                <a:solidFill>
                  <a:schemeClr val="bg2"/>
                </a:solidFill>
              </a:rPr>
              <a:t>. With expertise and </a:t>
            </a:r>
            <a:r>
              <a:rPr lang="en-IN" sz="1400" dirty="0" smtClean="0">
                <a:solidFill>
                  <a:schemeClr val="bg2"/>
                </a:solidFill>
              </a:rPr>
              <a:t>leadership in </a:t>
            </a:r>
            <a:r>
              <a:rPr lang="en-IN" sz="1400" dirty="0">
                <a:solidFill>
                  <a:schemeClr val="bg2"/>
                </a:solidFill>
              </a:rPr>
              <a:t>the latest areas in </a:t>
            </a:r>
            <a:r>
              <a:rPr lang="en-IN" sz="1400" dirty="0" smtClean="0">
                <a:solidFill>
                  <a:schemeClr val="bg2"/>
                </a:solidFill>
              </a:rPr>
              <a:t>various domains and </a:t>
            </a:r>
            <a:r>
              <a:rPr lang="en-IN" sz="1400" dirty="0">
                <a:solidFill>
                  <a:schemeClr val="bg2"/>
                </a:solidFill>
              </a:rPr>
              <a:t>our alliance with world leader brands as their business associates</a:t>
            </a:r>
            <a:r>
              <a:rPr lang="en-IN" sz="1400" dirty="0" smtClean="0">
                <a:solidFill>
                  <a:schemeClr val="bg2"/>
                </a:solidFill>
              </a:rPr>
              <a:t>, we </a:t>
            </a:r>
            <a:r>
              <a:rPr lang="en-IN" sz="1400" dirty="0">
                <a:solidFill>
                  <a:schemeClr val="bg2"/>
                </a:solidFill>
              </a:rPr>
              <a:t>easily claim to be best solution </a:t>
            </a:r>
            <a:r>
              <a:rPr lang="en-IN" sz="1400" dirty="0" smtClean="0">
                <a:solidFill>
                  <a:schemeClr val="bg2"/>
                </a:solidFill>
              </a:rPr>
              <a:t>provider in </a:t>
            </a:r>
            <a:r>
              <a:rPr lang="en-IN" sz="1400" dirty="0">
                <a:solidFill>
                  <a:schemeClr val="bg2"/>
                </a:solidFill>
              </a:rPr>
              <a:t>this part of the </a:t>
            </a:r>
            <a:r>
              <a:rPr lang="en-IN" sz="1400" dirty="0" smtClean="0">
                <a:solidFill>
                  <a:schemeClr val="bg2"/>
                </a:solidFill>
              </a:rPr>
              <a:t>country and </a:t>
            </a:r>
            <a:r>
              <a:rPr lang="en-IN" sz="1400" dirty="0">
                <a:solidFill>
                  <a:schemeClr val="bg2"/>
                </a:solidFill>
              </a:rPr>
              <a:t>have been </a:t>
            </a:r>
            <a:r>
              <a:rPr lang="en-IN" sz="1400" dirty="0" smtClean="0">
                <a:solidFill>
                  <a:schemeClr val="bg2"/>
                </a:solidFill>
              </a:rPr>
              <a:t>continuously  awarded </a:t>
            </a:r>
            <a:r>
              <a:rPr lang="en-IN" sz="1400" dirty="0">
                <a:solidFill>
                  <a:schemeClr val="bg2"/>
                </a:solidFill>
              </a:rPr>
              <a:t>by media for the same.</a:t>
            </a:r>
            <a:endParaRPr lang="en-US" sz="1400" dirty="0">
              <a:solidFill>
                <a:schemeClr val="bg2"/>
              </a:solidFill>
            </a:endParaRPr>
          </a:p>
        </p:txBody>
      </p:sp>
    </p:spTree>
    <p:extLst>
      <p:ext uri="{BB962C8B-B14F-4D97-AF65-F5344CB8AC3E}">
        <p14:creationId xmlns:p14="http://schemas.microsoft.com/office/powerpoint/2010/main" val="1697500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a:t>
            </a:r>
            <a:endParaRPr lang="en-IN" dirty="0"/>
          </a:p>
        </p:txBody>
      </p:sp>
      <p:sp>
        <p:nvSpPr>
          <p:cNvPr id="3" name="Footer Placeholder 2"/>
          <p:cNvSpPr>
            <a:spLocks noGrp="1"/>
          </p:cNvSpPr>
          <p:nvPr>
            <p:ph type="ftr" sz="quarter" idx="11"/>
          </p:nvPr>
        </p:nvSpPr>
        <p:spPr>
          <a:xfrm>
            <a:off x="4038598" y="894945"/>
            <a:ext cx="4114800" cy="301557"/>
          </a:xfrm>
        </p:spPr>
        <p:txBody>
          <a:bodyPr/>
          <a:lstStyle/>
          <a:p>
            <a:r>
              <a:rPr lang="en-US" dirty="0" smtClean="0">
                <a:solidFill>
                  <a:schemeClr val="bg2"/>
                </a:solidFill>
              </a:rPr>
              <a:t>EXPERTISE | EXPERIENCE | EXCELLENCE</a:t>
            </a:r>
          </a:p>
          <a:p>
            <a:endParaRPr lang="en-US" dirty="0">
              <a:solidFill>
                <a:schemeClr val="accent2"/>
              </a:solidFill>
            </a:endParaRPr>
          </a:p>
        </p:txBody>
      </p:sp>
      <p:sp>
        <p:nvSpPr>
          <p:cNvPr id="4" name="Slide Number Placeholder 3"/>
          <p:cNvSpPr>
            <a:spLocks noGrp="1"/>
          </p:cNvSpPr>
          <p:nvPr>
            <p:ph type="sldNum" sz="quarter" idx="12"/>
          </p:nvPr>
        </p:nvSpPr>
        <p:spPr/>
        <p:txBody>
          <a:bodyPr/>
          <a:lstStyle/>
          <a:p>
            <a:fld id="{98C37ADA-FE03-4EF7-8F15-3521BBE76F4D}" type="slidenum">
              <a:rPr lang="en-US" smtClean="0"/>
              <a:pPr/>
              <a:t>4</a:t>
            </a:fld>
            <a:endParaRPr lang="en-US"/>
          </a:p>
        </p:txBody>
      </p:sp>
      <p:sp>
        <p:nvSpPr>
          <p:cNvPr id="6" name="Rectangle 5"/>
          <p:cNvSpPr/>
          <p:nvPr/>
        </p:nvSpPr>
        <p:spPr>
          <a:xfrm>
            <a:off x="2090057" y="2052536"/>
            <a:ext cx="7863840" cy="2872389"/>
          </a:xfrm>
          <a:prstGeom prst="rect">
            <a:avLst/>
          </a:prstGeom>
          <a:solidFill>
            <a:schemeClr val="tx2">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New move towards the esteemed vision of </a:t>
            </a:r>
            <a:r>
              <a:rPr lang="en-US" dirty="0" err="1" smtClean="0"/>
              <a:t>Swacch</a:t>
            </a:r>
            <a:r>
              <a:rPr lang="en-US" dirty="0" smtClean="0"/>
              <a:t> Bharat Mission and </a:t>
            </a:r>
            <a:r>
              <a:rPr lang="en-US" dirty="0" err="1" smtClean="0"/>
              <a:t>Ayusman</a:t>
            </a:r>
            <a:r>
              <a:rPr lang="en-US" dirty="0" smtClean="0"/>
              <a:t> Bharat mission to serve the native and remote location of country indulging in to Queue Management Systems, MSW (Municipal Solid Waste) management, Medical Waste, Environmental cleaning process, Anti Smog solutions Etc. and Medical equipments. </a:t>
            </a:r>
          </a:p>
          <a:p>
            <a:endParaRPr lang="en-US" dirty="0" smtClean="0"/>
          </a:p>
          <a:p>
            <a:endParaRPr lang="en-US" dirty="0" smtClean="0"/>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1"/>
            <a:ext cx="12192000" cy="3052689"/>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3517257" y="266783"/>
            <a:ext cx="4843977" cy="929453"/>
            <a:chOff x="3674011" y="3232052"/>
            <a:chExt cx="4843977" cy="929453"/>
          </a:xfrm>
        </p:grpSpPr>
        <p:sp>
          <p:nvSpPr>
            <p:cNvPr id="3" name="TextBox 2"/>
            <p:cNvSpPr txBox="1"/>
            <p:nvPr/>
          </p:nvSpPr>
          <p:spPr>
            <a:xfrm>
              <a:off x="4787083" y="3232052"/>
              <a:ext cx="3116559" cy="707886"/>
            </a:xfrm>
            <a:prstGeom prst="rect">
              <a:avLst/>
            </a:prstGeom>
            <a:noFill/>
          </p:spPr>
          <p:txBody>
            <a:bodyPr wrap="none" rtlCol="0">
              <a:spAutoFit/>
            </a:bodyPr>
            <a:lstStyle/>
            <a:p>
              <a:pPr algn="ctr"/>
              <a:r>
                <a:rPr lang="en-US" sz="4000" dirty="0">
                  <a:solidFill>
                    <a:schemeClr val="bg2"/>
                  </a:solidFill>
                  <a:latin typeface="+mj-lt"/>
                </a:rPr>
                <a:t>PRACTICES</a:t>
              </a:r>
            </a:p>
          </p:txBody>
        </p:sp>
        <p:sp>
          <p:nvSpPr>
            <p:cNvPr id="4" name="Rectangle 3"/>
            <p:cNvSpPr/>
            <p:nvPr/>
          </p:nvSpPr>
          <p:spPr>
            <a:xfrm>
              <a:off x="3674011" y="3853728"/>
              <a:ext cx="4843977" cy="307777"/>
            </a:xfrm>
            <a:prstGeom prst="rect">
              <a:avLst/>
            </a:prstGeom>
          </p:spPr>
          <p:txBody>
            <a:bodyPr wrap="square">
              <a:spAutoFit/>
            </a:bodyPr>
            <a:lstStyle/>
            <a:p>
              <a:pPr algn="ctr"/>
              <a:endParaRPr lang="en-US" sz="1400" dirty="0">
                <a:solidFill>
                  <a:schemeClr val="accent2"/>
                </a:solidFill>
              </a:endParaRPr>
            </a:p>
          </p:txBody>
        </p:sp>
      </p:grpSp>
      <p:sp>
        <p:nvSpPr>
          <p:cNvPr id="6" name="TextBox 5"/>
          <p:cNvSpPr txBox="1"/>
          <p:nvPr/>
        </p:nvSpPr>
        <p:spPr>
          <a:xfrm>
            <a:off x="1364566" y="4726745"/>
            <a:ext cx="184731" cy="369332"/>
          </a:xfrm>
          <a:prstGeom prst="rect">
            <a:avLst/>
          </a:prstGeom>
          <a:noFill/>
        </p:spPr>
        <p:txBody>
          <a:bodyPr wrap="none" rtlCol="0">
            <a:spAutoFit/>
          </a:bodyPr>
          <a:lstStyle/>
          <a:p>
            <a:endParaRPr lang="en-US"/>
          </a:p>
        </p:txBody>
      </p:sp>
      <p:grpSp>
        <p:nvGrpSpPr>
          <p:cNvPr id="11" name="Group 10"/>
          <p:cNvGrpSpPr/>
          <p:nvPr/>
        </p:nvGrpSpPr>
        <p:grpSpPr>
          <a:xfrm>
            <a:off x="3019244" y="3881889"/>
            <a:ext cx="6124755" cy="2208222"/>
            <a:chOff x="6513342" y="4726745"/>
            <a:chExt cx="5092504" cy="1434904"/>
          </a:xfrm>
        </p:grpSpPr>
        <p:sp>
          <p:nvSpPr>
            <p:cNvPr id="5" name="Rectangle 4"/>
            <p:cNvSpPr/>
            <p:nvPr/>
          </p:nvSpPr>
          <p:spPr>
            <a:xfrm>
              <a:off x="6513342" y="4726745"/>
              <a:ext cx="5092504" cy="1434904"/>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7" name="Rectangle 6"/>
            <p:cNvSpPr/>
            <p:nvPr/>
          </p:nvSpPr>
          <p:spPr>
            <a:xfrm>
              <a:off x="6639242" y="4783179"/>
              <a:ext cx="4840704" cy="1059965"/>
            </a:xfrm>
            <a:prstGeom prst="rect">
              <a:avLst/>
            </a:prstGeom>
          </p:spPr>
          <p:txBody>
            <a:bodyPr wrap="square">
              <a:spAutoFit/>
            </a:bodyPr>
            <a:lstStyle/>
            <a:p>
              <a:endParaRPr lang="en-US" sz="2000" i="1" dirty="0" smtClean="0">
                <a:solidFill>
                  <a:schemeClr val="bg2"/>
                </a:solidFill>
              </a:endParaRPr>
            </a:p>
            <a:p>
              <a:r>
                <a:rPr lang="en-US" sz="2000" i="1" dirty="0" smtClean="0">
                  <a:solidFill>
                    <a:schemeClr val="bg2"/>
                  </a:solidFill>
                </a:rPr>
                <a:t>“</a:t>
              </a:r>
              <a:r>
                <a:rPr lang="en-IN" sz="2000" i="1" dirty="0" err="1">
                  <a:solidFill>
                    <a:schemeClr val="bg2"/>
                  </a:solidFill>
                </a:rPr>
                <a:t>Shalvi</a:t>
              </a:r>
              <a:r>
                <a:rPr lang="en-IN" sz="2000" i="1" dirty="0">
                  <a:solidFill>
                    <a:schemeClr val="bg2"/>
                  </a:solidFill>
                </a:rPr>
                <a:t> Technologies is an innovative technology oriented </a:t>
              </a:r>
              <a:r>
                <a:rPr lang="en-IN" sz="2000" i="1" dirty="0" smtClean="0">
                  <a:solidFill>
                    <a:schemeClr val="bg2"/>
                  </a:solidFill>
                </a:rPr>
                <a:t>organisation </a:t>
              </a:r>
              <a:r>
                <a:rPr lang="en-IN" sz="2000" i="1" dirty="0">
                  <a:solidFill>
                    <a:schemeClr val="bg2"/>
                  </a:solidFill>
                </a:rPr>
                <a:t>and </a:t>
              </a:r>
              <a:r>
                <a:rPr lang="en-IN" sz="2000" i="1" dirty="0" smtClean="0">
                  <a:solidFill>
                    <a:schemeClr val="bg2"/>
                  </a:solidFill>
                </a:rPr>
                <a:t>familiar </a:t>
              </a:r>
              <a:r>
                <a:rPr lang="en-IN" sz="2000" i="1" dirty="0">
                  <a:solidFill>
                    <a:schemeClr val="bg2"/>
                  </a:solidFill>
                </a:rPr>
                <a:t>to make their customer friendly with existing and upcoming Technologies. </a:t>
              </a:r>
              <a:r>
                <a:rPr lang="en-US" sz="2000" i="1" dirty="0">
                  <a:solidFill>
                    <a:schemeClr val="bg2"/>
                  </a:solidFill>
                </a:rPr>
                <a:t>”</a:t>
              </a:r>
            </a:p>
          </p:txBody>
        </p:sp>
        <p:sp>
          <p:nvSpPr>
            <p:cNvPr id="8" name="TextBox 7"/>
            <p:cNvSpPr txBox="1"/>
            <p:nvPr/>
          </p:nvSpPr>
          <p:spPr>
            <a:xfrm>
              <a:off x="8378157" y="5626751"/>
              <a:ext cx="184731" cy="369332"/>
            </a:xfrm>
            <a:prstGeom prst="rect">
              <a:avLst/>
            </a:prstGeom>
            <a:noFill/>
          </p:spPr>
          <p:txBody>
            <a:bodyPr wrap="none" rtlCol="0">
              <a:spAutoFit/>
            </a:bodyPr>
            <a:lstStyle/>
            <a:p>
              <a:pPr algn="ctr"/>
              <a:endParaRPr lang="en-US" b="1" dirty="0">
                <a:solidFill>
                  <a:schemeClr val="bg2"/>
                </a:solidFill>
              </a:endParaRPr>
            </a:p>
          </p:txBody>
        </p:sp>
      </p:grpSp>
      <p:sp>
        <p:nvSpPr>
          <p:cNvPr id="9" name="Rectangle 8"/>
          <p:cNvSpPr/>
          <p:nvPr/>
        </p:nvSpPr>
        <p:spPr>
          <a:xfrm>
            <a:off x="448748" y="894938"/>
            <a:ext cx="11138006" cy="1815882"/>
          </a:xfrm>
          <a:prstGeom prst="rect">
            <a:avLst/>
          </a:prstGeom>
        </p:spPr>
        <p:txBody>
          <a:bodyPr wrap="square">
            <a:spAutoFit/>
          </a:bodyPr>
          <a:lstStyle/>
          <a:p>
            <a:r>
              <a:rPr lang="en-IN" sz="1400" dirty="0">
                <a:solidFill>
                  <a:schemeClr val="bg2"/>
                </a:solidFill>
              </a:rPr>
              <a:t>Provide consultancy to our customer in formulating </a:t>
            </a:r>
            <a:r>
              <a:rPr lang="en-IN" sz="1400" dirty="0" smtClean="0">
                <a:solidFill>
                  <a:schemeClr val="bg2"/>
                </a:solidFill>
              </a:rPr>
              <a:t>their requirements </a:t>
            </a:r>
            <a:r>
              <a:rPr lang="en-IN" sz="1400" dirty="0">
                <a:solidFill>
                  <a:schemeClr val="bg2"/>
                </a:solidFill>
              </a:rPr>
              <a:t>by suggesting latest product and </a:t>
            </a:r>
            <a:r>
              <a:rPr lang="en-IN" sz="1400" dirty="0" smtClean="0">
                <a:solidFill>
                  <a:schemeClr val="bg2"/>
                </a:solidFill>
              </a:rPr>
              <a:t>technologies</a:t>
            </a:r>
          </a:p>
          <a:p>
            <a:endParaRPr lang="en-IN" sz="1400" dirty="0">
              <a:solidFill>
                <a:schemeClr val="bg2"/>
              </a:solidFill>
            </a:endParaRPr>
          </a:p>
          <a:p>
            <a:r>
              <a:rPr lang="en-IN" sz="1400" dirty="0">
                <a:solidFill>
                  <a:schemeClr val="bg2"/>
                </a:solidFill>
              </a:rPr>
              <a:t> Maintaining the highest service standards with Quality  infrastructures.</a:t>
            </a:r>
          </a:p>
          <a:p>
            <a:r>
              <a:rPr lang="en-IN" sz="1400" dirty="0">
                <a:solidFill>
                  <a:schemeClr val="bg2"/>
                </a:solidFill>
              </a:rPr>
              <a:t> Maintain Market leadership in adopting the latest technologies &amp; Trends. </a:t>
            </a:r>
          </a:p>
          <a:p>
            <a:r>
              <a:rPr lang="en-IN" sz="1400" dirty="0">
                <a:solidFill>
                  <a:schemeClr val="bg2"/>
                </a:solidFill>
              </a:rPr>
              <a:t> Maintain the requisite skill-sets and facilities to fulfil the customer requirements. </a:t>
            </a:r>
          </a:p>
          <a:p>
            <a:r>
              <a:rPr lang="en-IN" sz="1400" dirty="0">
                <a:solidFill>
                  <a:schemeClr val="bg2"/>
                </a:solidFill>
              </a:rPr>
              <a:t> Win the confidence of </a:t>
            </a:r>
            <a:r>
              <a:rPr lang="en-IN" sz="1400" dirty="0" smtClean="0">
                <a:solidFill>
                  <a:schemeClr val="bg2"/>
                </a:solidFill>
              </a:rPr>
              <a:t>clients </a:t>
            </a:r>
            <a:r>
              <a:rPr lang="en-IN" sz="1400" dirty="0">
                <a:solidFill>
                  <a:schemeClr val="bg2"/>
                </a:solidFill>
              </a:rPr>
              <a:t>with </a:t>
            </a:r>
            <a:r>
              <a:rPr lang="en-IN" sz="1400" dirty="0" smtClean="0">
                <a:solidFill>
                  <a:schemeClr val="bg2"/>
                </a:solidFill>
              </a:rPr>
              <a:t>positive </a:t>
            </a:r>
            <a:r>
              <a:rPr lang="en-IN" sz="1400" dirty="0">
                <a:solidFill>
                  <a:schemeClr val="bg2"/>
                </a:solidFill>
              </a:rPr>
              <a:t>attitude and open doors for friendlier business relations. </a:t>
            </a:r>
          </a:p>
          <a:p>
            <a:r>
              <a:rPr lang="en-IN" sz="1400" dirty="0">
                <a:solidFill>
                  <a:schemeClr val="bg2"/>
                </a:solidFill>
              </a:rPr>
              <a:t> Follow ethical business practices.</a:t>
            </a:r>
          </a:p>
          <a:p>
            <a:r>
              <a:rPr lang="en-IN" sz="1400" dirty="0">
                <a:solidFill>
                  <a:schemeClr val="bg2"/>
                </a:solidFill>
              </a:rPr>
              <a:t> To go an extra mile to help our </a:t>
            </a:r>
            <a:r>
              <a:rPr lang="en-IN" sz="1400" dirty="0" smtClean="0">
                <a:solidFill>
                  <a:schemeClr val="bg2"/>
                </a:solidFill>
              </a:rPr>
              <a:t>customers as in when required.</a:t>
            </a:r>
            <a:endParaRPr lang="en-US" sz="1400" dirty="0">
              <a:solidFill>
                <a:schemeClr val="bg2"/>
              </a:solidFill>
            </a:endParaRPr>
          </a:p>
        </p:txBody>
      </p:sp>
    </p:spTree>
    <p:extLst>
      <p:ext uri="{BB962C8B-B14F-4D97-AF65-F5344CB8AC3E}">
        <p14:creationId xmlns:p14="http://schemas.microsoft.com/office/powerpoint/2010/main" val="345064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arn(inVertical)">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37"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900" decel="100000" fill="hold"/>
                                        <p:tgtEl>
                                          <p:spTgt spid="11"/>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674962" y="193743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3477608" y="189933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6280256" y="189933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9082903" y="189933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674962" y="429362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3477608" y="429362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Premium Customer</a:t>
            </a:r>
          </a:p>
        </p:txBody>
      </p:sp>
      <p:sp>
        <p:nvSpPr>
          <p:cNvPr id="4" name="Slide Number Placeholder 3"/>
          <p:cNvSpPr>
            <a:spLocks noGrp="1"/>
          </p:cNvSpPr>
          <p:nvPr>
            <p:ph type="sldNum" sz="quarter" idx="12"/>
          </p:nvPr>
        </p:nvSpPr>
        <p:spPr/>
        <p:txBody>
          <a:bodyPr/>
          <a:lstStyle/>
          <a:p>
            <a:fld id="{98C37ADA-FE03-4EF7-8F15-3521BBE76F4D}" type="slidenum">
              <a:rPr lang="en-US"/>
              <a:pPr/>
              <a:t>6</a:t>
            </a:fld>
            <a:endParaRPr lang="en-US"/>
          </a:p>
        </p:txBody>
      </p:sp>
      <p:grpSp>
        <p:nvGrpSpPr>
          <p:cNvPr id="27" name="Group 26"/>
          <p:cNvGrpSpPr/>
          <p:nvPr/>
        </p:nvGrpSpPr>
        <p:grpSpPr>
          <a:xfrm>
            <a:off x="674962" y="3484842"/>
            <a:ext cx="2262158" cy="592100"/>
            <a:chOff x="674962" y="3484842"/>
            <a:chExt cx="2262158" cy="592100"/>
          </a:xfrm>
        </p:grpSpPr>
        <p:sp>
          <p:nvSpPr>
            <p:cNvPr id="25" name="TextBox 24"/>
            <p:cNvSpPr txBox="1"/>
            <p:nvPr/>
          </p:nvSpPr>
          <p:spPr>
            <a:xfrm>
              <a:off x="674962" y="3484842"/>
              <a:ext cx="2262158" cy="369332"/>
            </a:xfrm>
            <a:prstGeom prst="rect">
              <a:avLst/>
            </a:prstGeom>
            <a:noFill/>
          </p:spPr>
          <p:txBody>
            <a:bodyPr wrap="none" rtlCol="0">
              <a:spAutoFit/>
            </a:bodyPr>
            <a:lstStyle/>
            <a:p>
              <a:r>
                <a:rPr lang="en-US" b="1" dirty="0">
                  <a:solidFill>
                    <a:schemeClr val="bg2"/>
                  </a:solidFill>
                </a:rPr>
                <a:t>Central </a:t>
              </a:r>
              <a:r>
                <a:rPr lang="en-US" b="1" dirty="0" err="1">
                  <a:solidFill>
                    <a:schemeClr val="bg2"/>
                  </a:solidFill>
                </a:rPr>
                <a:t>Goverment</a:t>
              </a:r>
              <a:endParaRPr lang="en-US" b="1" dirty="0">
                <a:solidFill>
                  <a:schemeClr val="bg2"/>
                </a:solidFill>
              </a:endParaRPr>
            </a:p>
          </p:txBody>
        </p:sp>
        <p:sp>
          <p:nvSpPr>
            <p:cNvPr id="26" name="Rectangle 25"/>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28" name="Group 27"/>
          <p:cNvGrpSpPr/>
          <p:nvPr/>
        </p:nvGrpSpPr>
        <p:grpSpPr>
          <a:xfrm>
            <a:off x="3477609" y="3484842"/>
            <a:ext cx="1826141" cy="592100"/>
            <a:chOff x="674962" y="3484842"/>
            <a:chExt cx="1826141" cy="592100"/>
          </a:xfrm>
        </p:grpSpPr>
        <p:sp>
          <p:nvSpPr>
            <p:cNvPr id="29" name="TextBox 28"/>
            <p:cNvSpPr txBox="1"/>
            <p:nvPr/>
          </p:nvSpPr>
          <p:spPr>
            <a:xfrm>
              <a:off x="674962" y="3484842"/>
              <a:ext cx="1826141" cy="369332"/>
            </a:xfrm>
            <a:prstGeom prst="rect">
              <a:avLst/>
            </a:prstGeom>
            <a:noFill/>
          </p:spPr>
          <p:txBody>
            <a:bodyPr wrap="none" rtlCol="0">
              <a:spAutoFit/>
            </a:bodyPr>
            <a:lstStyle/>
            <a:p>
              <a:r>
                <a:rPr lang="en-US" b="1" dirty="0">
                  <a:solidFill>
                    <a:schemeClr val="bg2"/>
                  </a:solidFill>
                </a:rPr>
                <a:t>Research Labs</a:t>
              </a:r>
            </a:p>
          </p:txBody>
        </p:sp>
        <p:sp>
          <p:nvSpPr>
            <p:cNvPr id="30" name="Rectangle 29"/>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31" name="Group 30"/>
          <p:cNvGrpSpPr/>
          <p:nvPr/>
        </p:nvGrpSpPr>
        <p:grpSpPr>
          <a:xfrm>
            <a:off x="6280256" y="3484842"/>
            <a:ext cx="2672526" cy="592100"/>
            <a:chOff x="674962" y="3484842"/>
            <a:chExt cx="2672526" cy="592100"/>
          </a:xfrm>
        </p:grpSpPr>
        <p:sp>
          <p:nvSpPr>
            <p:cNvPr id="32" name="TextBox 31"/>
            <p:cNvSpPr txBox="1"/>
            <p:nvPr/>
          </p:nvSpPr>
          <p:spPr>
            <a:xfrm>
              <a:off x="674962" y="3484842"/>
              <a:ext cx="2672526" cy="369332"/>
            </a:xfrm>
            <a:prstGeom prst="rect">
              <a:avLst/>
            </a:prstGeom>
            <a:noFill/>
          </p:spPr>
          <p:txBody>
            <a:bodyPr wrap="none" rtlCol="0">
              <a:spAutoFit/>
            </a:bodyPr>
            <a:lstStyle/>
            <a:p>
              <a:r>
                <a:rPr lang="en-US" b="1" dirty="0">
                  <a:solidFill>
                    <a:schemeClr val="bg2"/>
                  </a:solidFill>
                </a:rPr>
                <a:t>Educational Institution</a:t>
              </a:r>
            </a:p>
          </p:txBody>
        </p:sp>
        <p:sp>
          <p:nvSpPr>
            <p:cNvPr id="33" name="Rectangle 32"/>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34" name="Group 33"/>
          <p:cNvGrpSpPr/>
          <p:nvPr/>
        </p:nvGrpSpPr>
        <p:grpSpPr>
          <a:xfrm>
            <a:off x="9082903" y="3484842"/>
            <a:ext cx="2172390" cy="592100"/>
            <a:chOff x="674962" y="3484842"/>
            <a:chExt cx="2172390" cy="592100"/>
          </a:xfrm>
        </p:grpSpPr>
        <p:sp>
          <p:nvSpPr>
            <p:cNvPr id="35" name="TextBox 34"/>
            <p:cNvSpPr txBox="1"/>
            <p:nvPr/>
          </p:nvSpPr>
          <p:spPr>
            <a:xfrm>
              <a:off x="674962" y="3484842"/>
              <a:ext cx="2172390" cy="369332"/>
            </a:xfrm>
            <a:prstGeom prst="rect">
              <a:avLst/>
            </a:prstGeom>
            <a:noFill/>
          </p:spPr>
          <p:txBody>
            <a:bodyPr wrap="none" rtlCol="0">
              <a:spAutoFit/>
            </a:bodyPr>
            <a:lstStyle/>
            <a:p>
              <a:r>
                <a:rPr lang="en-US" b="1" dirty="0">
                  <a:solidFill>
                    <a:schemeClr val="bg2"/>
                  </a:solidFill>
                </a:rPr>
                <a:t>State </a:t>
              </a:r>
              <a:r>
                <a:rPr lang="en-US" b="1" dirty="0" smtClean="0">
                  <a:solidFill>
                    <a:schemeClr val="bg2"/>
                  </a:solidFill>
                </a:rPr>
                <a:t>Government</a:t>
              </a:r>
              <a:endParaRPr lang="en-US" b="1" dirty="0">
                <a:solidFill>
                  <a:schemeClr val="bg2"/>
                </a:solidFill>
              </a:endParaRPr>
            </a:p>
          </p:txBody>
        </p:sp>
        <p:sp>
          <p:nvSpPr>
            <p:cNvPr id="36" name="Rectangle 35"/>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37" name="Group 36"/>
          <p:cNvGrpSpPr/>
          <p:nvPr/>
        </p:nvGrpSpPr>
        <p:grpSpPr>
          <a:xfrm>
            <a:off x="674962" y="5881239"/>
            <a:ext cx="1492716" cy="592100"/>
            <a:chOff x="674962" y="3484842"/>
            <a:chExt cx="1492716" cy="592100"/>
          </a:xfrm>
        </p:grpSpPr>
        <p:sp>
          <p:nvSpPr>
            <p:cNvPr id="38" name="TextBox 37"/>
            <p:cNvSpPr txBox="1"/>
            <p:nvPr/>
          </p:nvSpPr>
          <p:spPr>
            <a:xfrm>
              <a:off x="674962" y="3484842"/>
              <a:ext cx="1492716" cy="369332"/>
            </a:xfrm>
            <a:prstGeom prst="rect">
              <a:avLst/>
            </a:prstGeom>
            <a:noFill/>
          </p:spPr>
          <p:txBody>
            <a:bodyPr wrap="none" rtlCol="0">
              <a:spAutoFit/>
            </a:bodyPr>
            <a:lstStyle/>
            <a:p>
              <a:r>
                <a:rPr lang="en-US" b="1" dirty="0" smtClean="0">
                  <a:solidFill>
                    <a:schemeClr val="bg2"/>
                  </a:solidFill>
                </a:rPr>
                <a:t>             PSU</a:t>
              </a:r>
              <a:endParaRPr lang="en-US" b="1" dirty="0">
                <a:solidFill>
                  <a:schemeClr val="bg2"/>
                </a:solidFill>
              </a:endParaRPr>
            </a:p>
          </p:txBody>
        </p:sp>
        <p:sp>
          <p:nvSpPr>
            <p:cNvPr id="39" name="Rectangle 38"/>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40" name="Group 39"/>
          <p:cNvGrpSpPr/>
          <p:nvPr/>
        </p:nvGrpSpPr>
        <p:grpSpPr>
          <a:xfrm>
            <a:off x="3477609" y="5881239"/>
            <a:ext cx="1800493" cy="592100"/>
            <a:chOff x="674962" y="3484842"/>
            <a:chExt cx="1800493" cy="592100"/>
          </a:xfrm>
        </p:grpSpPr>
        <p:sp>
          <p:nvSpPr>
            <p:cNvPr id="41" name="TextBox 40"/>
            <p:cNvSpPr txBox="1"/>
            <p:nvPr/>
          </p:nvSpPr>
          <p:spPr>
            <a:xfrm>
              <a:off x="674962" y="3484842"/>
              <a:ext cx="1800493" cy="369332"/>
            </a:xfrm>
            <a:prstGeom prst="rect">
              <a:avLst/>
            </a:prstGeom>
            <a:noFill/>
          </p:spPr>
          <p:txBody>
            <a:bodyPr wrap="none" rtlCol="0">
              <a:spAutoFit/>
            </a:bodyPr>
            <a:lstStyle/>
            <a:p>
              <a:r>
                <a:rPr lang="en-US" b="1" dirty="0" smtClean="0">
                  <a:solidFill>
                    <a:schemeClr val="bg2"/>
                  </a:solidFill>
                </a:rPr>
                <a:t>        Corporate</a:t>
              </a:r>
              <a:endParaRPr lang="en-US" b="1" dirty="0">
                <a:solidFill>
                  <a:schemeClr val="bg2"/>
                </a:solidFill>
              </a:endParaRPr>
            </a:p>
          </p:txBody>
        </p:sp>
        <p:sp>
          <p:nvSpPr>
            <p:cNvPr id="42" name="Rectangle 41"/>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43" name="Group 42"/>
          <p:cNvGrpSpPr/>
          <p:nvPr/>
        </p:nvGrpSpPr>
        <p:grpSpPr>
          <a:xfrm>
            <a:off x="6280256" y="5881239"/>
            <a:ext cx="184731" cy="592100"/>
            <a:chOff x="674962" y="3484842"/>
            <a:chExt cx="184731" cy="592100"/>
          </a:xfrm>
        </p:grpSpPr>
        <p:sp>
          <p:nvSpPr>
            <p:cNvPr id="44" name="TextBox 43"/>
            <p:cNvSpPr txBox="1"/>
            <p:nvPr/>
          </p:nvSpPr>
          <p:spPr>
            <a:xfrm>
              <a:off x="674962" y="3484842"/>
              <a:ext cx="184731" cy="369332"/>
            </a:xfrm>
            <a:prstGeom prst="rect">
              <a:avLst/>
            </a:prstGeom>
            <a:noFill/>
          </p:spPr>
          <p:txBody>
            <a:bodyPr wrap="none" rtlCol="0">
              <a:spAutoFit/>
            </a:bodyPr>
            <a:lstStyle/>
            <a:p>
              <a:endParaRPr lang="en-US" b="1" dirty="0">
                <a:solidFill>
                  <a:schemeClr val="bg2"/>
                </a:solidFill>
              </a:endParaRPr>
            </a:p>
          </p:txBody>
        </p:sp>
        <p:sp>
          <p:nvSpPr>
            <p:cNvPr id="45" name="Rectangle 44"/>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46" name="Group 45"/>
          <p:cNvGrpSpPr/>
          <p:nvPr/>
        </p:nvGrpSpPr>
        <p:grpSpPr>
          <a:xfrm>
            <a:off x="9082903" y="5881239"/>
            <a:ext cx="184731" cy="592100"/>
            <a:chOff x="674962" y="3484842"/>
            <a:chExt cx="184731" cy="592100"/>
          </a:xfrm>
        </p:grpSpPr>
        <p:sp>
          <p:nvSpPr>
            <p:cNvPr id="47" name="TextBox 46"/>
            <p:cNvSpPr txBox="1"/>
            <p:nvPr/>
          </p:nvSpPr>
          <p:spPr>
            <a:xfrm>
              <a:off x="674962" y="3484842"/>
              <a:ext cx="184731" cy="369332"/>
            </a:xfrm>
            <a:prstGeom prst="rect">
              <a:avLst/>
            </a:prstGeom>
            <a:noFill/>
          </p:spPr>
          <p:txBody>
            <a:bodyPr wrap="none" rtlCol="0">
              <a:spAutoFit/>
            </a:bodyPr>
            <a:lstStyle/>
            <a:p>
              <a:endParaRPr lang="en-US" b="1" dirty="0">
                <a:solidFill>
                  <a:schemeClr val="bg2"/>
                </a:solidFill>
              </a:endParaRPr>
            </a:p>
          </p:txBody>
        </p:sp>
        <p:sp>
          <p:nvSpPr>
            <p:cNvPr id="48" name="Rectangle 47"/>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pic>
        <p:nvPicPr>
          <p:cNvPr id="8199" name="Picture 7"/>
          <p:cNvPicPr>
            <a:picLocks noChangeAspect="1" noChangeArrowheads="1"/>
          </p:cNvPicPr>
          <p:nvPr/>
        </p:nvPicPr>
        <p:blipFill>
          <a:blip r:embed="rId2" cstate="print"/>
          <a:srcRect/>
          <a:stretch>
            <a:fillRect/>
          </a:stretch>
        </p:blipFill>
        <p:spPr bwMode="auto">
          <a:xfrm>
            <a:off x="1310941" y="1928562"/>
            <a:ext cx="971550" cy="1428750"/>
          </a:xfrm>
          <a:prstGeom prst="rect">
            <a:avLst/>
          </a:prstGeom>
          <a:noFill/>
          <a:ln w="9525">
            <a:noFill/>
            <a:miter lim="800000"/>
            <a:headEnd/>
            <a:tailEnd/>
          </a:ln>
        </p:spPr>
      </p:pic>
      <p:pic>
        <p:nvPicPr>
          <p:cNvPr id="8200" name="Picture 8"/>
          <p:cNvPicPr>
            <a:picLocks noChangeAspect="1" noChangeArrowheads="1"/>
          </p:cNvPicPr>
          <p:nvPr/>
        </p:nvPicPr>
        <p:blipFill>
          <a:blip r:embed="rId3" cstate="print"/>
          <a:srcRect/>
          <a:stretch>
            <a:fillRect/>
          </a:stretch>
        </p:blipFill>
        <p:spPr bwMode="auto">
          <a:xfrm>
            <a:off x="3803984" y="2033087"/>
            <a:ext cx="1345531" cy="1177340"/>
          </a:xfrm>
          <a:prstGeom prst="rect">
            <a:avLst/>
          </a:prstGeom>
          <a:noFill/>
          <a:ln w="9525">
            <a:noFill/>
            <a:miter lim="800000"/>
            <a:headEnd/>
            <a:tailEnd/>
          </a:ln>
        </p:spPr>
      </p:pic>
      <p:pic>
        <p:nvPicPr>
          <p:cNvPr id="8201" name="Picture 9"/>
          <p:cNvPicPr>
            <a:picLocks noChangeAspect="1" noChangeArrowheads="1"/>
          </p:cNvPicPr>
          <p:nvPr/>
        </p:nvPicPr>
        <p:blipFill>
          <a:blip r:embed="rId4" cstate="print"/>
          <a:srcRect/>
          <a:stretch>
            <a:fillRect/>
          </a:stretch>
        </p:blipFill>
        <p:spPr bwMode="auto">
          <a:xfrm>
            <a:off x="6989595" y="2055896"/>
            <a:ext cx="1228725" cy="1238250"/>
          </a:xfrm>
          <a:prstGeom prst="rect">
            <a:avLst/>
          </a:prstGeom>
          <a:noFill/>
          <a:ln w="9525">
            <a:noFill/>
            <a:miter lim="800000"/>
            <a:headEnd/>
            <a:tailEnd/>
          </a:ln>
        </p:spPr>
      </p:pic>
      <p:pic>
        <p:nvPicPr>
          <p:cNvPr id="8202" name="Picture 10"/>
          <p:cNvPicPr>
            <a:picLocks noChangeAspect="1" noChangeArrowheads="1"/>
          </p:cNvPicPr>
          <p:nvPr/>
        </p:nvPicPr>
        <p:blipFill>
          <a:blip r:embed="rId5" cstate="print"/>
          <a:srcRect/>
          <a:stretch>
            <a:fillRect/>
          </a:stretch>
        </p:blipFill>
        <p:spPr bwMode="auto">
          <a:xfrm>
            <a:off x="9713245" y="1970423"/>
            <a:ext cx="1171575" cy="1152525"/>
          </a:xfrm>
          <a:prstGeom prst="rect">
            <a:avLst/>
          </a:prstGeom>
          <a:noFill/>
          <a:ln w="9525">
            <a:noFill/>
            <a:miter lim="800000"/>
            <a:headEnd/>
            <a:tailEnd/>
          </a:ln>
        </p:spPr>
      </p:pic>
      <p:pic>
        <p:nvPicPr>
          <p:cNvPr id="8203" name="Picture 11"/>
          <p:cNvPicPr>
            <a:picLocks noChangeAspect="1" noChangeArrowheads="1"/>
          </p:cNvPicPr>
          <p:nvPr/>
        </p:nvPicPr>
        <p:blipFill>
          <a:blip r:embed="rId6" cstate="print"/>
          <a:srcRect/>
          <a:stretch>
            <a:fillRect/>
          </a:stretch>
        </p:blipFill>
        <p:spPr bwMode="auto">
          <a:xfrm>
            <a:off x="949993" y="4521117"/>
            <a:ext cx="1885950" cy="1152525"/>
          </a:xfrm>
          <a:prstGeom prst="rect">
            <a:avLst/>
          </a:prstGeom>
          <a:noFill/>
          <a:ln w="9525">
            <a:noFill/>
            <a:miter lim="800000"/>
            <a:headEnd/>
            <a:tailEnd/>
          </a:ln>
        </p:spPr>
      </p:pic>
      <p:pic>
        <p:nvPicPr>
          <p:cNvPr id="8204" name="Picture 12"/>
          <p:cNvPicPr>
            <a:picLocks noChangeAspect="1" noChangeArrowheads="1"/>
          </p:cNvPicPr>
          <p:nvPr/>
        </p:nvPicPr>
        <p:blipFill>
          <a:blip r:embed="rId7" cstate="print"/>
          <a:srcRect/>
          <a:stretch>
            <a:fillRect/>
          </a:stretch>
        </p:blipFill>
        <p:spPr bwMode="auto">
          <a:xfrm>
            <a:off x="3374858" y="4500311"/>
            <a:ext cx="2362200" cy="1162050"/>
          </a:xfrm>
          <a:prstGeom prst="rect">
            <a:avLst/>
          </a:prstGeom>
          <a:noFill/>
          <a:ln w="9525">
            <a:noFill/>
            <a:miter lim="800000"/>
            <a:headEnd/>
            <a:tailEnd/>
          </a:ln>
        </p:spPr>
      </p:pic>
    </p:spTree>
    <p:extLst>
      <p:ext uri="{BB962C8B-B14F-4D97-AF65-F5344CB8AC3E}">
        <p14:creationId xmlns:p14="http://schemas.microsoft.com/office/powerpoint/2010/main" val="3108088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500"/>
                                        <p:tgtEl>
                                          <p:spTgt spid="2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500"/>
                                        <p:tgtEl>
                                          <p:spTgt spid="40"/>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fade">
                                      <p:cBhvr>
                                        <p:cTn id="31" dur="500"/>
                                        <p:tgtEl>
                                          <p:spTgt spid="43"/>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Our Offerings</a:t>
            </a:r>
          </a:p>
        </p:txBody>
      </p:sp>
      <p:sp>
        <p:nvSpPr>
          <p:cNvPr id="4" name="Slide Number Placeholder 3"/>
          <p:cNvSpPr>
            <a:spLocks noGrp="1"/>
          </p:cNvSpPr>
          <p:nvPr>
            <p:ph type="sldNum" sz="quarter" idx="12"/>
          </p:nvPr>
        </p:nvSpPr>
        <p:spPr/>
        <p:txBody>
          <a:bodyPr/>
          <a:lstStyle/>
          <a:p>
            <a:fld id="{98C37ADA-FE03-4EF7-8F15-3521BBE76F4D}" type="slidenum">
              <a:rPr lang="en-US"/>
              <a:pPr/>
              <a:t>7</a:t>
            </a:fld>
            <a:endParaRPr lang="en-US"/>
          </a:p>
        </p:txBody>
      </p:sp>
      <p:grpSp>
        <p:nvGrpSpPr>
          <p:cNvPr id="17" name="Group 16"/>
          <p:cNvGrpSpPr/>
          <p:nvPr/>
        </p:nvGrpSpPr>
        <p:grpSpPr>
          <a:xfrm>
            <a:off x="6308732" y="4824626"/>
            <a:ext cx="914400" cy="914400"/>
            <a:chOff x="6308732" y="4824626"/>
            <a:chExt cx="914400" cy="914400"/>
          </a:xfrm>
        </p:grpSpPr>
        <p:sp>
          <p:nvSpPr>
            <p:cNvPr id="10" name="Oval 9"/>
            <p:cNvSpPr/>
            <p:nvPr/>
          </p:nvSpPr>
          <p:spPr>
            <a:xfrm>
              <a:off x="6308732" y="4824626"/>
              <a:ext cx="914400" cy="9144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p:nvGrpSpPr>
          <p:grpSpPr>
            <a:xfrm>
              <a:off x="6554866" y="5070399"/>
              <a:ext cx="422131" cy="422853"/>
              <a:chOff x="8216107" y="3505994"/>
              <a:chExt cx="464344" cy="465138"/>
            </a:xfrm>
            <a:solidFill>
              <a:schemeClr val="bg2"/>
            </a:solidFill>
          </p:grpSpPr>
          <p:sp>
            <p:nvSpPr>
              <p:cNvPr id="31" name="AutoShape 33"/>
              <p:cNvSpPr>
                <a:spLocks/>
              </p:cNvSpPr>
              <p:nvPr/>
            </p:nvSpPr>
            <p:spPr bwMode="auto">
              <a:xfrm>
                <a:off x="8216107" y="3680619"/>
                <a:ext cx="464344" cy="290513"/>
              </a:xfrm>
              <a:custGeom>
                <a:avLst/>
                <a:gdLst>
                  <a:gd name="T0" fmla="*/ 10752 w 21505"/>
                  <a:gd name="T1" fmla="*/ 10800 h 21600"/>
                  <a:gd name="T2" fmla="*/ 10752 w 21505"/>
                  <a:gd name="T3" fmla="*/ 10800 h 21600"/>
                  <a:gd name="T4" fmla="*/ 10752 w 21505"/>
                  <a:gd name="T5" fmla="*/ 10800 h 21600"/>
                  <a:gd name="T6" fmla="*/ 10752 w 21505"/>
                  <a:gd name="T7" fmla="*/ 10800 h 21600"/>
                </a:gdLst>
                <a:ahLst/>
                <a:cxnLst>
                  <a:cxn ang="0">
                    <a:pos x="T0" y="T1"/>
                  </a:cxn>
                  <a:cxn ang="0">
                    <a:pos x="T2" y="T3"/>
                  </a:cxn>
                  <a:cxn ang="0">
                    <a:pos x="T4" y="T5"/>
                  </a:cxn>
                  <a:cxn ang="0">
                    <a:pos x="T6" y="T7"/>
                  </a:cxn>
                </a:cxnLst>
                <a:rect l="0" t="0" r="r" b="b"/>
                <a:pathLst>
                  <a:path w="21505" h="21600">
                    <a:moveTo>
                      <a:pt x="17472" y="17279"/>
                    </a:moveTo>
                    <a:lnTo>
                      <a:pt x="17472" y="18899"/>
                    </a:lnTo>
                    <a:cubicBezTo>
                      <a:pt x="17472" y="19198"/>
                      <a:pt x="17321" y="19439"/>
                      <a:pt x="17136" y="19439"/>
                    </a:cubicBezTo>
                    <a:lnTo>
                      <a:pt x="4368" y="19439"/>
                    </a:lnTo>
                    <a:cubicBezTo>
                      <a:pt x="4182" y="19439"/>
                      <a:pt x="4032" y="19198"/>
                      <a:pt x="4032" y="18899"/>
                    </a:cubicBezTo>
                    <a:lnTo>
                      <a:pt x="4032" y="17279"/>
                    </a:lnTo>
                    <a:lnTo>
                      <a:pt x="1344" y="12419"/>
                    </a:lnTo>
                    <a:cubicBezTo>
                      <a:pt x="1344" y="12121"/>
                      <a:pt x="1494" y="11879"/>
                      <a:pt x="1680" y="11879"/>
                    </a:cubicBezTo>
                    <a:lnTo>
                      <a:pt x="3360" y="11879"/>
                    </a:lnTo>
                    <a:lnTo>
                      <a:pt x="4032" y="11879"/>
                    </a:lnTo>
                    <a:lnTo>
                      <a:pt x="4704" y="11879"/>
                    </a:lnTo>
                    <a:lnTo>
                      <a:pt x="5376" y="11879"/>
                    </a:lnTo>
                    <a:lnTo>
                      <a:pt x="6048" y="11879"/>
                    </a:lnTo>
                    <a:lnTo>
                      <a:pt x="6720" y="11879"/>
                    </a:lnTo>
                    <a:lnTo>
                      <a:pt x="7392" y="11879"/>
                    </a:lnTo>
                    <a:lnTo>
                      <a:pt x="8064" y="11879"/>
                    </a:lnTo>
                    <a:lnTo>
                      <a:pt x="8736" y="11879"/>
                    </a:lnTo>
                    <a:lnTo>
                      <a:pt x="12768" y="11879"/>
                    </a:lnTo>
                    <a:lnTo>
                      <a:pt x="13440" y="11879"/>
                    </a:lnTo>
                    <a:lnTo>
                      <a:pt x="14112" y="11879"/>
                    </a:lnTo>
                    <a:lnTo>
                      <a:pt x="14784" y="11879"/>
                    </a:lnTo>
                    <a:lnTo>
                      <a:pt x="15456" y="11879"/>
                    </a:lnTo>
                    <a:lnTo>
                      <a:pt x="16128" y="11879"/>
                    </a:lnTo>
                    <a:lnTo>
                      <a:pt x="16800" y="11879"/>
                    </a:lnTo>
                    <a:lnTo>
                      <a:pt x="17472" y="11879"/>
                    </a:lnTo>
                    <a:lnTo>
                      <a:pt x="18144" y="11879"/>
                    </a:lnTo>
                    <a:lnTo>
                      <a:pt x="19824" y="11879"/>
                    </a:lnTo>
                    <a:cubicBezTo>
                      <a:pt x="20009" y="11879"/>
                      <a:pt x="20160" y="12121"/>
                      <a:pt x="20160" y="12419"/>
                    </a:cubicBezTo>
                    <a:cubicBezTo>
                      <a:pt x="20160" y="12419"/>
                      <a:pt x="17472" y="17279"/>
                      <a:pt x="17472" y="17279"/>
                    </a:cubicBezTo>
                    <a:close/>
                    <a:moveTo>
                      <a:pt x="10752" y="4320"/>
                    </a:moveTo>
                    <a:cubicBezTo>
                      <a:pt x="8625" y="4320"/>
                      <a:pt x="6826" y="6601"/>
                      <a:pt x="6246" y="9719"/>
                    </a:cubicBezTo>
                    <a:lnTo>
                      <a:pt x="5552" y="9719"/>
                    </a:lnTo>
                    <a:cubicBezTo>
                      <a:pt x="6152" y="6000"/>
                      <a:pt x="8252" y="3239"/>
                      <a:pt x="10752" y="3239"/>
                    </a:cubicBezTo>
                    <a:cubicBezTo>
                      <a:pt x="12934" y="3239"/>
                      <a:pt x="14813" y="5344"/>
                      <a:pt x="15654" y="8353"/>
                    </a:cubicBezTo>
                    <a:lnTo>
                      <a:pt x="15054" y="8835"/>
                    </a:lnTo>
                    <a:cubicBezTo>
                      <a:pt x="14323" y="6180"/>
                      <a:pt x="12671" y="4320"/>
                      <a:pt x="10752" y="4320"/>
                    </a:cubicBezTo>
                    <a:moveTo>
                      <a:pt x="10752" y="8639"/>
                    </a:moveTo>
                    <a:cubicBezTo>
                      <a:pt x="10158" y="8639"/>
                      <a:pt x="9630" y="9061"/>
                      <a:pt x="9260" y="9719"/>
                    </a:cubicBezTo>
                    <a:lnTo>
                      <a:pt x="8437" y="9719"/>
                    </a:lnTo>
                    <a:cubicBezTo>
                      <a:pt x="8904" y="8435"/>
                      <a:pt x="9761" y="7560"/>
                      <a:pt x="10752" y="7560"/>
                    </a:cubicBezTo>
                    <a:cubicBezTo>
                      <a:pt x="11742" y="7560"/>
                      <a:pt x="12600" y="8435"/>
                      <a:pt x="13066" y="9719"/>
                    </a:cubicBezTo>
                    <a:lnTo>
                      <a:pt x="12244" y="9719"/>
                    </a:lnTo>
                    <a:cubicBezTo>
                      <a:pt x="11874" y="9061"/>
                      <a:pt x="11345" y="8639"/>
                      <a:pt x="10752" y="8639"/>
                    </a:cubicBezTo>
                    <a:moveTo>
                      <a:pt x="13827" y="9719"/>
                    </a:moveTo>
                    <a:cubicBezTo>
                      <a:pt x="13307" y="7816"/>
                      <a:pt x="12126" y="6479"/>
                      <a:pt x="10752" y="6479"/>
                    </a:cubicBezTo>
                    <a:cubicBezTo>
                      <a:pt x="9378" y="6479"/>
                      <a:pt x="8197" y="7816"/>
                      <a:pt x="7676" y="9719"/>
                    </a:cubicBezTo>
                    <a:lnTo>
                      <a:pt x="6955" y="9719"/>
                    </a:lnTo>
                    <a:cubicBezTo>
                      <a:pt x="7510" y="7207"/>
                      <a:pt x="9001" y="5400"/>
                      <a:pt x="10752" y="5400"/>
                    </a:cubicBezTo>
                    <a:cubicBezTo>
                      <a:pt x="12409" y="5400"/>
                      <a:pt x="13834" y="7015"/>
                      <a:pt x="14454" y="9317"/>
                    </a:cubicBezTo>
                    <a:lnTo>
                      <a:pt x="13953" y="9719"/>
                    </a:lnTo>
                    <a:cubicBezTo>
                      <a:pt x="13953" y="9719"/>
                      <a:pt x="13827" y="9719"/>
                      <a:pt x="13827" y="9719"/>
                    </a:cubicBezTo>
                    <a:close/>
                    <a:moveTo>
                      <a:pt x="10752" y="1080"/>
                    </a:moveTo>
                    <a:cubicBezTo>
                      <a:pt x="13459" y="1080"/>
                      <a:pt x="15792" y="3672"/>
                      <a:pt x="16856" y="7388"/>
                    </a:cubicBezTo>
                    <a:lnTo>
                      <a:pt x="16256" y="7869"/>
                    </a:lnTo>
                    <a:cubicBezTo>
                      <a:pt x="15305" y="4504"/>
                      <a:pt x="13201" y="2160"/>
                      <a:pt x="10752" y="2160"/>
                    </a:cubicBezTo>
                    <a:cubicBezTo>
                      <a:pt x="7874" y="2160"/>
                      <a:pt x="5470" y="5392"/>
                      <a:pt x="4858" y="9719"/>
                    </a:cubicBezTo>
                    <a:lnTo>
                      <a:pt x="4167" y="9719"/>
                    </a:lnTo>
                    <a:cubicBezTo>
                      <a:pt x="4792" y="4796"/>
                      <a:pt x="7507" y="1080"/>
                      <a:pt x="10752" y="1080"/>
                    </a:cubicBezTo>
                    <a:moveTo>
                      <a:pt x="17336" y="9719"/>
                    </a:moveTo>
                    <a:lnTo>
                      <a:pt x="16958" y="9719"/>
                    </a:lnTo>
                    <a:lnTo>
                      <a:pt x="17294" y="9449"/>
                    </a:lnTo>
                    <a:cubicBezTo>
                      <a:pt x="17307" y="9540"/>
                      <a:pt x="17325" y="9628"/>
                      <a:pt x="17336" y="9719"/>
                    </a:cubicBezTo>
                    <a:moveTo>
                      <a:pt x="19824" y="9719"/>
                    </a:moveTo>
                    <a:lnTo>
                      <a:pt x="18016" y="9719"/>
                    </a:lnTo>
                    <a:cubicBezTo>
                      <a:pt x="17986" y="9461"/>
                      <a:pt x="17948" y="9209"/>
                      <a:pt x="17908" y="8957"/>
                    </a:cubicBezTo>
                    <a:lnTo>
                      <a:pt x="21132" y="6366"/>
                    </a:lnTo>
                    <a:cubicBezTo>
                      <a:pt x="21464" y="6099"/>
                      <a:pt x="21599" y="5450"/>
                      <a:pt x="21433" y="4916"/>
                    </a:cubicBezTo>
                    <a:cubicBezTo>
                      <a:pt x="21267" y="4383"/>
                      <a:pt x="20864" y="4169"/>
                      <a:pt x="20532" y="4433"/>
                    </a:cubicBezTo>
                    <a:lnTo>
                      <a:pt x="17456" y="6905"/>
                    </a:lnTo>
                    <a:cubicBezTo>
                      <a:pt x="16282" y="2836"/>
                      <a:pt x="13721" y="0"/>
                      <a:pt x="10752" y="0"/>
                    </a:cubicBezTo>
                    <a:cubicBezTo>
                      <a:pt x="7135" y="0"/>
                      <a:pt x="4122" y="4198"/>
                      <a:pt x="3488" y="9719"/>
                    </a:cubicBezTo>
                    <a:lnTo>
                      <a:pt x="1680" y="9719"/>
                    </a:lnTo>
                    <a:cubicBezTo>
                      <a:pt x="754" y="9719"/>
                      <a:pt x="0" y="10930"/>
                      <a:pt x="0" y="12419"/>
                    </a:cubicBezTo>
                    <a:cubicBezTo>
                      <a:pt x="0" y="12949"/>
                      <a:pt x="121" y="13459"/>
                      <a:pt x="339" y="13855"/>
                    </a:cubicBezTo>
                    <a:lnTo>
                      <a:pt x="2688" y="18101"/>
                    </a:lnTo>
                    <a:lnTo>
                      <a:pt x="2688" y="18899"/>
                    </a:lnTo>
                    <a:cubicBezTo>
                      <a:pt x="2688" y="20389"/>
                      <a:pt x="3442" y="21599"/>
                      <a:pt x="4368" y="21599"/>
                    </a:cubicBezTo>
                    <a:lnTo>
                      <a:pt x="17136" y="21599"/>
                    </a:lnTo>
                    <a:cubicBezTo>
                      <a:pt x="18062" y="21599"/>
                      <a:pt x="18816" y="20389"/>
                      <a:pt x="18816" y="18899"/>
                    </a:cubicBezTo>
                    <a:lnTo>
                      <a:pt x="18816" y="18101"/>
                    </a:lnTo>
                    <a:lnTo>
                      <a:pt x="21165" y="13855"/>
                    </a:lnTo>
                    <a:cubicBezTo>
                      <a:pt x="21383" y="13459"/>
                      <a:pt x="21504" y="12949"/>
                      <a:pt x="21504" y="12419"/>
                    </a:cubicBezTo>
                    <a:cubicBezTo>
                      <a:pt x="21504" y="10930"/>
                      <a:pt x="20750" y="9719"/>
                      <a:pt x="19824" y="9719"/>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32" name="AutoShape 34"/>
              <p:cNvSpPr>
                <a:spLocks/>
              </p:cNvSpPr>
              <p:nvPr/>
            </p:nvSpPr>
            <p:spPr bwMode="auto">
              <a:xfrm>
                <a:off x="8331994" y="3564732"/>
                <a:ext cx="33338" cy="108744"/>
              </a:xfrm>
              <a:custGeom>
                <a:avLst/>
                <a:gdLst>
                  <a:gd name="T0" fmla="+- 0 10758 2273"/>
                  <a:gd name="T1" fmla="*/ T0 w 16970"/>
                  <a:gd name="T2" fmla="*/ 10800 h 21600"/>
                  <a:gd name="T3" fmla="+- 0 10758 2273"/>
                  <a:gd name="T4" fmla="*/ T3 w 16970"/>
                  <a:gd name="T5" fmla="*/ 10800 h 21600"/>
                  <a:gd name="T6" fmla="+- 0 10758 2273"/>
                  <a:gd name="T7" fmla="*/ T6 w 16970"/>
                  <a:gd name="T8" fmla="*/ 10800 h 21600"/>
                  <a:gd name="T9" fmla="+- 0 10758 2273"/>
                  <a:gd name="T10" fmla="*/ T9 w 16970"/>
                  <a:gd name="T11" fmla="*/ 10800 h 21600"/>
                </a:gdLst>
                <a:ahLst/>
                <a:cxnLst>
                  <a:cxn ang="0">
                    <a:pos x="T1" y="T2"/>
                  </a:cxn>
                  <a:cxn ang="0">
                    <a:pos x="T4" y="T5"/>
                  </a:cxn>
                  <a:cxn ang="0">
                    <a:pos x="T7" y="T8"/>
                  </a:cxn>
                  <a:cxn ang="0">
                    <a:pos x="T10" y="T11"/>
                  </a:cxn>
                </a:cxnLst>
                <a:rect l="0" t="0" r="r" b="b"/>
                <a:pathLst>
                  <a:path w="16970" h="21600">
                    <a:moveTo>
                      <a:pt x="1763" y="20770"/>
                    </a:moveTo>
                    <a:cubicBezTo>
                      <a:pt x="1785" y="20787"/>
                      <a:pt x="1800" y="20804"/>
                      <a:pt x="1822" y="20820"/>
                    </a:cubicBezTo>
                    <a:lnTo>
                      <a:pt x="1840" y="20820"/>
                    </a:lnTo>
                    <a:cubicBezTo>
                      <a:pt x="2471" y="21282"/>
                      <a:pt x="3719" y="21600"/>
                      <a:pt x="5169" y="21600"/>
                    </a:cubicBezTo>
                    <a:cubicBezTo>
                      <a:pt x="7249" y="21600"/>
                      <a:pt x="8949" y="20947"/>
                      <a:pt x="8949" y="20151"/>
                    </a:cubicBezTo>
                    <a:cubicBezTo>
                      <a:pt x="8949" y="20027"/>
                      <a:pt x="8890" y="19906"/>
                      <a:pt x="8813" y="19791"/>
                    </a:cubicBezTo>
                    <a:cubicBezTo>
                      <a:pt x="8827" y="19771"/>
                      <a:pt x="8827" y="19755"/>
                      <a:pt x="8805" y="19735"/>
                    </a:cubicBezTo>
                    <a:cubicBezTo>
                      <a:pt x="5994" y="17195"/>
                      <a:pt x="8670" y="14408"/>
                      <a:pt x="11954" y="11407"/>
                    </a:cubicBezTo>
                    <a:cubicBezTo>
                      <a:pt x="15517" y="8164"/>
                      <a:pt x="19327" y="4564"/>
                      <a:pt x="15125" y="902"/>
                    </a:cubicBezTo>
                    <a:cubicBezTo>
                      <a:pt x="14593" y="374"/>
                      <a:pt x="13264" y="0"/>
                      <a:pt x="11701" y="0"/>
                    </a:cubicBezTo>
                    <a:cubicBezTo>
                      <a:pt x="9671" y="0"/>
                      <a:pt x="8016" y="632"/>
                      <a:pt x="8016" y="1411"/>
                    </a:cubicBezTo>
                    <a:cubicBezTo>
                      <a:pt x="8016" y="1583"/>
                      <a:pt x="8108" y="1746"/>
                      <a:pt x="8259" y="1898"/>
                    </a:cubicBezTo>
                    <a:cubicBezTo>
                      <a:pt x="8259" y="1904"/>
                      <a:pt x="8259" y="1909"/>
                      <a:pt x="8266" y="1915"/>
                    </a:cubicBezTo>
                    <a:cubicBezTo>
                      <a:pt x="8273" y="1923"/>
                      <a:pt x="8281" y="1932"/>
                      <a:pt x="8295" y="1940"/>
                    </a:cubicBezTo>
                    <a:lnTo>
                      <a:pt x="8325" y="1974"/>
                    </a:lnTo>
                    <a:cubicBezTo>
                      <a:pt x="11360" y="4592"/>
                      <a:pt x="8424" y="7275"/>
                      <a:pt x="5106" y="10305"/>
                    </a:cubicBezTo>
                    <a:cubicBezTo>
                      <a:pt x="1605" y="13500"/>
                      <a:pt x="-2273" y="17040"/>
                      <a:pt x="1635" y="20649"/>
                    </a:cubicBezTo>
                    <a:cubicBezTo>
                      <a:pt x="1671" y="20691"/>
                      <a:pt x="1719" y="20730"/>
                      <a:pt x="1763" y="2077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33" name="AutoShape 35"/>
              <p:cNvSpPr>
                <a:spLocks/>
              </p:cNvSpPr>
              <p:nvPr/>
            </p:nvSpPr>
            <p:spPr bwMode="auto">
              <a:xfrm>
                <a:off x="8506619" y="3564732"/>
                <a:ext cx="32544" cy="108744"/>
              </a:xfrm>
              <a:custGeom>
                <a:avLst/>
                <a:gdLst>
                  <a:gd name="T0" fmla="+- 0 10758 2273"/>
                  <a:gd name="T1" fmla="*/ T0 w 16970"/>
                  <a:gd name="T2" fmla="*/ 10800 h 21600"/>
                  <a:gd name="T3" fmla="+- 0 10758 2273"/>
                  <a:gd name="T4" fmla="*/ T3 w 16970"/>
                  <a:gd name="T5" fmla="*/ 10800 h 21600"/>
                  <a:gd name="T6" fmla="+- 0 10758 2273"/>
                  <a:gd name="T7" fmla="*/ T6 w 16970"/>
                  <a:gd name="T8" fmla="*/ 10800 h 21600"/>
                  <a:gd name="T9" fmla="+- 0 10758 2273"/>
                  <a:gd name="T10" fmla="*/ T9 w 16970"/>
                  <a:gd name="T11" fmla="*/ 10800 h 21600"/>
                </a:gdLst>
                <a:ahLst/>
                <a:cxnLst>
                  <a:cxn ang="0">
                    <a:pos x="T1" y="T2"/>
                  </a:cxn>
                  <a:cxn ang="0">
                    <a:pos x="T4" y="T5"/>
                  </a:cxn>
                  <a:cxn ang="0">
                    <a:pos x="T7" y="T8"/>
                  </a:cxn>
                  <a:cxn ang="0">
                    <a:pos x="T10" y="T11"/>
                  </a:cxn>
                </a:cxnLst>
                <a:rect l="0" t="0" r="r" b="b"/>
                <a:pathLst>
                  <a:path w="16970" h="21600">
                    <a:moveTo>
                      <a:pt x="1763" y="20770"/>
                    </a:moveTo>
                    <a:cubicBezTo>
                      <a:pt x="1785" y="20787"/>
                      <a:pt x="1800" y="20804"/>
                      <a:pt x="1822" y="20820"/>
                    </a:cubicBezTo>
                    <a:lnTo>
                      <a:pt x="1840" y="20820"/>
                    </a:lnTo>
                    <a:cubicBezTo>
                      <a:pt x="2471" y="21282"/>
                      <a:pt x="3719" y="21600"/>
                      <a:pt x="5169" y="21600"/>
                    </a:cubicBezTo>
                    <a:cubicBezTo>
                      <a:pt x="7249" y="21600"/>
                      <a:pt x="8949" y="20950"/>
                      <a:pt x="8949" y="20151"/>
                    </a:cubicBezTo>
                    <a:cubicBezTo>
                      <a:pt x="8949" y="20027"/>
                      <a:pt x="8890" y="19906"/>
                      <a:pt x="8813" y="19791"/>
                    </a:cubicBezTo>
                    <a:cubicBezTo>
                      <a:pt x="8827" y="19771"/>
                      <a:pt x="8827" y="19755"/>
                      <a:pt x="8805" y="19735"/>
                    </a:cubicBezTo>
                    <a:cubicBezTo>
                      <a:pt x="5994" y="17195"/>
                      <a:pt x="8670" y="14408"/>
                      <a:pt x="11954" y="11407"/>
                    </a:cubicBezTo>
                    <a:cubicBezTo>
                      <a:pt x="15517" y="8164"/>
                      <a:pt x="19327" y="4564"/>
                      <a:pt x="15125" y="902"/>
                    </a:cubicBezTo>
                    <a:cubicBezTo>
                      <a:pt x="14593" y="374"/>
                      <a:pt x="13264" y="0"/>
                      <a:pt x="11701" y="0"/>
                    </a:cubicBezTo>
                    <a:cubicBezTo>
                      <a:pt x="9671" y="0"/>
                      <a:pt x="8016" y="632"/>
                      <a:pt x="8016" y="1411"/>
                    </a:cubicBezTo>
                    <a:cubicBezTo>
                      <a:pt x="8016" y="1583"/>
                      <a:pt x="8108" y="1746"/>
                      <a:pt x="8259" y="1898"/>
                    </a:cubicBezTo>
                    <a:cubicBezTo>
                      <a:pt x="8259" y="1904"/>
                      <a:pt x="8259" y="1909"/>
                      <a:pt x="8266" y="1915"/>
                    </a:cubicBezTo>
                    <a:cubicBezTo>
                      <a:pt x="8273" y="1923"/>
                      <a:pt x="8281" y="1932"/>
                      <a:pt x="8295" y="1940"/>
                    </a:cubicBezTo>
                    <a:lnTo>
                      <a:pt x="8325" y="1974"/>
                    </a:lnTo>
                    <a:cubicBezTo>
                      <a:pt x="11360" y="4592"/>
                      <a:pt x="8424" y="7275"/>
                      <a:pt x="5106" y="10305"/>
                    </a:cubicBezTo>
                    <a:cubicBezTo>
                      <a:pt x="1605" y="13500"/>
                      <a:pt x="-2273" y="17040"/>
                      <a:pt x="1635" y="20649"/>
                    </a:cubicBezTo>
                    <a:cubicBezTo>
                      <a:pt x="1671" y="20691"/>
                      <a:pt x="1719" y="20730"/>
                      <a:pt x="1763" y="2077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34" name="AutoShape 36"/>
              <p:cNvSpPr>
                <a:spLocks/>
              </p:cNvSpPr>
              <p:nvPr/>
            </p:nvSpPr>
            <p:spPr bwMode="auto">
              <a:xfrm>
                <a:off x="8433594" y="3505994"/>
                <a:ext cx="33338" cy="109538"/>
              </a:xfrm>
              <a:custGeom>
                <a:avLst/>
                <a:gdLst>
                  <a:gd name="T0" fmla="+- 0 10758 2273"/>
                  <a:gd name="T1" fmla="*/ T0 w 16970"/>
                  <a:gd name="T2" fmla="*/ 10800 h 21600"/>
                  <a:gd name="T3" fmla="+- 0 10758 2273"/>
                  <a:gd name="T4" fmla="*/ T3 w 16970"/>
                  <a:gd name="T5" fmla="*/ 10800 h 21600"/>
                  <a:gd name="T6" fmla="+- 0 10758 2273"/>
                  <a:gd name="T7" fmla="*/ T6 w 16970"/>
                  <a:gd name="T8" fmla="*/ 10800 h 21600"/>
                  <a:gd name="T9" fmla="+- 0 10758 2273"/>
                  <a:gd name="T10" fmla="*/ T9 w 16970"/>
                  <a:gd name="T11" fmla="*/ 10800 h 21600"/>
                </a:gdLst>
                <a:ahLst/>
                <a:cxnLst>
                  <a:cxn ang="0">
                    <a:pos x="T1" y="T2"/>
                  </a:cxn>
                  <a:cxn ang="0">
                    <a:pos x="T4" y="T5"/>
                  </a:cxn>
                  <a:cxn ang="0">
                    <a:pos x="T7" y="T8"/>
                  </a:cxn>
                  <a:cxn ang="0">
                    <a:pos x="T10" y="T11"/>
                  </a:cxn>
                </a:cxnLst>
                <a:rect l="0" t="0" r="r" b="b"/>
                <a:pathLst>
                  <a:path w="16970" h="21600">
                    <a:moveTo>
                      <a:pt x="1763" y="20770"/>
                    </a:moveTo>
                    <a:cubicBezTo>
                      <a:pt x="1785" y="20787"/>
                      <a:pt x="1800" y="20804"/>
                      <a:pt x="1822" y="20820"/>
                    </a:cubicBezTo>
                    <a:lnTo>
                      <a:pt x="1840" y="20820"/>
                    </a:lnTo>
                    <a:cubicBezTo>
                      <a:pt x="2471" y="21282"/>
                      <a:pt x="3719" y="21600"/>
                      <a:pt x="5169" y="21600"/>
                    </a:cubicBezTo>
                    <a:cubicBezTo>
                      <a:pt x="7249" y="21600"/>
                      <a:pt x="8949" y="20950"/>
                      <a:pt x="8949" y="20151"/>
                    </a:cubicBezTo>
                    <a:cubicBezTo>
                      <a:pt x="8949" y="20027"/>
                      <a:pt x="8890" y="19906"/>
                      <a:pt x="8813" y="19791"/>
                    </a:cubicBezTo>
                    <a:cubicBezTo>
                      <a:pt x="8827" y="19771"/>
                      <a:pt x="8827" y="19755"/>
                      <a:pt x="8805" y="19735"/>
                    </a:cubicBezTo>
                    <a:cubicBezTo>
                      <a:pt x="5994" y="17195"/>
                      <a:pt x="8670" y="14408"/>
                      <a:pt x="11954" y="11407"/>
                    </a:cubicBezTo>
                    <a:cubicBezTo>
                      <a:pt x="15517" y="8164"/>
                      <a:pt x="19327" y="4564"/>
                      <a:pt x="15125" y="902"/>
                    </a:cubicBezTo>
                    <a:cubicBezTo>
                      <a:pt x="14593" y="374"/>
                      <a:pt x="13264" y="0"/>
                      <a:pt x="11701" y="0"/>
                    </a:cubicBezTo>
                    <a:cubicBezTo>
                      <a:pt x="9671" y="0"/>
                      <a:pt x="8016" y="632"/>
                      <a:pt x="8016" y="1411"/>
                    </a:cubicBezTo>
                    <a:cubicBezTo>
                      <a:pt x="8016" y="1583"/>
                      <a:pt x="8108" y="1749"/>
                      <a:pt x="8259" y="1898"/>
                    </a:cubicBezTo>
                    <a:cubicBezTo>
                      <a:pt x="8259" y="1904"/>
                      <a:pt x="8259" y="1909"/>
                      <a:pt x="8266" y="1915"/>
                    </a:cubicBezTo>
                    <a:cubicBezTo>
                      <a:pt x="8273" y="1923"/>
                      <a:pt x="8281" y="1932"/>
                      <a:pt x="8295" y="1940"/>
                    </a:cubicBezTo>
                    <a:lnTo>
                      <a:pt x="8325" y="1974"/>
                    </a:lnTo>
                    <a:cubicBezTo>
                      <a:pt x="11360" y="4592"/>
                      <a:pt x="8424" y="7275"/>
                      <a:pt x="5106" y="10305"/>
                    </a:cubicBezTo>
                    <a:cubicBezTo>
                      <a:pt x="1605" y="13500"/>
                      <a:pt x="-2273" y="17040"/>
                      <a:pt x="1635" y="20649"/>
                    </a:cubicBezTo>
                    <a:cubicBezTo>
                      <a:pt x="1675" y="20691"/>
                      <a:pt x="1719" y="20730"/>
                      <a:pt x="1763" y="2077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15" name="Group 14"/>
          <p:cNvGrpSpPr/>
          <p:nvPr/>
        </p:nvGrpSpPr>
        <p:grpSpPr>
          <a:xfrm>
            <a:off x="6308732" y="2010040"/>
            <a:ext cx="914400" cy="914400"/>
            <a:chOff x="6308732" y="2010040"/>
            <a:chExt cx="914400" cy="914400"/>
          </a:xfrm>
        </p:grpSpPr>
        <p:sp>
          <p:nvSpPr>
            <p:cNvPr id="8" name="Oval 7"/>
            <p:cNvSpPr/>
            <p:nvPr/>
          </p:nvSpPr>
          <p:spPr>
            <a:xfrm>
              <a:off x="6308732" y="2010040"/>
              <a:ext cx="914400" cy="914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utoShape 46"/>
            <p:cNvSpPr>
              <a:spLocks/>
            </p:cNvSpPr>
            <p:nvPr/>
          </p:nvSpPr>
          <p:spPr bwMode="auto">
            <a:xfrm>
              <a:off x="6568933" y="2256174"/>
              <a:ext cx="422131" cy="42213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4" y="17549"/>
                  </a:moveTo>
                  <a:cubicBezTo>
                    <a:pt x="15513" y="17549"/>
                    <a:pt x="14343" y="15612"/>
                    <a:pt x="13809" y="12825"/>
                  </a:cubicBezTo>
                  <a:lnTo>
                    <a:pt x="15524" y="12825"/>
                  </a:lnTo>
                  <a:cubicBezTo>
                    <a:pt x="17038" y="12825"/>
                    <a:pt x="18224" y="11343"/>
                    <a:pt x="18224" y="9450"/>
                  </a:cubicBezTo>
                  <a:cubicBezTo>
                    <a:pt x="18224" y="7558"/>
                    <a:pt x="17038" y="6075"/>
                    <a:pt x="15524" y="6075"/>
                  </a:cubicBezTo>
                  <a:lnTo>
                    <a:pt x="13809" y="6075"/>
                  </a:lnTo>
                  <a:cubicBezTo>
                    <a:pt x="14343" y="3289"/>
                    <a:pt x="15513" y="1350"/>
                    <a:pt x="16874" y="1350"/>
                  </a:cubicBezTo>
                  <a:cubicBezTo>
                    <a:pt x="18739" y="1350"/>
                    <a:pt x="20249" y="4976"/>
                    <a:pt x="20249" y="9450"/>
                  </a:cubicBezTo>
                  <a:cubicBezTo>
                    <a:pt x="20249" y="13923"/>
                    <a:pt x="18739" y="17549"/>
                    <a:pt x="16874" y="17549"/>
                  </a:cubicBezTo>
                  <a:moveTo>
                    <a:pt x="8926" y="11482"/>
                  </a:moveTo>
                  <a:lnTo>
                    <a:pt x="8774" y="11482"/>
                  </a:lnTo>
                  <a:lnTo>
                    <a:pt x="8774" y="11475"/>
                  </a:lnTo>
                  <a:cubicBezTo>
                    <a:pt x="8028" y="11475"/>
                    <a:pt x="7424" y="10569"/>
                    <a:pt x="7424" y="9450"/>
                  </a:cubicBezTo>
                  <a:cubicBezTo>
                    <a:pt x="7424" y="8332"/>
                    <a:pt x="8028" y="7425"/>
                    <a:pt x="8774" y="7425"/>
                  </a:cubicBezTo>
                  <a:lnTo>
                    <a:pt x="8926" y="7425"/>
                  </a:lnTo>
                  <a:cubicBezTo>
                    <a:pt x="10200" y="7425"/>
                    <a:pt x="11391" y="6924"/>
                    <a:pt x="12441" y="6063"/>
                  </a:cubicBezTo>
                  <a:cubicBezTo>
                    <a:pt x="12248" y="7149"/>
                    <a:pt x="12149" y="8300"/>
                    <a:pt x="12149" y="9450"/>
                  </a:cubicBezTo>
                  <a:cubicBezTo>
                    <a:pt x="12149" y="10603"/>
                    <a:pt x="12248" y="11758"/>
                    <a:pt x="12442" y="12846"/>
                  </a:cubicBezTo>
                  <a:cubicBezTo>
                    <a:pt x="11393" y="11983"/>
                    <a:pt x="10200" y="11482"/>
                    <a:pt x="8926" y="11482"/>
                  </a:cubicBezTo>
                  <a:moveTo>
                    <a:pt x="8096" y="20249"/>
                  </a:moveTo>
                  <a:lnTo>
                    <a:pt x="5396" y="20249"/>
                  </a:lnTo>
                  <a:lnTo>
                    <a:pt x="5396" y="14175"/>
                  </a:lnTo>
                  <a:cubicBezTo>
                    <a:pt x="5396" y="13683"/>
                    <a:pt x="5264" y="13223"/>
                    <a:pt x="5033" y="12825"/>
                  </a:cubicBezTo>
                  <a:lnTo>
                    <a:pt x="5505" y="12825"/>
                  </a:lnTo>
                  <a:lnTo>
                    <a:pt x="5505" y="12832"/>
                  </a:lnTo>
                  <a:lnTo>
                    <a:pt x="7535" y="12832"/>
                  </a:lnTo>
                  <a:cubicBezTo>
                    <a:pt x="7463" y="13042"/>
                    <a:pt x="7421" y="13265"/>
                    <a:pt x="7421" y="13500"/>
                  </a:cubicBezTo>
                  <a:lnTo>
                    <a:pt x="7421" y="18225"/>
                  </a:lnTo>
                  <a:cubicBezTo>
                    <a:pt x="7421" y="18874"/>
                    <a:pt x="7784" y="19307"/>
                    <a:pt x="8001" y="19565"/>
                  </a:cubicBezTo>
                  <a:cubicBezTo>
                    <a:pt x="8031" y="19601"/>
                    <a:pt x="8065" y="19638"/>
                    <a:pt x="8096" y="19677"/>
                  </a:cubicBezTo>
                  <a:cubicBezTo>
                    <a:pt x="8096" y="19677"/>
                    <a:pt x="8096" y="20249"/>
                    <a:pt x="8096" y="20249"/>
                  </a:cubicBezTo>
                  <a:close/>
                  <a:moveTo>
                    <a:pt x="1349" y="9450"/>
                  </a:moveTo>
                  <a:cubicBezTo>
                    <a:pt x="1349" y="8332"/>
                    <a:pt x="1953" y="7425"/>
                    <a:pt x="2699" y="7425"/>
                  </a:cubicBezTo>
                  <a:lnTo>
                    <a:pt x="7434" y="7425"/>
                  </a:lnTo>
                  <a:cubicBezTo>
                    <a:pt x="7014" y="7916"/>
                    <a:pt x="6749" y="8631"/>
                    <a:pt x="6749" y="9450"/>
                  </a:cubicBezTo>
                  <a:cubicBezTo>
                    <a:pt x="6749" y="10270"/>
                    <a:pt x="7014" y="10984"/>
                    <a:pt x="7434" y="11475"/>
                  </a:cubicBezTo>
                  <a:lnTo>
                    <a:pt x="2699" y="11475"/>
                  </a:lnTo>
                  <a:cubicBezTo>
                    <a:pt x="1953" y="11475"/>
                    <a:pt x="1349" y="10569"/>
                    <a:pt x="1349" y="9450"/>
                  </a:cubicBezTo>
                  <a:moveTo>
                    <a:pt x="13499" y="9450"/>
                  </a:moveTo>
                  <a:cubicBezTo>
                    <a:pt x="13499" y="8749"/>
                    <a:pt x="13540" y="8073"/>
                    <a:pt x="13610" y="7425"/>
                  </a:cubicBezTo>
                  <a:lnTo>
                    <a:pt x="15524" y="7425"/>
                  </a:lnTo>
                  <a:cubicBezTo>
                    <a:pt x="16269" y="7425"/>
                    <a:pt x="16874" y="8332"/>
                    <a:pt x="16874" y="9450"/>
                  </a:cubicBezTo>
                  <a:cubicBezTo>
                    <a:pt x="16874" y="10569"/>
                    <a:pt x="16269" y="11475"/>
                    <a:pt x="15524" y="11475"/>
                  </a:cubicBezTo>
                  <a:lnTo>
                    <a:pt x="13610" y="11475"/>
                  </a:lnTo>
                  <a:cubicBezTo>
                    <a:pt x="13540" y="10826"/>
                    <a:pt x="13499" y="10151"/>
                    <a:pt x="13499" y="9450"/>
                  </a:cubicBezTo>
                  <a:moveTo>
                    <a:pt x="16874" y="0"/>
                  </a:moveTo>
                  <a:cubicBezTo>
                    <a:pt x="15489" y="0"/>
                    <a:pt x="14400" y="951"/>
                    <a:pt x="13618" y="2420"/>
                  </a:cubicBezTo>
                  <a:lnTo>
                    <a:pt x="13604" y="2412"/>
                  </a:lnTo>
                  <a:cubicBezTo>
                    <a:pt x="12469" y="4635"/>
                    <a:pt x="10778" y="6075"/>
                    <a:pt x="8926" y="6075"/>
                  </a:cubicBezTo>
                  <a:lnTo>
                    <a:pt x="8479" y="6075"/>
                  </a:lnTo>
                  <a:lnTo>
                    <a:pt x="5505" y="6075"/>
                  </a:lnTo>
                  <a:lnTo>
                    <a:pt x="2699" y="6075"/>
                  </a:lnTo>
                  <a:cubicBezTo>
                    <a:pt x="1185" y="6075"/>
                    <a:pt x="0" y="7558"/>
                    <a:pt x="0" y="9450"/>
                  </a:cubicBezTo>
                  <a:cubicBezTo>
                    <a:pt x="0" y="11343"/>
                    <a:pt x="1185" y="12825"/>
                    <a:pt x="2699" y="12825"/>
                  </a:cubicBezTo>
                  <a:cubicBezTo>
                    <a:pt x="3443" y="12827"/>
                    <a:pt x="4046" y="13430"/>
                    <a:pt x="4046" y="14175"/>
                  </a:cubicBezTo>
                  <a:lnTo>
                    <a:pt x="4046" y="20249"/>
                  </a:lnTo>
                  <a:cubicBezTo>
                    <a:pt x="4046" y="20996"/>
                    <a:pt x="4651" y="21599"/>
                    <a:pt x="5396" y="21599"/>
                  </a:cubicBezTo>
                  <a:lnTo>
                    <a:pt x="8096" y="21599"/>
                  </a:lnTo>
                  <a:cubicBezTo>
                    <a:pt x="8842" y="21599"/>
                    <a:pt x="9446" y="20996"/>
                    <a:pt x="9446" y="20249"/>
                  </a:cubicBezTo>
                  <a:lnTo>
                    <a:pt x="9446" y="19575"/>
                  </a:lnTo>
                  <a:cubicBezTo>
                    <a:pt x="9446" y="18900"/>
                    <a:pt x="8771" y="18598"/>
                    <a:pt x="8771" y="18225"/>
                  </a:cubicBezTo>
                  <a:lnTo>
                    <a:pt x="8771" y="13500"/>
                  </a:lnTo>
                  <a:cubicBezTo>
                    <a:pt x="8771" y="13484"/>
                    <a:pt x="8781" y="13473"/>
                    <a:pt x="8782" y="13458"/>
                  </a:cubicBezTo>
                  <a:cubicBezTo>
                    <a:pt x="8789" y="13361"/>
                    <a:pt x="8815" y="13271"/>
                    <a:pt x="8859" y="13191"/>
                  </a:cubicBezTo>
                  <a:cubicBezTo>
                    <a:pt x="8871" y="13169"/>
                    <a:pt x="8884" y="13151"/>
                    <a:pt x="8898" y="13132"/>
                  </a:cubicBezTo>
                  <a:cubicBezTo>
                    <a:pt x="8952" y="13051"/>
                    <a:pt x="9020" y="12985"/>
                    <a:pt x="9103" y="12934"/>
                  </a:cubicBezTo>
                  <a:cubicBezTo>
                    <a:pt x="9107" y="12931"/>
                    <a:pt x="9108" y="12927"/>
                    <a:pt x="9112" y="12925"/>
                  </a:cubicBezTo>
                  <a:cubicBezTo>
                    <a:pt x="9115" y="12925"/>
                    <a:pt x="9117" y="12922"/>
                    <a:pt x="9120" y="12922"/>
                  </a:cubicBezTo>
                  <a:cubicBezTo>
                    <a:pt x="9174" y="12892"/>
                    <a:pt x="9238" y="12885"/>
                    <a:pt x="9299" y="12868"/>
                  </a:cubicBezTo>
                  <a:cubicBezTo>
                    <a:pt x="11003" y="13049"/>
                    <a:pt x="12545" y="14424"/>
                    <a:pt x="13604" y="16495"/>
                  </a:cubicBezTo>
                  <a:lnTo>
                    <a:pt x="13621" y="16487"/>
                  </a:lnTo>
                  <a:cubicBezTo>
                    <a:pt x="14404" y="17950"/>
                    <a:pt x="15490" y="18900"/>
                    <a:pt x="16874" y="18900"/>
                  </a:cubicBezTo>
                  <a:cubicBezTo>
                    <a:pt x="19977" y="18900"/>
                    <a:pt x="21600" y="14145"/>
                    <a:pt x="21600" y="9450"/>
                  </a:cubicBezTo>
                  <a:cubicBezTo>
                    <a:pt x="21600" y="4754"/>
                    <a:pt x="19977" y="0"/>
                    <a:pt x="16874" y="0"/>
                  </a:cubicBezTo>
                </a:path>
              </a:pathLst>
            </a:custGeom>
            <a:solidFill>
              <a:schemeClr val="bg2"/>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16" name="Group 15"/>
          <p:cNvGrpSpPr/>
          <p:nvPr/>
        </p:nvGrpSpPr>
        <p:grpSpPr>
          <a:xfrm>
            <a:off x="6308732" y="3417333"/>
            <a:ext cx="914400" cy="914400"/>
            <a:chOff x="6308732" y="3417333"/>
            <a:chExt cx="914400" cy="914400"/>
          </a:xfrm>
        </p:grpSpPr>
        <p:sp>
          <p:nvSpPr>
            <p:cNvPr id="9" name="Oval 8"/>
            <p:cNvSpPr/>
            <p:nvPr/>
          </p:nvSpPr>
          <p:spPr>
            <a:xfrm>
              <a:off x="6308732" y="3417333"/>
              <a:ext cx="914400" cy="9144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p:cNvGrpSpPr/>
            <p:nvPr/>
          </p:nvGrpSpPr>
          <p:grpSpPr>
            <a:xfrm>
              <a:off x="6634959" y="3674040"/>
              <a:ext cx="290080" cy="422131"/>
              <a:chOff x="11090275" y="408781"/>
              <a:chExt cx="319088" cy="464344"/>
            </a:xfrm>
            <a:solidFill>
              <a:schemeClr val="bg2"/>
            </a:solidFill>
          </p:grpSpPr>
          <p:sp>
            <p:nvSpPr>
              <p:cNvPr id="37" name="AutoShape 60"/>
              <p:cNvSpPr>
                <a:spLocks/>
              </p:cNvSpPr>
              <p:nvPr/>
            </p:nvSpPr>
            <p:spPr bwMode="auto">
              <a:xfrm>
                <a:off x="11221244" y="538956"/>
                <a:ext cx="28575" cy="293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19"/>
                      <a:pt x="16769" y="0"/>
                      <a:pt x="10800" y="0"/>
                    </a:cubicBezTo>
                    <a:cubicBezTo>
                      <a:pt x="4830" y="0"/>
                      <a:pt x="0" y="4819"/>
                      <a:pt x="0" y="10800"/>
                    </a:cubicBezTo>
                    <a:cubicBezTo>
                      <a:pt x="0" y="16769"/>
                      <a:pt x="4830" y="21599"/>
                      <a:pt x="10800" y="21599"/>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38" name="AutoShape 61"/>
              <p:cNvSpPr>
                <a:spLocks/>
              </p:cNvSpPr>
              <p:nvPr/>
            </p:nvSpPr>
            <p:spPr bwMode="auto">
              <a:xfrm>
                <a:off x="11221244" y="713581"/>
                <a:ext cx="28575" cy="285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0" y="0"/>
                      <a:pt x="0" y="4830"/>
                      <a:pt x="0" y="10800"/>
                    </a:cubicBezTo>
                    <a:cubicBezTo>
                      <a:pt x="0" y="16769"/>
                      <a:pt x="4830" y="21599"/>
                      <a:pt x="10800" y="21599"/>
                    </a:cubicBezTo>
                    <a:cubicBezTo>
                      <a:pt x="16769" y="21599"/>
                      <a:pt x="21600" y="16769"/>
                      <a:pt x="21600" y="10800"/>
                    </a:cubicBezTo>
                    <a:cubicBezTo>
                      <a:pt x="21600" y="4830"/>
                      <a:pt x="16769" y="0"/>
                      <a:pt x="108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39" name="AutoShape 62"/>
              <p:cNvSpPr>
                <a:spLocks/>
              </p:cNvSpPr>
              <p:nvPr/>
            </p:nvSpPr>
            <p:spPr bwMode="auto">
              <a:xfrm>
                <a:off x="11133932" y="626269"/>
                <a:ext cx="28575" cy="293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0" y="0"/>
                      <a:pt x="0" y="4819"/>
                      <a:pt x="0" y="10800"/>
                    </a:cubicBezTo>
                    <a:cubicBezTo>
                      <a:pt x="0" y="16769"/>
                      <a:pt x="4830" y="21599"/>
                      <a:pt x="10800" y="21599"/>
                    </a:cubicBezTo>
                    <a:cubicBezTo>
                      <a:pt x="16769" y="21599"/>
                      <a:pt x="21600" y="16769"/>
                      <a:pt x="21600" y="10800"/>
                    </a:cubicBezTo>
                    <a:cubicBezTo>
                      <a:pt x="21600" y="4819"/>
                      <a:pt x="16769" y="0"/>
                      <a:pt x="108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0" name="AutoShape 63"/>
              <p:cNvSpPr>
                <a:spLocks/>
              </p:cNvSpPr>
              <p:nvPr/>
            </p:nvSpPr>
            <p:spPr bwMode="auto">
              <a:xfrm>
                <a:off x="11307763" y="626269"/>
                <a:ext cx="29369" cy="293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0800"/>
                    </a:moveTo>
                    <a:cubicBezTo>
                      <a:pt x="0" y="16769"/>
                      <a:pt x="4830" y="21599"/>
                      <a:pt x="10800" y="21599"/>
                    </a:cubicBezTo>
                    <a:cubicBezTo>
                      <a:pt x="16769" y="21599"/>
                      <a:pt x="21600" y="16769"/>
                      <a:pt x="21600" y="10800"/>
                    </a:cubicBezTo>
                    <a:cubicBezTo>
                      <a:pt x="21600" y="4819"/>
                      <a:pt x="16769" y="0"/>
                      <a:pt x="10800" y="0"/>
                    </a:cubicBezTo>
                    <a:cubicBezTo>
                      <a:pt x="4830" y="0"/>
                      <a:pt x="0" y="4819"/>
                      <a:pt x="0" y="1080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1" name="AutoShape 64"/>
              <p:cNvSpPr>
                <a:spLocks/>
              </p:cNvSpPr>
              <p:nvPr/>
            </p:nvSpPr>
            <p:spPr bwMode="auto">
              <a:xfrm>
                <a:off x="11162507" y="684213"/>
                <a:ext cx="29369" cy="29369"/>
              </a:xfrm>
              <a:custGeom>
                <a:avLst/>
                <a:gdLst>
                  <a:gd name="T0" fmla="+- 0 10802 965"/>
                  <a:gd name="T1" fmla="*/ T0 w 19675"/>
                  <a:gd name="T2" fmla="+- 0 10800 961"/>
                  <a:gd name="T3" fmla="*/ 10800 h 19678"/>
                  <a:gd name="T4" fmla="+- 0 10802 965"/>
                  <a:gd name="T5" fmla="*/ T4 w 19675"/>
                  <a:gd name="T6" fmla="+- 0 10800 961"/>
                  <a:gd name="T7" fmla="*/ 10800 h 19678"/>
                  <a:gd name="T8" fmla="+- 0 10802 965"/>
                  <a:gd name="T9" fmla="*/ T8 w 19675"/>
                  <a:gd name="T10" fmla="+- 0 10800 961"/>
                  <a:gd name="T11" fmla="*/ 10800 h 19678"/>
                  <a:gd name="T12" fmla="+- 0 10802 965"/>
                  <a:gd name="T13" fmla="*/ T12 w 19675"/>
                  <a:gd name="T14" fmla="+- 0 10800 961"/>
                  <a:gd name="T15" fmla="*/ 10800 h 19678"/>
                </a:gdLst>
                <a:ahLst/>
                <a:cxnLst>
                  <a:cxn ang="0">
                    <a:pos x="T1" y="T3"/>
                  </a:cxn>
                  <a:cxn ang="0">
                    <a:pos x="T5" y="T7"/>
                  </a:cxn>
                  <a:cxn ang="0">
                    <a:pos x="T9" y="T11"/>
                  </a:cxn>
                  <a:cxn ang="0">
                    <a:pos x="T13" y="T15"/>
                  </a:cxn>
                </a:cxnLst>
                <a:rect l="0" t="0" r="r" b="b"/>
                <a:pathLst>
                  <a:path w="19675" h="19678">
                    <a:moveTo>
                      <a:pt x="2894" y="2882"/>
                    </a:moveTo>
                    <a:cubicBezTo>
                      <a:pt x="-965" y="6725"/>
                      <a:pt x="-965" y="12952"/>
                      <a:pt x="2894" y="16795"/>
                    </a:cubicBezTo>
                    <a:cubicBezTo>
                      <a:pt x="6734" y="20638"/>
                      <a:pt x="12935" y="20638"/>
                      <a:pt x="16794" y="16795"/>
                    </a:cubicBezTo>
                    <a:cubicBezTo>
                      <a:pt x="20634" y="12952"/>
                      <a:pt x="20634" y="6725"/>
                      <a:pt x="16794" y="2882"/>
                    </a:cubicBezTo>
                    <a:cubicBezTo>
                      <a:pt x="12935" y="-961"/>
                      <a:pt x="6734" y="-961"/>
                      <a:pt x="2894" y="2882"/>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2" name="AutoShape 65"/>
              <p:cNvSpPr>
                <a:spLocks/>
              </p:cNvSpPr>
              <p:nvPr/>
            </p:nvSpPr>
            <p:spPr bwMode="auto">
              <a:xfrm>
                <a:off x="11162507" y="568325"/>
                <a:ext cx="29369" cy="29369"/>
              </a:xfrm>
              <a:custGeom>
                <a:avLst/>
                <a:gdLst>
                  <a:gd name="T0" fmla="+- 0 10801 962"/>
                  <a:gd name="T1" fmla="*/ T0 w 19678"/>
                  <a:gd name="T2" fmla="+- 0 10801 965"/>
                  <a:gd name="T3" fmla="*/ 10801 h 19673"/>
                  <a:gd name="T4" fmla="+- 0 10801 962"/>
                  <a:gd name="T5" fmla="*/ T4 w 19678"/>
                  <a:gd name="T6" fmla="+- 0 10801 965"/>
                  <a:gd name="T7" fmla="*/ 10801 h 19673"/>
                  <a:gd name="T8" fmla="+- 0 10801 962"/>
                  <a:gd name="T9" fmla="*/ T8 w 19678"/>
                  <a:gd name="T10" fmla="+- 0 10801 965"/>
                  <a:gd name="T11" fmla="*/ 10801 h 19673"/>
                  <a:gd name="T12" fmla="+- 0 10801 962"/>
                  <a:gd name="T13" fmla="*/ T12 w 19678"/>
                  <a:gd name="T14" fmla="+- 0 10801 965"/>
                  <a:gd name="T15" fmla="*/ 10801 h 19673"/>
                </a:gdLst>
                <a:ahLst/>
                <a:cxnLst>
                  <a:cxn ang="0">
                    <a:pos x="T1" y="T3"/>
                  </a:cxn>
                  <a:cxn ang="0">
                    <a:pos x="T5" y="T7"/>
                  </a:cxn>
                  <a:cxn ang="0">
                    <a:pos x="T9" y="T11"/>
                  </a:cxn>
                  <a:cxn ang="0">
                    <a:pos x="T13" y="T15"/>
                  </a:cxn>
                </a:cxnLst>
                <a:rect l="0" t="0" r="r" b="b"/>
                <a:pathLst>
                  <a:path w="19678" h="19673">
                    <a:moveTo>
                      <a:pt x="2897" y="2894"/>
                    </a:moveTo>
                    <a:cubicBezTo>
                      <a:pt x="-962" y="6734"/>
                      <a:pt x="-962" y="12935"/>
                      <a:pt x="2877" y="16785"/>
                    </a:cubicBezTo>
                    <a:cubicBezTo>
                      <a:pt x="6737" y="20635"/>
                      <a:pt x="12938" y="20635"/>
                      <a:pt x="16797" y="16785"/>
                    </a:cubicBezTo>
                    <a:cubicBezTo>
                      <a:pt x="20638" y="12935"/>
                      <a:pt x="20638" y="6734"/>
                      <a:pt x="16797" y="2894"/>
                    </a:cubicBezTo>
                    <a:cubicBezTo>
                      <a:pt x="12938" y="-965"/>
                      <a:pt x="6737" y="-965"/>
                      <a:pt x="2897" y="2894"/>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3" name="AutoShape 66"/>
              <p:cNvSpPr>
                <a:spLocks/>
              </p:cNvSpPr>
              <p:nvPr/>
            </p:nvSpPr>
            <p:spPr bwMode="auto">
              <a:xfrm>
                <a:off x="11279188" y="684213"/>
                <a:ext cx="28575" cy="29369"/>
              </a:xfrm>
              <a:custGeom>
                <a:avLst/>
                <a:gdLst>
                  <a:gd name="T0" fmla="+- 0 10800 961"/>
                  <a:gd name="T1" fmla="*/ T0 w 19678"/>
                  <a:gd name="T2" fmla="+- 0 10800 961"/>
                  <a:gd name="T3" fmla="*/ 10800 h 19678"/>
                  <a:gd name="T4" fmla="+- 0 10800 961"/>
                  <a:gd name="T5" fmla="*/ T4 w 19678"/>
                  <a:gd name="T6" fmla="+- 0 10800 961"/>
                  <a:gd name="T7" fmla="*/ 10800 h 19678"/>
                  <a:gd name="T8" fmla="+- 0 10800 961"/>
                  <a:gd name="T9" fmla="*/ T8 w 19678"/>
                  <a:gd name="T10" fmla="+- 0 10800 961"/>
                  <a:gd name="T11" fmla="*/ 10800 h 19678"/>
                  <a:gd name="T12" fmla="+- 0 10800 961"/>
                  <a:gd name="T13" fmla="*/ T12 w 19678"/>
                  <a:gd name="T14" fmla="+- 0 10800 961"/>
                  <a:gd name="T15" fmla="*/ 10800 h 19678"/>
                </a:gdLst>
                <a:ahLst/>
                <a:cxnLst>
                  <a:cxn ang="0">
                    <a:pos x="T1" y="T3"/>
                  </a:cxn>
                  <a:cxn ang="0">
                    <a:pos x="T5" y="T7"/>
                  </a:cxn>
                  <a:cxn ang="0">
                    <a:pos x="T9" y="T11"/>
                  </a:cxn>
                  <a:cxn ang="0">
                    <a:pos x="T13" y="T15"/>
                  </a:cxn>
                </a:cxnLst>
                <a:rect l="0" t="0" r="r" b="b"/>
                <a:pathLst>
                  <a:path w="19678" h="19678">
                    <a:moveTo>
                      <a:pt x="2882" y="2882"/>
                    </a:moveTo>
                    <a:cubicBezTo>
                      <a:pt x="-961" y="6725"/>
                      <a:pt x="-961" y="12952"/>
                      <a:pt x="2882" y="16795"/>
                    </a:cubicBezTo>
                    <a:cubicBezTo>
                      <a:pt x="6725" y="20638"/>
                      <a:pt x="12952" y="20638"/>
                      <a:pt x="16795" y="16795"/>
                    </a:cubicBezTo>
                    <a:cubicBezTo>
                      <a:pt x="20639" y="12952"/>
                      <a:pt x="20639" y="6725"/>
                      <a:pt x="16795" y="2882"/>
                    </a:cubicBezTo>
                    <a:cubicBezTo>
                      <a:pt x="12952" y="-961"/>
                      <a:pt x="6725" y="-961"/>
                      <a:pt x="2882" y="2882"/>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4" name="AutoShape 67"/>
              <p:cNvSpPr>
                <a:spLocks/>
              </p:cNvSpPr>
              <p:nvPr/>
            </p:nvSpPr>
            <p:spPr bwMode="auto">
              <a:xfrm>
                <a:off x="11090275" y="408781"/>
                <a:ext cx="319088"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9818" y="16200"/>
                    </a:moveTo>
                    <a:cubicBezTo>
                      <a:pt x="5486" y="16200"/>
                      <a:pt x="1963" y="13776"/>
                      <a:pt x="1963" y="10800"/>
                    </a:cubicBezTo>
                    <a:cubicBezTo>
                      <a:pt x="1963" y="7821"/>
                      <a:pt x="5486" y="5400"/>
                      <a:pt x="9818" y="5400"/>
                    </a:cubicBezTo>
                    <a:cubicBezTo>
                      <a:pt x="14148" y="5400"/>
                      <a:pt x="17672" y="7821"/>
                      <a:pt x="17672" y="10800"/>
                    </a:cubicBezTo>
                    <a:cubicBezTo>
                      <a:pt x="17672" y="13776"/>
                      <a:pt x="14148" y="16200"/>
                      <a:pt x="9818" y="16200"/>
                    </a:cubicBezTo>
                    <a:moveTo>
                      <a:pt x="13745" y="20249"/>
                    </a:moveTo>
                    <a:lnTo>
                      <a:pt x="5890" y="20249"/>
                    </a:lnTo>
                    <a:lnTo>
                      <a:pt x="4909" y="16613"/>
                    </a:lnTo>
                    <a:cubicBezTo>
                      <a:pt x="6358" y="17192"/>
                      <a:pt x="8019" y="17549"/>
                      <a:pt x="9818" y="17549"/>
                    </a:cubicBezTo>
                    <a:cubicBezTo>
                      <a:pt x="11614" y="17549"/>
                      <a:pt x="13277" y="17192"/>
                      <a:pt x="14727" y="16613"/>
                    </a:cubicBezTo>
                    <a:cubicBezTo>
                      <a:pt x="14727" y="16613"/>
                      <a:pt x="13745" y="20249"/>
                      <a:pt x="13745" y="20249"/>
                    </a:cubicBezTo>
                    <a:close/>
                    <a:moveTo>
                      <a:pt x="5992" y="1350"/>
                    </a:moveTo>
                    <a:lnTo>
                      <a:pt x="13847" y="1350"/>
                    </a:lnTo>
                    <a:lnTo>
                      <a:pt x="14828" y="4985"/>
                    </a:lnTo>
                    <a:cubicBezTo>
                      <a:pt x="13379" y="4406"/>
                      <a:pt x="11718" y="4050"/>
                      <a:pt x="9919" y="4050"/>
                    </a:cubicBezTo>
                    <a:cubicBezTo>
                      <a:pt x="8123" y="4050"/>
                      <a:pt x="6460" y="4406"/>
                      <a:pt x="5010" y="4985"/>
                    </a:cubicBezTo>
                    <a:cubicBezTo>
                      <a:pt x="5010" y="4985"/>
                      <a:pt x="5992" y="1350"/>
                      <a:pt x="5992" y="1350"/>
                    </a:cubicBezTo>
                    <a:close/>
                    <a:moveTo>
                      <a:pt x="19636" y="9450"/>
                    </a:moveTo>
                    <a:cubicBezTo>
                      <a:pt x="19567" y="9450"/>
                      <a:pt x="19509" y="9472"/>
                      <a:pt x="19442" y="9477"/>
                    </a:cubicBezTo>
                    <a:cubicBezTo>
                      <a:pt x="19101" y="8298"/>
                      <a:pt x="18294" y="7245"/>
                      <a:pt x="17187" y="6376"/>
                    </a:cubicBezTo>
                    <a:lnTo>
                      <a:pt x="15778" y="1102"/>
                    </a:lnTo>
                    <a:cubicBezTo>
                      <a:pt x="15605" y="464"/>
                      <a:pt x="14794" y="0"/>
                      <a:pt x="13847" y="0"/>
                    </a:cubicBezTo>
                    <a:lnTo>
                      <a:pt x="5992" y="0"/>
                    </a:lnTo>
                    <a:cubicBezTo>
                      <a:pt x="5047" y="0"/>
                      <a:pt x="4236" y="464"/>
                      <a:pt x="4061" y="1102"/>
                    </a:cubicBezTo>
                    <a:lnTo>
                      <a:pt x="2686" y="6198"/>
                    </a:lnTo>
                    <a:cubicBezTo>
                      <a:pt x="1037" y="7405"/>
                      <a:pt x="0" y="9012"/>
                      <a:pt x="0" y="10800"/>
                    </a:cubicBezTo>
                    <a:cubicBezTo>
                      <a:pt x="0" y="12542"/>
                      <a:pt x="995" y="14110"/>
                      <a:pt x="2573" y="15307"/>
                    </a:cubicBezTo>
                    <a:lnTo>
                      <a:pt x="3959" y="20496"/>
                    </a:lnTo>
                    <a:cubicBezTo>
                      <a:pt x="4132" y="21135"/>
                      <a:pt x="4943" y="21599"/>
                      <a:pt x="5890" y="21599"/>
                    </a:cubicBezTo>
                    <a:lnTo>
                      <a:pt x="13745" y="21599"/>
                    </a:lnTo>
                    <a:cubicBezTo>
                      <a:pt x="14690" y="21599"/>
                      <a:pt x="15501" y="21135"/>
                      <a:pt x="15676" y="20496"/>
                    </a:cubicBezTo>
                    <a:lnTo>
                      <a:pt x="17074" y="15311"/>
                    </a:lnTo>
                    <a:cubicBezTo>
                      <a:pt x="18242" y="14426"/>
                      <a:pt x="19089" y="13340"/>
                      <a:pt x="19442" y="12122"/>
                    </a:cubicBezTo>
                    <a:cubicBezTo>
                      <a:pt x="19509" y="12127"/>
                      <a:pt x="19567" y="12150"/>
                      <a:pt x="19636" y="12150"/>
                    </a:cubicBezTo>
                    <a:cubicBezTo>
                      <a:pt x="20719" y="12150"/>
                      <a:pt x="21600" y="11544"/>
                      <a:pt x="21600" y="10800"/>
                    </a:cubicBezTo>
                    <a:cubicBezTo>
                      <a:pt x="21600" y="10053"/>
                      <a:pt x="20719" y="9450"/>
                      <a:pt x="19636" y="945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45" name="AutoShape 68"/>
              <p:cNvSpPr>
                <a:spLocks/>
              </p:cNvSpPr>
              <p:nvPr/>
            </p:nvSpPr>
            <p:spPr bwMode="auto">
              <a:xfrm>
                <a:off x="11221244" y="568325"/>
                <a:ext cx="87313" cy="88106"/>
              </a:xfrm>
              <a:custGeom>
                <a:avLst/>
                <a:gdLst>
                  <a:gd name="T0" fmla="*/ 10740 w 21481"/>
                  <a:gd name="T1" fmla="+- 0 10860 120"/>
                  <a:gd name="T2" fmla="*/ 10860 h 21480"/>
                  <a:gd name="T3" fmla="*/ 10740 w 21481"/>
                  <a:gd name="T4" fmla="+- 0 10860 120"/>
                  <a:gd name="T5" fmla="*/ 10860 h 21480"/>
                  <a:gd name="T6" fmla="*/ 10740 w 21481"/>
                  <a:gd name="T7" fmla="+- 0 10860 120"/>
                  <a:gd name="T8" fmla="*/ 10860 h 21480"/>
                  <a:gd name="T9" fmla="*/ 10740 w 21481"/>
                  <a:gd name="T10" fmla="+- 0 10860 120"/>
                  <a:gd name="T11" fmla="*/ 10860 h 21480"/>
                </a:gdLst>
                <a:ahLst/>
                <a:cxnLst>
                  <a:cxn ang="0">
                    <a:pos x="T0" y="T2"/>
                  </a:cxn>
                  <a:cxn ang="0">
                    <a:pos x="T3" y="T5"/>
                  </a:cxn>
                  <a:cxn ang="0">
                    <a:pos x="T6" y="T8"/>
                  </a:cxn>
                  <a:cxn ang="0">
                    <a:pos x="T9" y="T11"/>
                  </a:cxn>
                </a:cxnLst>
                <a:rect l="0" t="0" r="r" b="b"/>
                <a:pathLst>
                  <a:path w="21481" h="21480">
                    <a:moveTo>
                      <a:pt x="21127" y="346"/>
                    </a:moveTo>
                    <a:cubicBezTo>
                      <a:pt x="20697" y="-82"/>
                      <a:pt x="20002" y="-120"/>
                      <a:pt x="19516" y="270"/>
                    </a:cubicBezTo>
                    <a:lnTo>
                      <a:pt x="1055" y="15432"/>
                    </a:lnTo>
                    <a:cubicBezTo>
                      <a:pt x="375" y="16113"/>
                      <a:pt x="0" y="17012"/>
                      <a:pt x="0" y="17972"/>
                    </a:cubicBezTo>
                    <a:cubicBezTo>
                      <a:pt x="0" y="18902"/>
                      <a:pt x="361" y="19783"/>
                      <a:pt x="1027" y="20446"/>
                    </a:cubicBezTo>
                    <a:cubicBezTo>
                      <a:pt x="1694" y="21103"/>
                      <a:pt x="2583" y="21473"/>
                      <a:pt x="3542" y="21479"/>
                    </a:cubicBezTo>
                    <a:cubicBezTo>
                      <a:pt x="4431" y="21473"/>
                      <a:pt x="5354" y="21144"/>
                      <a:pt x="6028" y="20495"/>
                    </a:cubicBezTo>
                    <a:lnTo>
                      <a:pt x="12598" y="12627"/>
                    </a:lnTo>
                    <a:lnTo>
                      <a:pt x="21224" y="1935"/>
                    </a:lnTo>
                    <a:cubicBezTo>
                      <a:pt x="21600" y="1462"/>
                      <a:pt x="21558" y="771"/>
                      <a:pt x="21127" y="346"/>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14" name="Group 13"/>
          <p:cNvGrpSpPr/>
          <p:nvPr/>
        </p:nvGrpSpPr>
        <p:grpSpPr>
          <a:xfrm>
            <a:off x="1075551" y="4824626"/>
            <a:ext cx="914400" cy="914400"/>
            <a:chOff x="1075551" y="4824626"/>
            <a:chExt cx="914400" cy="914400"/>
          </a:xfrm>
        </p:grpSpPr>
        <p:sp>
          <p:nvSpPr>
            <p:cNvPr id="7" name="Oval 6"/>
            <p:cNvSpPr/>
            <p:nvPr/>
          </p:nvSpPr>
          <p:spPr>
            <a:xfrm>
              <a:off x="1075551" y="4824626"/>
              <a:ext cx="914400" cy="9144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p:cNvGrpSpPr/>
            <p:nvPr/>
          </p:nvGrpSpPr>
          <p:grpSpPr>
            <a:xfrm>
              <a:off x="1387709" y="5070399"/>
              <a:ext cx="290080" cy="422853"/>
              <a:chOff x="3582988" y="3510757"/>
              <a:chExt cx="319088" cy="465138"/>
            </a:xfrm>
            <a:solidFill>
              <a:schemeClr val="bg2"/>
            </a:solidFill>
          </p:grpSpPr>
          <p:sp>
            <p:nvSpPr>
              <p:cNvPr id="47" name="AutoShape 113"/>
              <p:cNvSpPr>
                <a:spLocks/>
              </p:cNvSpPr>
              <p:nvPr/>
            </p:nvSpPr>
            <p:spPr bwMode="auto">
              <a:xfrm>
                <a:off x="3582988" y="3510757"/>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a:sym typeface="Gill Sans" charset="0"/>
                </a:endParaRPr>
              </a:p>
            </p:txBody>
          </p:sp>
          <p:sp>
            <p:nvSpPr>
              <p:cNvPr id="48" name="AutoShape 114"/>
              <p:cNvSpPr>
                <a:spLocks/>
              </p:cNvSpPr>
              <p:nvPr/>
            </p:nvSpPr>
            <p:spPr bwMode="auto">
              <a:xfrm>
                <a:off x="3655219" y="3583782"/>
                <a:ext cx="94456" cy="944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a:sym typeface="Gill Sans" charset="0"/>
                </a:endParaRPr>
              </a:p>
            </p:txBody>
          </p:sp>
        </p:grpSp>
      </p:grpSp>
      <p:grpSp>
        <p:nvGrpSpPr>
          <p:cNvPr id="11" name="Group 10"/>
          <p:cNvGrpSpPr/>
          <p:nvPr/>
        </p:nvGrpSpPr>
        <p:grpSpPr>
          <a:xfrm>
            <a:off x="1075551" y="2010040"/>
            <a:ext cx="914400" cy="914400"/>
            <a:chOff x="1075551" y="2010040"/>
            <a:chExt cx="914400" cy="914400"/>
          </a:xfrm>
        </p:grpSpPr>
        <p:sp>
          <p:nvSpPr>
            <p:cNvPr id="5" name="Oval 4"/>
            <p:cNvSpPr/>
            <p:nvPr/>
          </p:nvSpPr>
          <p:spPr>
            <a:xfrm>
              <a:off x="1075551" y="2010040"/>
              <a:ext cx="914400" cy="914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utoShape 117"/>
            <p:cNvSpPr>
              <a:spLocks/>
            </p:cNvSpPr>
            <p:nvPr/>
          </p:nvSpPr>
          <p:spPr bwMode="auto">
            <a:xfrm>
              <a:off x="1321685" y="2347459"/>
              <a:ext cx="422131" cy="316778"/>
            </a:xfrm>
            <a:custGeom>
              <a:avLst/>
              <a:gdLst>
                <a:gd name="T0" fmla="+- 0 10799 1"/>
                <a:gd name="T1" fmla="*/ T0 w 21596"/>
                <a:gd name="T2" fmla="*/ 10800 h 21600"/>
                <a:gd name="T3" fmla="+- 0 10799 1"/>
                <a:gd name="T4" fmla="*/ T3 w 21596"/>
                <a:gd name="T5" fmla="*/ 10800 h 21600"/>
                <a:gd name="T6" fmla="+- 0 10799 1"/>
                <a:gd name="T7" fmla="*/ T6 w 21596"/>
                <a:gd name="T8" fmla="*/ 10800 h 21600"/>
                <a:gd name="T9" fmla="+- 0 10799 1"/>
                <a:gd name="T10" fmla="*/ T9 w 21596"/>
                <a:gd name="T11" fmla="*/ 10800 h 21600"/>
              </a:gdLst>
              <a:ahLst/>
              <a:cxnLst>
                <a:cxn ang="0">
                  <a:pos x="T1" y="T2"/>
                </a:cxn>
                <a:cxn ang="0">
                  <a:pos x="T4" y="T5"/>
                </a:cxn>
                <a:cxn ang="0">
                  <a:pos x="T7" y="T8"/>
                </a:cxn>
                <a:cxn ang="0">
                  <a:pos x="T10" y="T11"/>
                </a:cxn>
              </a:cxnLst>
              <a:rect l="0" t="0" r="r" b="b"/>
              <a:pathLst>
                <a:path w="21596" h="21600">
                  <a:moveTo>
                    <a:pt x="4511" y="2151"/>
                  </a:moveTo>
                  <a:lnTo>
                    <a:pt x="6064" y="3877"/>
                  </a:lnTo>
                  <a:lnTo>
                    <a:pt x="4246" y="6302"/>
                  </a:lnTo>
                  <a:lnTo>
                    <a:pt x="1353" y="6302"/>
                  </a:lnTo>
                  <a:cubicBezTo>
                    <a:pt x="1353" y="6302"/>
                    <a:pt x="4511" y="2151"/>
                    <a:pt x="4511" y="2151"/>
                  </a:cubicBezTo>
                  <a:close/>
                  <a:moveTo>
                    <a:pt x="17348" y="6302"/>
                  </a:moveTo>
                  <a:lnTo>
                    <a:pt x="15531" y="3877"/>
                  </a:lnTo>
                  <a:lnTo>
                    <a:pt x="17082" y="2153"/>
                  </a:lnTo>
                  <a:lnTo>
                    <a:pt x="20191" y="6302"/>
                  </a:lnTo>
                  <a:cubicBezTo>
                    <a:pt x="20191" y="6302"/>
                    <a:pt x="17348" y="6302"/>
                    <a:pt x="17348" y="6302"/>
                  </a:cubicBezTo>
                  <a:close/>
                  <a:moveTo>
                    <a:pt x="17264" y="7202"/>
                  </a:moveTo>
                  <a:lnTo>
                    <a:pt x="19663" y="7202"/>
                  </a:lnTo>
                  <a:lnTo>
                    <a:pt x="13021" y="16638"/>
                  </a:lnTo>
                  <a:cubicBezTo>
                    <a:pt x="13021" y="16638"/>
                    <a:pt x="17264" y="7202"/>
                    <a:pt x="17264" y="7202"/>
                  </a:cubicBezTo>
                  <a:close/>
                  <a:moveTo>
                    <a:pt x="8574" y="16637"/>
                  </a:moveTo>
                  <a:lnTo>
                    <a:pt x="1933" y="7202"/>
                  </a:lnTo>
                  <a:lnTo>
                    <a:pt x="4330" y="7202"/>
                  </a:lnTo>
                  <a:cubicBezTo>
                    <a:pt x="4330" y="7202"/>
                    <a:pt x="8574" y="16637"/>
                    <a:pt x="8574" y="16637"/>
                  </a:cubicBezTo>
                  <a:close/>
                  <a:moveTo>
                    <a:pt x="8429" y="7202"/>
                  </a:moveTo>
                  <a:lnTo>
                    <a:pt x="10084" y="18249"/>
                  </a:lnTo>
                  <a:lnTo>
                    <a:pt x="5117" y="7202"/>
                  </a:lnTo>
                  <a:cubicBezTo>
                    <a:pt x="5117" y="7202"/>
                    <a:pt x="8429" y="7202"/>
                    <a:pt x="8429" y="7202"/>
                  </a:cubicBezTo>
                  <a:close/>
                  <a:moveTo>
                    <a:pt x="6584" y="4456"/>
                  </a:moveTo>
                  <a:lnTo>
                    <a:pt x="8246" y="6302"/>
                  </a:lnTo>
                  <a:lnTo>
                    <a:pt x="5200" y="6302"/>
                  </a:lnTo>
                  <a:cubicBezTo>
                    <a:pt x="5200" y="6302"/>
                    <a:pt x="6584" y="4456"/>
                    <a:pt x="6584" y="4456"/>
                  </a:cubicBezTo>
                  <a:close/>
                  <a:moveTo>
                    <a:pt x="6543" y="3238"/>
                  </a:moveTo>
                  <a:lnTo>
                    <a:pt x="5250" y="1800"/>
                  </a:lnTo>
                  <a:lnTo>
                    <a:pt x="7621" y="1800"/>
                  </a:lnTo>
                  <a:cubicBezTo>
                    <a:pt x="7621" y="1800"/>
                    <a:pt x="6543" y="3238"/>
                    <a:pt x="6543" y="3238"/>
                  </a:cubicBezTo>
                  <a:close/>
                  <a:moveTo>
                    <a:pt x="10797" y="3466"/>
                  </a:moveTo>
                  <a:lnTo>
                    <a:pt x="9299" y="1800"/>
                  </a:lnTo>
                  <a:lnTo>
                    <a:pt x="12296" y="1800"/>
                  </a:lnTo>
                  <a:cubicBezTo>
                    <a:pt x="12296" y="1800"/>
                    <a:pt x="10797" y="3466"/>
                    <a:pt x="10797" y="3466"/>
                  </a:cubicBezTo>
                  <a:close/>
                  <a:moveTo>
                    <a:pt x="13974" y="1800"/>
                  </a:moveTo>
                  <a:lnTo>
                    <a:pt x="16345" y="1800"/>
                  </a:lnTo>
                  <a:lnTo>
                    <a:pt x="15052" y="3238"/>
                  </a:lnTo>
                  <a:cubicBezTo>
                    <a:pt x="15052" y="3238"/>
                    <a:pt x="13974" y="1800"/>
                    <a:pt x="13974" y="1800"/>
                  </a:cubicBezTo>
                  <a:close/>
                  <a:moveTo>
                    <a:pt x="13349" y="6302"/>
                  </a:moveTo>
                  <a:lnTo>
                    <a:pt x="15011" y="4456"/>
                  </a:lnTo>
                  <a:lnTo>
                    <a:pt x="16394" y="6302"/>
                  </a:lnTo>
                  <a:cubicBezTo>
                    <a:pt x="16394" y="6302"/>
                    <a:pt x="13349" y="6302"/>
                    <a:pt x="13349" y="6302"/>
                  </a:cubicBezTo>
                  <a:close/>
                  <a:moveTo>
                    <a:pt x="13166" y="7202"/>
                  </a:moveTo>
                  <a:lnTo>
                    <a:pt x="16478" y="7202"/>
                  </a:lnTo>
                  <a:lnTo>
                    <a:pt x="11511" y="18249"/>
                  </a:lnTo>
                  <a:cubicBezTo>
                    <a:pt x="11511" y="18249"/>
                    <a:pt x="13166" y="7202"/>
                    <a:pt x="13166" y="7202"/>
                  </a:cubicBezTo>
                  <a:close/>
                  <a:moveTo>
                    <a:pt x="12478" y="7202"/>
                  </a:moveTo>
                  <a:lnTo>
                    <a:pt x="10797" y="18414"/>
                  </a:lnTo>
                  <a:lnTo>
                    <a:pt x="9117" y="7202"/>
                  </a:lnTo>
                  <a:cubicBezTo>
                    <a:pt x="9117" y="7202"/>
                    <a:pt x="12478" y="7202"/>
                    <a:pt x="12478" y="7202"/>
                  </a:cubicBezTo>
                  <a:close/>
                  <a:moveTo>
                    <a:pt x="8773" y="5716"/>
                  </a:moveTo>
                  <a:lnTo>
                    <a:pt x="7064" y="3817"/>
                  </a:lnTo>
                  <a:lnTo>
                    <a:pt x="8426" y="2000"/>
                  </a:lnTo>
                  <a:lnTo>
                    <a:pt x="10270" y="4051"/>
                  </a:lnTo>
                  <a:cubicBezTo>
                    <a:pt x="10270" y="4051"/>
                    <a:pt x="8773" y="5716"/>
                    <a:pt x="8773" y="5716"/>
                  </a:cubicBezTo>
                  <a:close/>
                  <a:moveTo>
                    <a:pt x="11325" y="4051"/>
                  </a:moveTo>
                  <a:lnTo>
                    <a:pt x="13169" y="2000"/>
                  </a:lnTo>
                  <a:lnTo>
                    <a:pt x="14531" y="3817"/>
                  </a:lnTo>
                  <a:lnTo>
                    <a:pt x="12822" y="5716"/>
                  </a:lnTo>
                  <a:cubicBezTo>
                    <a:pt x="12822" y="5716"/>
                    <a:pt x="11325" y="4051"/>
                    <a:pt x="11325" y="4051"/>
                  </a:cubicBezTo>
                  <a:close/>
                  <a:moveTo>
                    <a:pt x="12296" y="6302"/>
                  </a:moveTo>
                  <a:lnTo>
                    <a:pt x="9299" y="6302"/>
                  </a:lnTo>
                  <a:lnTo>
                    <a:pt x="10797" y="4638"/>
                  </a:lnTo>
                  <a:cubicBezTo>
                    <a:pt x="10797" y="4638"/>
                    <a:pt x="12296" y="6302"/>
                    <a:pt x="12296" y="6302"/>
                  </a:cubicBezTo>
                  <a:close/>
                  <a:moveTo>
                    <a:pt x="21200" y="5102"/>
                  </a:moveTo>
                  <a:lnTo>
                    <a:pt x="17771" y="527"/>
                  </a:lnTo>
                  <a:cubicBezTo>
                    <a:pt x="17518" y="189"/>
                    <a:pt x="17176" y="0"/>
                    <a:pt x="16817" y="0"/>
                  </a:cubicBezTo>
                  <a:lnTo>
                    <a:pt x="4779" y="0"/>
                  </a:lnTo>
                  <a:cubicBezTo>
                    <a:pt x="4420" y="0"/>
                    <a:pt x="4077" y="189"/>
                    <a:pt x="3824" y="527"/>
                  </a:cubicBezTo>
                  <a:lnTo>
                    <a:pt x="395" y="5102"/>
                  </a:lnTo>
                  <a:cubicBezTo>
                    <a:pt x="131" y="5455"/>
                    <a:pt x="-1" y="5921"/>
                    <a:pt x="-1" y="6387"/>
                  </a:cubicBezTo>
                  <a:cubicBezTo>
                    <a:pt x="1" y="6810"/>
                    <a:pt x="114" y="7233"/>
                    <a:pt x="341" y="7573"/>
                  </a:cubicBezTo>
                  <a:lnTo>
                    <a:pt x="9788" y="20995"/>
                  </a:lnTo>
                  <a:cubicBezTo>
                    <a:pt x="10045" y="21379"/>
                    <a:pt x="10412" y="21599"/>
                    <a:pt x="10797" y="21599"/>
                  </a:cubicBezTo>
                  <a:cubicBezTo>
                    <a:pt x="11183" y="21599"/>
                    <a:pt x="11550" y="21379"/>
                    <a:pt x="11807" y="20995"/>
                  </a:cubicBezTo>
                  <a:lnTo>
                    <a:pt x="21255" y="7573"/>
                  </a:lnTo>
                  <a:cubicBezTo>
                    <a:pt x="21485" y="7226"/>
                    <a:pt x="21598" y="6791"/>
                    <a:pt x="21595" y="6359"/>
                  </a:cubicBezTo>
                  <a:cubicBezTo>
                    <a:pt x="21593" y="5902"/>
                    <a:pt x="21459" y="5449"/>
                    <a:pt x="21200" y="5102"/>
                  </a:cubicBezTo>
                </a:path>
              </a:pathLst>
            </a:custGeom>
            <a:solidFill>
              <a:schemeClr val="bg2"/>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13" name="Group 12"/>
          <p:cNvGrpSpPr/>
          <p:nvPr/>
        </p:nvGrpSpPr>
        <p:grpSpPr>
          <a:xfrm>
            <a:off x="1075551" y="3417333"/>
            <a:ext cx="914400" cy="914400"/>
            <a:chOff x="1075551" y="3417333"/>
            <a:chExt cx="914400" cy="914400"/>
          </a:xfrm>
        </p:grpSpPr>
        <p:sp>
          <p:nvSpPr>
            <p:cNvPr id="6" name="Oval 5"/>
            <p:cNvSpPr/>
            <p:nvPr/>
          </p:nvSpPr>
          <p:spPr>
            <a:xfrm>
              <a:off x="1075551" y="3417333"/>
              <a:ext cx="914400" cy="9144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p:cNvGrpSpPr/>
            <p:nvPr/>
          </p:nvGrpSpPr>
          <p:grpSpPr>
            <a:xfrm>
              <a:off x="1321684" y="3674039"/>
              <a:ext cx="422131" cy="422131"/>
              <a:chOff x="4439444" y="2582069"/>
              <a:chExt cx="464344" cy="464344"/>
            </a:xfrm>
            <a:solidFill>
              <a:schemeClr val="bg2"/>
            </a:solidFill>
          </p:grpSpPr>
          <p:sp>
            <p:nvSpPr>
              <p:cNvPr id="51" name="AutoShape 123"/>
              <p:cNvSpPr>
                <a:spLocks/>
              </p:cNvSpPr>
              <p:nvPr/>
            </p:nvSpPr>
            <p:spPr bwMode="auto">
              <a:xfrm>
                <a:off x="4439444" y="2582069"/>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a:sym typeface="Gill Sans" charset="0"/>
                </a:endParaRPr>
              </a:p>
            </p:txBody>
          </p:sp>
          <p:sp>
            <p:nvSpPr>
              <p:cNvPr id="52" name="AutoShape 124"/>
              <p:cNvSpPr>
                <a:spLocks/>
              </p:cNvSpPr>
              <p:nvPr/>
            </p:nvSpPr>
            <p:spPr bwMode="auto">
              <a:xfrm>
                <a:off x="4570413" y="2712244"/>
                <a:ext cx="203200" cy="203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a:sym typeface="Gill Sans" charset="0"/>
                </a:endParaRPr>
              </a:p>
            </p:txBody>
          </p:sp>
          <p:sp>
            <p:nvSpPr>
              <p:cNvPr id="53" name="AutoShape 125"/>
              <p:cNvSpPr>
                <a:spLocks/>
              </p:cNvSpPr>
              <p:nvPr/>
            </p:nvSpPr>
            <p:spPr bwMode="auto">
              <a:xfrm>
                <a:off x="4613275" y="2755900"/>
                <a:ext cx="116682" cy="1166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a:sym typeface="Gill Sans" charset="0"/>
                </a:endParaRPr>
              </a:p>
            </p:txBody>
          </p:sp>
        </p:grpSp>
      </p:grpSp>
      <p:sp>
        <p:nvSpPr>
          <p:cNvPr id="55" name="TextBox 54"/>
          <p:cNvSpPr txBox="1"/>
          <p:nvPr/>
        </p:nvSpPr>
        <p:spPr>
          <a:xfrm>
            <a:off x="2124723" y="1897231"/>
            <a:ext cx="1184940" cy="369332"/>
          </a:xfrm>
          <a:prstGeom prst="rect">
            <a:avLst/>
          </a:prstGeom>
          <a:noFill/>
        </p:spPr>
        <p:txBody>
          <a:bodyPr wrap="none" rtlCol="0">
            <a:spAutoFit/>
          </a:bodyPr>
          <a:lstStyle/>
          <a:p>
            <a:r>
              <a:rPr lang="en-US" b="1" dirty="0">
                <a:solidFill>
                  <a:schemeClr val="accent6">
                    <a:lumMod val="50000"/>
                  </a:schemeClr>
                </a:solidFill>
              </a:rPr>
              <a:t>Products</a:t>
            </a:r>
          </a:p>
        </p:txBody>
      </p:sp>
      <p:sp>
        <p:nvSpPr>
          <p:cNvPr id="58" name="TextBox 57"/>
          <p:cNvSpPr txBox="1"/>
          <p:nvPr/>
        </p:nvSpPr>
        <p:spPr>
          <a:xfrm>
            <a:off x="2124723" y="3304524"/>
            <a:ext cx="1236236" cy="369332"/>
          </a:xfrm>
          <a:prstGeom prst="rect">
            <a:avLst/>
          </a:prstGeom>
          <a:noFill/>
        </p:spPr>
        <p:txBody>
          <a:bodyPr wrap="none" rtlCol="0">
            <a:spAutoFit/>
          </a:bodyPr>
          <a:lstStyle/>
          <a:p>
            <a:r>
              <a:rPr lang="en-US" b="1" dirty="0">
                <a:solidFill>
                  <a:schemeClr val="accent6">
                    <a:lumMod val="50000"/>
                  </a:schemeClr>
                </a:solidFill>
              </a:rPr>
              <a:t>Solutions</a:t>
            </a:r>
          </a:p>
        </p:txBody>
      </p:sp>
      <p:sp>
        <p:nvSpPr>
          <p:cNvPr id="61" name="TextBox 60"/>
          <p:cNvSpPr txBox="1"/>
          <p:nvPr/>
        </p:nvSpPr>
        <p:spPr>
          <a:xfrm>
            <a:off x="2124723" y="4711817"/>
            <a:ext cx="1441420" cy="369332"/>
          </a:xfrm>
          <a:prstGeom prst="rect">
            <a:avLst/>
          </a:prstGeom>
          <a:noFill/>
        </p:spPr>
        <p:txBody>
          <a:bodyPr wrap="none" rtlCol="0">
            <a:spAutoFit/>
          </a:bodyPr>
          <a:lstStyle/>
          <a:p>
            <a:r>
              <a:rPr lang="en-US" b="1" dirty="0">
                <a:solidFill>
                  <a:schemeClr val="accent6">
                    <a:lumMod val="50000"/>
                  </a:schemeClr>
                </a:solidFill>
              </a:rPr>
              <a:t>Networking</a:t>
            </a:r>
          </a:p>
        </p:txBody>
      </p:sp>
      <p:sp>
        <p:nvSpPr>
          <p:cNvPr id="64" name="TextBox 63"/>
          <p:cNvSpPr txBox="1"/>
          <p:nvPr/>
        </p:nvSpPr>
        <p:spPr>
          <a:xfrm>
            <a:off x="7349740" y="1897231"/>
            <a:ext cx="2262158" cy="369332"/>
          </a:xfrm>
          <a:prstGeom prst="rect">
            <a:avLst/>
          </a:prstGeom>
          <a:noFill/>
        </p:spPr>
        <p:txBody>
          <a:bodyPr wrap="none" rtlCol="0">
            <a:spAutoFit/>
          </a:bodyPr>
          <a:lstStyle/>
          <a:p>
            <a:r>
              <a:rPr lang="en-US" b="1" dirty="0">
                <a:solidFill>
                  <a:schemeClr val="accent6">
                    <a:lumMod val="50000"/>
                  </a:schemeClr>
                </a:solidFill>
              </a:rPr>
              <a:t>System Integration</a:t>
            </a:r>
          </a:p>
        </p:txBody>
      </p:sp>
      <p:sp>
        <p:nvSpPr>
          <p:cNvPr id="67" name="TextBox 66"/>
          <p:cNvSpPr txBox="1"/>
          <p:nvPr/>
        </p:nvSpPr>
        <p:spPr>
          <a:xfrm>
            <a:off x="7349740" y="3304524"/>
            <a:ext cx="2339102" cy="369332"/>
          </a:xfrm>
          <a:prstGeom prst="rect">
            <a:avLst/>
          </a:prstGeom>
          <a:noFill/>
        </p:spPr>
        <p:txBody>
          <a:bodyPr wrap="none" rtlCol="0">
            <a:spAutoFit/>
          </a:bodyPr>
          <a:lstStyle/>
          <a:p>
            <a:r>
              <a:rPr lang="en-US" b="1" dirty="0" smtClean="0">
                <a:solidFill>
                  <a:schemeClr val="accent6">
                    <a:lumMod val="50000"/>
                  </a:schemeClr>
                </a:solidFill>
              </a:rPr>
              <a:t>Specialized </a:t>
            </a:r>
            <a:r>
              <a:rPr lang="en-US" b="1" dirty="0">
                <a:solidFill>
                  <a:schemeClr val="accent6">
                    <a:lumMod val="50000"/>
                  </a:schemeClr>
                </a:solidFill>
              </a:rPr>
              <a:t>Service</a:t>
            </a:r>
          </a:p>
        </p:txBody>
      </p:sp>
      <p:sp>
        <p:nvSpPr>
          <p:cNvPr id="70" name="TextBox 69"/>
          <p:cNvSpPr txBox="1"/>
          <p:nvPr/>
        </p:nvSpPr>
        <p:spPr>
          <a:xfrm>
            <a:off x="7349740" y="4711817"/>
            <a:ext cx="2749471" cy="369332"/>
          </a:xfrm>
          <a:prstGeom prst="rect">
            <a:avLst/>
          </a:prstGeom>
          <a:noFill/>
        </p:spPr>
        <p:txBody>
          <a:bodyPr wrap="none" rtlCol="0">
            <a:spAutoFit/>
          </a:bodyPr>
          <a:lstStyle/>
          <a:p>
            <a:r>
              <a:rPr lang="en-US" b="1" dirty="0">
                <a:solidFill>
                  <a:schemeClr val="accent6">
                    <a:lumMod val="50000"/>
                  </a:schemeClr>
                </a:solidFill>
              </a:rPr>
              <a:t>Security &amp; Surveillance</a:t>
            </a:r>
          </a:p>
        </p:txBody>
      </p:sp>
    </p:spTree>
    <p:extLst>
      <p:ext uri="{BB962C8B-B14F-4D97-AF65-F5344CB8AC3E}">
        <p14:creationId xmlns:p14="http://schemas.microsoft.com/office/powerpoint/2010/main" val="350064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Effect transition="in" filter="fade">
                                      <p:cBhvr>
                                        <p:cTn id="15" dur="500"/>
                                        <p:tgtEl>
                                          <p:spTgt spid="15"/>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animEffect transition="in" filter="fade">
                                      <p:cBhvr>
                                        <p:cTn id="21" dur="500"/>
                                        <p:tgtEl>
                                          <p:spTgt spid="13"/>
                                        </p:tgtEl>
                                      </p:cBhvr>
                                    </p:animEffect>
                                  </p:childTnLst>
                                </p:cTn>
                              </p:par>
                            </p:childTnLst>
                          </p:cTn>
                        </p:par>
                        <p:par>
                          <p:cTn id="22" fill="hold">
                            <p:stCondLst>
                              <p:cond delay="1500"/>
                            </p:stCondLst>
                            <p:childTnLst>
                              <p:par>
                                <p:cTn id="23" presetID="53" presetClass="entr" presetSubtype="16" fill="hold" nodeType="after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p:cTn id="25" dur="500" fill="hold"/>
                                        <p:tgtEl>
                                          <p:spTgt spid="16"/>
                                        </p:tgtEl>
                                        <p:attrNameLst>
                                          <p:attrName>ppt_w</p:attrName>
                                        </p:attrNameLst>
                                      </p:cBhvr>
                                      <p:tavLst>
                                        <p:tav tm="0">
                                          <p:val>
                                            <p:fltVal val="0"/>
                                          </p:val>
                                        </p:tav>
                                        <p:tav tm="100000">
                                          <p:val>
                                            <p:strVal val="#ppt_w"/>
                                          </p:val>
                                        </p:tav>
                                      </p:tavLst>
                                    </p:anim>
                                    <p:anim calcmode="lin" valueType="num">
                                      <p:cBhvr>
                                        <p:cTn id="26" dur="500" fill="hold"/>
                                        <p:tgtEl>
                                          <p:spTgt spid="16"/>
                                        </p:tgtEl>
                                        <p:attrNameLst>
                                          <p:attrName>ppt_h</p:attrName>
                                        </p:attrNameLst>
                                      </p:cBhvr>
                                      <p:tavLst>
                                        <p:tav tm="0">
                                          <p:val>
                                            <p:fltVal val="0"/>
                                          </p:val>
                                        </p:tav>
                                        <p:tav tm="100000">
                                          <p:val>
                                            <p:strVal val="#ppt_h"/>
                                          </p:val>
                                        </p:tav>
                                      </p:tavLst>
                                    </p:anim>
                                    <p:animEffect transition="in" filter="fade">
                                      <p:cBhvr>
                                        <p:cTn id="27" dur="500"/>
                                        <p:tgtEl>
                                          <p:spTgt spid="16"/>
                                        </p:tgtEl>
                                      </p:cBhvr>
                                    </p:animEffect>
                                  </p:childTnLst>
                                </p:cTn>
                              </p:par>
                            </p:childTnLst>
                          </p:cTn>
                        </p:par>
                        <p:par>
                          <p:cTn id="28" fill="hold">
                            <p:stCondLst>
                              <p:cond delay="2000"/>
                            </p:stCondLst>
                            <p:childTnLst>
                              <p:par>
                                <p:cTn id="29" presetID="53" presetClass="entr" presetSubtype="16"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Effect transition="in" filter="fade">
                                      <p:cBhvr>
                                        <p:cTn id="33" dur="500"/>
                                        <p:tgtEl>
                                          <p:spTgt spid="14"/>
                                        </p:tgtEl>
                                      </p:cBhvr>
                                    </p:animEffect>
                                  </p:childTnLst>
                                </p:cTn>
                              </p:par>
                            </p:childTnLst>
                          </p:cTn>
                        </p:par>
                        <p:par>
                          <p:cTn id="34" fill="hold">
                            <p:stCondLst>
                              <p:cond delay="2500"/>
                            </p:stCondLst>
                            <p:childTnLst>
                              <p:par>
                                <p:cTn id="35" presetID="53" presetClass="entr" presetSubtype="16" fill="hold" nodeType="after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500" fill="hold"/>
                                        <p:tgtEl>
                                          <p:spTgt spid="17"/>
                                        </p:tgtEl>
                                        <p:attrNameLst>
                                          <p:attrName>ppt_w</p:attrName>
                                        </p:attrNameLst>
                                      </p:cBhvr>
                                      <p:tavLst>
                                        <p:tav tm="0">
                                          <p:val>
                                            <p:fltVal val="0"/>
                                          </p:val>
                                        </p:tav>
                                        <p:tav tm="100000">
                                          <p:val>
                                            <p:strVal val="#ppt_w"/>
                                          </p:val>
                                        </p:tav>
                                      </p:tavLst>
                                    </p:anim>
                                    <p:anim calcmode="lin" valueType="num">
                                      <p:cBhvr>
                                        <p:cTn id="38" dur="500" fill="hold"/>
                                        <p:tgtEl>
                                          <p:spTgt spid="17"/>
                                        </p:tgtEl>
                                        <p:attrNameLst>
                                          <p:attrName>ppt_h</p:attrName>
                                        </p:attrNameLst>
                                      </p:cBhvr>
                                      <p:tavLst>
                                        <p:tav tm="0">
                                          <p:val>
                                            <p:fltVal val="0"/>
                                          </p:val>
                                        </p:tav>
                                        <p:tav tm="100000">
                                          <p:val>
                                            <p:strVal val="#ppt_h"/>
                                          </p:val>
                                        </p:tav>
                                      </p:tavLst>
                                    </p:anim>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Meet The Team</a:t>
            </a:r>
          </a:p>
        </p:txBody>
      </p:sp>
      <p:sp>
        <p:nvSpPr>
          <p:cNvPr id="4" name="Slide Number Placeholder 3"/>
          <p:cNvSpPr>
            <a:spLocks noGrp="1"/>
          </p:cNvSpPr>
          <p:nvPr>
            <p:ph type="sldNum" sz="quarter" idx="12"/>
          </p:nvPr>
        </p:nvSpPr>
        <p:spPr/>
        <p:txBody>
          <a:bodyPr/>
          <a:lstStyle/>
          <a:p>
            <a:fld id="{98C37ADA-FE03-4EF7-8F15-3521BBE76F4D}" type="slidenum">
              <a:rPr lang="en-US"/>
              <a:pPr/>
              <a:t>8</a:t>
            </a:fld>
            <a:endParaRPr lang="en-US"/>
          </a:p>
        </p:txBody>
      </p:sp>
      <p:sp>
        <p:nvSpPr>
          <p:cNvPr id="5" name="Oval 4"/>
          <p:cNvSpPr/>
          <p:nvPr/>
        </p:nvSpPr>
        <p:spPr>
          <a:xfrm>
            <a:off x="495076" y="1620645"/>
            <a:ext cx="2371719" cy="2371719"/>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6" name="TextBox 5"/>
          <p:cNvSpPr txBox="1"/>
          <p:nvPr/>
        </p:nvSpPr>
        <p:spPr>
          <a:xfrm>
            <a:off x="817124" y="4096614"/>
            <a:ext cx="2003898" cy="369332"/>
          </a:xfrm>
          <a:prstGeom prst="rect">
            <a:avLst/>
          </a:prstGeom>
          <a:noFill/>
        </p:spPr>
        <p:txBody>
          <a:bodyPr wrap="square" rtlCol="0">
            <a:spAutoFit/>
          </a:bodyPr>
          <a:lstStyle/>
          <a:p>
            <a:pPr algn="ctr"/>
            <a:r>
              <a:rPr lang="en-US" b="1" dirty="0" err="1">
                <a:solidFill>
                  <a:schemeClr val="bg2"/>
                </a:solidFill>
                <a:latin typeface="Source Sans Pro" panose="020B0503030403020204" pitchFamily="34" charset="0"/>
              </a:rPr>
              <a:t>Gyanesh</a:t>
            </a:r>
            <a:r>
              <a:rPr lang="en-US" b="1" dirty="0">
                <a:solidFill>
                  <a:schemeClr val="bg2"/>
                </a:solidFill>
                <a:latin typeface="Source Sans Pro" panose="020B0503030403020204" pitchFamily="34" charset="0"/>
              </a:rPr>
              <a:t> </a:t>
            </a:r>
            <a:r>
              <a:rPr lang="en-US" b="1" dirty="0" err="1">
                <a:solidFill>
                  <a:schemeClr val="bg2"/>
                </a:solidFill>
                <a:latin typeface="Source Sans Pro" panose="020B0503030403020204" pitchFamily="34" charset="0"/>
              </a:rPr>
              <a:t>Shukla</a:t>
            </a:r>
            <a:endParaRPr lang="en-GB" b="1" dirty="0">
              <a:solidFill>
                <a:schemeClr val="bg2"/>
              </a:solidFill>
              <a:latin typeface="Source Sans Pro" panose="020B0503030403020204" pitchFamily="34" charset="0"/>
            </a:endParaRPr>
          </a:p>
        </p:txBody>
      </p:sp>
      <p:sp>
        <p:nvSpPr>
          <p:cNvPr id="7" name="TextBox 6"/>
          <p:cNvSpPr txBox="1"/>
          <p:nvPr/>
        </p:nvSpPr>
        <p:spPr>
          <a:xfrm>
            <a:off x="1433878" y="4355476"/>
            <a:ext cx="184730" cy="523220"/>
          </a:xfrm>
          <a:prstGeom prst="rect">
            <a:avLst/>
          </a:prstGeom>
          <a:noFill/>
        </p:spPr>
        <p:txBody>
          <a:bodyPr wrap="none" rtlCol="0">
            <a:spAutoFit/>
          </a:bodyPr>
          <a:lstStyle/>
          <a:p>
            <a:pPr algn="ctr"/>
            <a:endParaRPr lang="en-GB" sz="1400" dirty="0">
              <a:solidFill>
                <a:schemeClr val="bg2"/>
              </a:solidFill>
            </a:endParaRPr>
          </a:p>
          <a:p>
            <a:pPr algn="ctr"/>
            <a:endParaRPr lang="en-GB" sz="1400" dirty="0">
              <a:solidFill>
                <a:schemeClr val="bg2"/>
              </a:solidFill>
            </a:endParaRPr>
          </a:p>
        </p:txBody>
      </p:sp>
      <p:grpSp>
        <p:nvGrpSpPr>
          <p:cNvPr id="13" name="Group 12"/>
          <p:cNvGrpSpPr/>
          <p:nvPr/>
        </p:nvGrpSpPr>
        <p:grpSpPr>
          <a:xfrm>
            <a:off x="1318010" y="6183267"/>
            <a:ext cx="725845" cy="260325"/>
            <a:chOff x="2007841" y="5382892"/>
            <a:chExt cx="1711508" cy="613831"/>
          </a:xfrm>
          <a:solidFill>
            <a:schemeClr val="tx1">
              <a:lumMod val="75000"/>
              <a:lumOff val="25000"/>
            </a:schemeClr>
          </a:solidFill>
        </p:grpSpPr>
        <p:sp>
          <p:nvSpPr>
            <p:cNvPr id="14" name="AutoShape 13"/>
            <p:cNvSpPr>
              <a:spLocks/>
            </p:cNvSpPr>
            <p:nvPr/>
          </p:nvSpPr>
          <p:spPr bwMode="auto">
            <a:xfrm>
              <a:off x="3244415" y="5382892"/>
              <a:ext cx="474934" cy="613831"/>
            </a:xfrm>
            <a:custGeom>
              <a:avLst/>
              <a:gdLst>
                <a:gd name="T0" fmla="*/ 536544193 w 21545"/>
                <a:gd name="T1" fmla="*/ 1809212526 h 21515"/>
                <a:gd name="T2" fmla="*/ 494557843 w 21545"/>
                <a:gd name="T3" fmla="*/ 2087334032 h 21515"/>
                <a:gd name="T4" fmla="*/ 447328334 w 21545"/>
                <a:gd name="T5" fmla="*/ 2147483646 h 21515"/>
                <a:gd name="T6" fmla="*/ 312790812 w 21545"/>
                <a:gd name="T7" fmla="*/ 2147483646 h 21515"/>
                <a:gd name="T8" fmla="*/ 284619960 w 21545"/>
                <a:gd name="T9" fmla="*/ 2147483646 h 21515"/>
                <a:gd name="T10" fmla="*/ 273483974 w 21545"/>
                <a:gd name="T11" fmla="*/ 2147483646 h 21515"/>
                <a:gd name="T12" fmla="*/ 260976991 w 21545"/>
                <a:gd name="T13" fmla="*/ 2147483646 h 21515"/>
                <a:gd name="T14" fmla="*/ 299689027 w 21545"/>
                <a:gd name="T15" fmla="*/ 2000438612 h 21515"/>
                <a:gd name="T16" fmla="*/ 394144999 w 21545"/>
                <a:gd name="T17" fmla="*/ 1331084764 h 21515"/>
                <a:gd name="T18" fmla="*/ 400100348 w 21545"/>
                <a:gd name="T19" fmla="*/ 1282667061 h 21515"/>
                <a:gd name="T20" fmla="*/ 371871543 w 21545"/>
                <a:gd name="T21" fmla="*/ 1098026760 h 21515"/>
                <a:gd name="T22" fmla="*/ 381102730 w 21545"/>
                <a:gd name="T23" fmla="*/ 887045795 h 21515"/>
                <a:gd name="T24" fmla="*/ 505693789 w 21545"/>
                <a:gd name="T25" fmla="*/ 633070619 h 21515"/>
                <a:gd name="T26" fmla="*/ 619864179 w 21545"/>
                <a:gd name="T27" fmla="*/ 647402006 h 21515"/>
                <a:gd name="T28" fmla="*/ 676979112 w 21545"/>
                <a:gd name="T29" fmla="*/ 782589932 h 21515"/>
                <a:gd name="T30" fmla="*/ 671678000 w 21545"/>
                <a:gd name="T31" fmla="*/ 988144878 h 21515"/>
                <a:gd name="T32" fmla="*/ 610036708 w 21545"/>
                <a:gd name="T33" fmla="*/ 1347613164 h 21515"/>
                <a:gd name="T34" fmla="*/ 597531247 w 21545"/>
                <a:gd name="T35" fmla="*/ 1544390415 h 21515"/>
                <a:gd name="T36" fmla="*/ 653334619 w 21545"/>
                <a:gd name="T37" fmla="*/ 1682804821 h 21515"/>
                <a:gd name="T38" fmla="*/ 760239621 w 21545"/>
                <a:gd name="T39" fmla="*/ 1732257195 h 21515"/>
                <a:gd name="T40" fmla="*/ 934799218 w 21545"/>
                <a:gd name="T41" fmla="*/ 1561950859 h 21515"/>
                <a:gd name="T42" fmla="*/ 1044978534 w 21545"/>
                <a:gd name="T43" fmla="*/ 1052963259 h 21515"/>
                <a:gd name="T44" fmla="*/ 1049564369 w 21545"/>
                <a:gd name="T45" fmla="*/ 834236692 h 21515"/>
                <a:gd name="T46" fmla="*/ 975475570 w 21545"/>
                <a:gd name="T47" fmla="*/ 495688256 h 21515"/>
                <a:gd name="T48" fmla="*/ 810147120 w 21545"/>
                <a:gd name="T49" fmla="*/ 310013335 h 21515"/>
                <a:gd name="T50" fmla="*/ 563464522 w 21545"/>
                <a:gd name="T51" fmla="*/ 284707291 h 21515"/>
                <a:gd name="T52" fmla="*/ 240012011 w 21545"/>
                <a:gd name="T53" fmla="*/ 668188978 h 21515"/>
                <a:gd name="T54" fmla="*/ 184922353 w 21545"/>
                <a:gd name="T55" fmla="*/ 1038759595 h 21515"/>
                <a:gd name="T56" fmla="*/ 229470826 w 21545"/>
                <a:gd name="T57" fmla="*/ 1310167541 h 21515"/>
                <a:gd name="T58" fmla="*/ 259666953 w 21545"/>
                <a:gd name="T59" fmla="*/ 1374985922 h 21515"/>
                <a:gd name="T60" fmla="*/ 251805281 w 21545"/>
                <a:gd name="T61" fmla="*/ 1501393627 h 21515"/>
                <a:gd name="T62" fmla="*/ 211127445 w 21545"/>
                <a:gd name="T63" fmla="*/ 1612435275 h 21515"/>
                <a:gd name="T64" fmla="*/ 169141056 w 21545"/>
                <a:gd name="T65" fmla="*/ 1586094610 h 21515"/>
                <a:gd name="T66" fmla="*/ 9706996 w 21545"/>
                <a:gd name="T67" fmla="*/ 1180533357 h 21515"/>
                <a:gd name="T68" fmla="*/ 9706996 w 21545"/>
                <a:gd name="T69" fmla="*/ 828813250 h 21515"/>
                <a:gd name="T70" fmla="*/ 71407764 w 21545"/>
                <a:gd name="T71" fmla="*/ 548367058 h 21515"/>
                <a:gd name="T72" fmla="*/ 299092743 w 21545"/>
                <a:gd name="T73" fmla="*/ 161528642 h 21515"/>
                <a:gd name="T74" fmla="*/ 556197612 w 21545"/>
                <a:gd name="T75" fmla="*/ 15366057 h 21515"/>
                <a:gd name="T76" fmla="*/ 661852052 w 21545"/>
                <a:gd name="T77" fmla="*/ 1162343 h 21515"/>
                <a:gd name="T78" fmla="*/ 946590965 w 21545"/>
                <a:gd name="T79" fmla="*/ 88962082 h 21515"/>
                <a:gd name="T80" fmla="*/ 1142710303 w 21545"/>
                <a:gd name="T81" fmla="*/ 322022613 h 21515"/>
                <a:gd name="T82" fmla="*/ 1263491803 w 21545"/>
                <a:gd name="T83" fmla="*/ 681488322 h 21515"/>
                <a:gd name="T84" fmla="*/ 1283145221 w 21545"/>
                <a:gd name="T85" fmla="*/ 929912333 h 21515"/>
                <a:gd name="T86" fmla="*/ 1269387676 w 21545"/>
                <a:gd name="T87" fmla="*/ 1186988842 h 21515"/>
                <a:gd name="T88" fmla="*/ 1016809205 w 21545"/>
                <a:gd name="T89" fmla="*/ 1888362344 h 21515"/>
                <a:gd name="T90" fmla="*/ 901328778 w 21545"/>
                <a:gd name="T91" fmla="*/ 1976292333 h 21515"/>
                <a:gd name="T92" fmla="*/ 753687987 w 21545"/>
                <a:gd name="T93" fmla="*/ 2007021870 h 21515"/>
                <a:gd name="T94" fmla="*/ 623140016 w 21545"/>
                <a:gd name="T95" fmla="*/ 1944400504 h 21515"/>
                <a:gd name="T96" fmla="*/ 536544193 w 21545"/>
                <a:gd name="T97" fmla="*/ 1809212526 h 21515"/>
                <a:gd name="T98" fmla="*/ 536544193 w 21545"/>
                <a:gd name="T99" fmla="*/ 1809212526 h 2151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1545" h="21515">
                  <a:moveTo>
                    <a:pt x="9009" y="14012"/>
                  </a:moveTo>
                  <a:cubicBezTo>
                    <a:pt x="8778" y="14713"/>
                    <a:pt x="8545" y="15448"/>
                    <a:pt x="8304" y="16166"/>
                  </a:cubicBezTo>
                  <a:cubicBezTo>
                    <a:pt x="8066" y="16874"/>
                    <a:pt x="7857" y="17593"/>
                    <a:pt x="7511" y="18243"/>
                  </a:cubicBezTo>
                  <a:cubicBezTo>
                    <a:pt x="6937" y="19321"/>
                    <a:pt x="6135" y="20315"/>
                    <a:pt x="5252" y="21206"/>
                  </a:cubicBezTo>
                  <a:cubicBezTo>
                    <a:pt x="5135" y="21325"/>
                    <a:pt x="4970" y="21542"/>
                    <a:pt x="4779" y="21512"/>
                  </a:cubicBezTo>
                  <a:cubicBezTo>
                    <a:pt x="4633" y="21489"/>
                    <a:pt x="4620" y="21380"/>
                    <a:pt x="4592" y="21223"/>
                  </a:cubicBezTo>
                  <a:cubicBezTo>
                    <a:pt x="4436" y="20366"/>
                    <a:pt x="4325" y="19376"/>
                    <a:pt x="4382" y="18413"/>
                  </a:cubicBezTo>
                  <a:cubicBezTo>
                    <a:pt x="4449" y="17316"/>
                    <a:pt x="4751" y="16405"/>
                    <a:pt x="5032" y="15493"/>
                  </a:cubicBezTo>
                  <a:cubicBezTo>
                    <a:pt x="5568" y="13758"/>
                    <a:pt x="6078" y="12056"/>
                    <a:pt x="6618" y="10309"/>
                  </a:cubicBezTo>
                  <a:cubicBezTo>
                    <a:pt x="6654" y="10193"/>
                    <a:pt x="6751" y="10001"/>
                    <a:pt x="6718" y="9934"/>
                  </a:cubicBezTo>
                  <a:cubicBezTo>
                    <a:pt x="6473" y="9449"/>
                    <a:pt x="6314" y="9013"/>
                    <a:pt x="6244" y="8504"/>
                  </a:cubicBezTo>
                  <a:cubicBezTo>
                    <a:pt x="6163" y="7919"/>
                    <a:pt x="6225" y="7373"/>
                    <a:pt x="6399" y="6870"/>
                  </a:cubicBezTo>
                  <a:cubicBezTo>
                    <a:pt x="6703" y="5980"/>
                    <a:pt x="7407" y="5191"/>
                    <a:pt x="8491" y="4903"/>
                  </a:cubicBezTo>
                  <a:cubicBezTo>
                    <a:pt x="9180" y="4721"/>
                    <a:pt x="9945" y="4803"/>
                    <a:pt x="10408" y="5014"/>
                  </a:cubicBezTo>
                  <a:cubicBezTo>
                    <a:pt x="10886" y="5231"/>
                    <a:pt x="11213" y="5575"/>
                    <a:pt x="11367" y="6061"/>
                  </a:cubicBezTo>
                  <a:cubicBezTo>
                    <a:pt x="11530" y="6579"/>
                    <a:pt x="11409" y="7198"/>
                    <a:pt x="11278" y="7653"/>
                  </a:cubicBezTo>
                  <a:cubicBezTo>
                    <a:pt x="10983" y="8677"/>
                    <a:pt x="10596" y="9447"/>
                    <a:pt x="10243" y="10437"/>
                  </a:cubicBezTo>
                  <a:cubicBezTo>
                    <a:pt x="10068" y="10927"/>
                    <a:pt x="9871" y="11431"/>
                    <a:pt x="10033" y="11961"/>
                  </a:cubicBezTo>
                  <a:cubicBezTo>
                    <a:pt x="10183" y="12446"/>
                    <a:pt x="10516" y="12781"/>
                    <a:pt x="10970" y="13033"/>
                  </a:cubicBezTo>
                  <a:cubicBezTo>
                    <a:pt x="11440" y="13293"/>
                    <a:pt x="11996" y="13437"/>
                    <a:pt x="12765" y="13416"/>
                  </a:cubicBezTo>
                  <a:cubicBezTo>
                    <a:pt x="14122" y="13380"/>
                    <a:pt x="15065" y="12719"/>
                    <a:pt x="15696" y="12097"/>
                  </a:cubicBezTo>
                  <a:cubicBezTo>
                    <a:pt x="16703" y="11101"/>
                    <a:pt x="17314" y="9755"/>
                    <a:pt x="17546" y="8155"/>
                  </a:cubicBezTo>
                  <a:cubicBezTo>
                    <a:pt x="17620" y="7639"/>
                    <a:pt x="17676" y="7046"/>
                    <a:pt x="17623" y="6461"/>
                  </a:cubicBezTo>
                  <a:cubicBezTo>
                    <a:pt x="17527" y="5381"/>
                    <a:pt x="17083" y="4513"/>
                    <a:pt x="16379" y="3839"/>
                  </a:cubicBezTo>
                  <a:cubicBezTo>
                    <a:pt x="15708" y="3198"/>
                    <a:pt x="14758" y="2688"/>
                    <a:pt x="13603" y="2401"/>
                  </a:cubicBezTo>
                  <a:cubicBezTo>
                    <a:pt x="12457" y="2116"/>
                    <a:pt x="10870" y="2021"/>
                    <a:pt x="9461" y="2205"/>
                  </a:cubicBezTo>
                  <a:cubicBezTo>
                    <a:pt x="6900" y="2539"/>
                    <a:pt x="5093" y="3646"/>
                    <a:pt x="4030" y="5175"/>
                  </a:cubicBezTo>
                  <a:cubicBezTo>
                    <a:pt x="3472" y="5977"/>
                    <a:pt x="3105" y="6898"/>
                    <a:pt x="3105" y="8045"/>
                  </a:cubicBezTo>
                  <a:cubicBezTo>
                    <a:pt x="3105" y="8928"/>
                    <a:pt x="3392" y="9614"/>
                    <a:pt x="3853" y="10147"/>
                  </a:cubicBezTo>
                  <a:cubicBezTo>
                    <a:pt x="4000" y="10317"/>
                    <a:pt x="4217" y="10456"/>
                    <a:pt x="4360" y="10649"/>
                  </a:cubicBezTo>
                  <a:cubicBezTo>
                    <a:pt x="4564" y="10923"/>
                    <a:pt x="4329" y="11332"/>
                    <a:pt x="4228" y="11628"/>
                  </a:cubicBezTo>
                  <a:cubicBezTo>
                    <a:pt x="4106" y="11986"/>
                    <a:pt x="4094" y="12480"/>
                    <a:pt x="3545" y="12488"/>
                  </a:cubicBezTo>
                  <a:cubicBezTo>
                    <a:pt x="3319" y="12492"/>
                    <a:pt x="3033" y="12365"/>
                    <a:pt x="2840" y="12284"/>
                  </a:cubicBezTo>
                  <a:cubicBezTo>
                    <a:pt x="1399" y="11677"/>
                    <a:pt x="523" y="10574"/>
                    <a:pt x="163" y="9143"/>
                  </a:cubicBezTo>
                  <a:cubicBezTo>
                    <a:pt x="-55" y="8274"/>
                    <a:pt x="-54" y="7259"/>
                    <a:pt x="163" y="6419"/>
                  </a:cubicBezTo>
                  <a:cubicBezTo>
                    <a:pt x="374" y="5606"/>
                    <a:pt x="766" y="4856"/>
                    <a:pt x="1199" y="4247"/>
                  </a:cubicBezTo>
                  <a:cubicBezTo>
                    <a:pt x="2099" y="2984"/>
                    <a:pt x="3417" y="1973"/>
                    <a:pt x="5022" y="1251"/>
                  </a:cubicBezTo>
                  <a:cubicBezTo>
                    <a:pt x="6255" y="696"/>
                    <a:pt x="7647" y="306"/>
                    <a:pt x="9339" y="119"/>
                  </a:cubicBezTo>
                  <a:cubicBezTo>
                    <a:pt x="9901" y="57"/>
                    <a:pt x="10482" y="31"/>
                    <a:pt x="11113" y="9"/>
                  </a:cubicBezTo>
                  <a:cubicBezTo>
                    <a:pt x="12956" y="-58"/>
                    <a:pt x="14632" y="260"/>
                    <a:pt x="15894" y="689"/>
                  </a:cubicBezTo>
                  <a:cubicBezTo>
                    <a:pt x="17226" y="1142"/>
                    <a:pt x="18288" y="1746"/>
                    <a:pt x="19187" y="2494"/>
                  </a:cubicBezTo>
                  <a:cubicBezTo>
                    <a:pt x="20113" y="3264"/>
                    <a:pt x="20787" y="4159"/>
                    <a:pt x="21215" y="5278"/>
                  </a:cubicBezTo>
                  <a:cubicBezTo>
                    <a:pt x="21437" y="5860"/>
                    <a:pt x="21545" y="6483"/>
                    <a:pt x="21545" y="7202"/>
                  </a:cubicBezTo>
                  <a:cubicBezTo>
                    <a:pt x="21545" y="7923"/>
                    <a:pt x="21453" y="8558"/>
                    <a:pt x="21314" y="9193"/>
                  </a:cubicBezTo>
                  <a:cubicBezTo>
                    <a:pt x="20790" y="11573"/>
                    <a:pt x="19303" y="13518"/>
                    <a:pt x="17073" y="14625"/>
                  </a:cubicBezTo>
                  <a:cubicBezTo>
                    <a:pt x="16532" y="14894"/>
                    <a:pt x="15877" y="15141"/>
                    <a:pt x="15134" y="15306"/>
                  </a:cubicBezTo>
                  <a:cubicBezTo>
                    <a:pt x="14397" y="15470"/>
                    <a:pt x="13556" y="15592"/>
                    <a:pt x="12655" y="15544"/>
                  </a:cubicBezTo>
                  <a:cubicBezTo>
                    <a:pt x="11780" y="15499"/>
                    <a:pt x="11065" y="15318"/>
                    <a:pt x="10463" y="15059"/>
                  </a:cubicBezTo>
                  <a:cubicBezTo>
                    <a:pt x="9866" y="14803"/>
                    <a:pt x="9365" y="14488"/>
                    <a:pt x="9009" y="14012"/>
                  </a:cubicBezTo>
                  <a:close/>
                  <a:moveTo>
                    <a:pt x="9009" y="14012"/>
                  </a:moveTo>
                </a:path>
              </a:pathLst>
            </a:custGeom>
            <a:grpFill/>
            <a:ln>
              <a:noFill/>
            </a:ln>
          </p:spPr>
          <p:txBody>
            <a:bodyPr lIns="0" tIns="0" rIns="0" bIns="0"/>
            <a:lstStyle/>
            <a:p>
              <a:endParaRPr lang="en-GB"/>
            </a:p>
          </p:txBody>
        </p:sp>
        <p:sp>
          <p:nvSpPr>
            <p:cNvPr id="15" name="AutoShape 14"/>
            <p:cNvSpPr>
              <a:spLocks/>
            </p:cNvSpPr>
            <p:nvPr/>
          </p:nvSpPr>
          <p:spPr bwMode="auto">
            <a:xfrm>
              <a:off x="2480002" y="5441857"/>
              <a:ext cx="602181" cy="549042"/>
            </a:xfrm>
            <a:custGeom>
              <a:avLst/>
              <a:gdLst>
                <a:gd name="T0" fmla="*/ 2147483646 w 21590"/>
                <a:gd name="T1" fmla="*/ 303068522 h 16690"/>
                <a:gd name="T2" fmla="*/ 2147483646 w 21590"/>
                <a:gd name="T3" fmla="*/ 614467900 h 16690"/>
                <a:gd name="T4" fmla="*/ 0 w 21590"/>
                <a:gd name="T5" fmla="*/ 2147483646 h 16690"/>
                <a:gd name="T6" fmla="*/ 782832664 w 21590"/>
                <a:gd name="T7" fmla="*/ 1946161268 h 16690"/>
                <a:gd name="T8" fmla="*/ 286036553 w 21590"/>
                <a:gd name="T9" fmla="*/ 1513714635 h 16690"/>
                <a:gd name="T10" fmla="*/ 511874951 w 21590"/>
                <a:gd name="T11" fmla="*/ 1496463517 h 16690"/>
                <a:gd name="T12" fmla="*/ 90358306 w 21590"/>
                <a:gd name="T13" fmla="*/ 891067454 h 16690"/>
                <a:gd name="T14" fmla="*/ 316196704 w 21590"/>
                <a:gd name="T15" fmla="*/ 942966873 h 16690"/>
                <a:gd name="T16" fmla="*/ 150558932 w 21590"/>
                <a:gd name="T17" fmla="*/ 112721961 h 16690"/>
                <a:gd name="T18" fmla="*/ 1279628774 w 21590"/>
                <a:gd name="T19" fmla="*/ 770017444 h 16690"/>
                <a:gd name="T20" fmla="*/ 2147483646 w 21590"/>
                <a:gd name="T21" fmla="*/ 199269682 h 16690"/>
                <a:gd name="T22" fmla="*/ 2147483646 w 21590"/>
                <a:gd name="T23" fmla="*/ 60822541 h 16690"/>
                <a:gd name="T24" fmla="*/ 2147483646 w 21590"/>
                <a:gd name="T25" fmla="*/ 389470283 h 16690"/>
                <a:gd name="T26" fmla="*/ 2147483646 w 21590"/>
                <a:gd name="T27" fmla="*/ 303068522 h 16690"/>
                <a:gd name="T28" fmla="*/ 2147483646 w 21590"/>
                <a:gd name="T29" fmla="*/ 303068522 h 1669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1590" h="16690">
                  <a:moveTo>
                    <a:pt x="21590" y="2038"/>
                  </a:moveTo>
                  <a:cubicBezTo>
                    <a:pt x="21486" y="2795"/>
                    <a:pt x="20307" y="3555"/>
                    <a:pt x="19593" y="4132"/>
                  </a:cubicBezTo>
                  <a:cubicBezTo>
                    <a:pt x="20298" y="13815"/>
                    <a:pt x="8559" y="19854"/>
                    <a:pt x="0" y="14947"/>
                  </a:cubicBezTo>
                  <a:cubicBezTo>
                    <a:pt x="2400" y="14964"/>
                    <a:pt x="5061" y="14350"/>
                    <a:pt x="6489" y="13087"/>
                  </a:cubicBezTo>
                  <a:cubicBezTo>
                    <a:pt x="4412" y="12774"/>
                    <a:pt x="2942" y="11896"/>
                    <a:pt x="2371" y="10179"/>
                  </a:cubicBezTo>
                  <a:cubicBezTo>
                    <a:pt x="2979" y="10126"/>
                    <a:pt x="3833" y="10301"/>
                    <a:pt x="4243" y="10063"/>
                  </a:cubicBezTo>
                  <a:cubicBezTo>
                    <a:pt x="2343" y="9391"/>
                    <a:pt x="841" y="8348"/>
                    <a:pt x="749" y="5992"/>
                  </a:cubicBezTo>
                  <a:cubicBezTo>
                    <a:pt x="1425" y="6059"/>
                    <a:pt x="1777" y="6430"/>
                    <a:pt x="2621" y="6341"/>
                  </a:cubicBezTo>
                  <a:cubicBezTo>
                    <a:pt x="1392" y="5607"/>
                    <a:pt x="-10" y="2816"/>
                    <a:pt x="1248" y="758"/>
                  </a:cubicBezTo>
                  <a:cubicBezTo>
                    <a:pt x="3477" y="3062"/>
                    <a:pt x="6259" y="4849"/>
                    <a:pt x="10607" y="5178"/>
                  </a:cubicBezTo>
                  <a:cubicBezTo>
                    <a:pt x="9529" y="903"/>
                    <a:pt x="15610" y="-1746"/>
                    <a:pt x="18345" y="1340"/>
                  </a:cubicBezTo>
                  <a:cubicBezTo>
                    <a:pt x="19408" y="1129"/>
                    <a:pt x="20305" y="763"/>
                    <a:pt x="21215" y="409"/>
                  </a:cubicBezTo>
                  <a:cubicBezTo>
                    <a:pt x="20842" y="1380"/>
                    <a:pt x="20085" y="1993"/>
                    <a:pt x="19343" y="2619"/>
                  </a:cubicBezTo>
                  <a:cubicBezTo>
                    <a:pt x="20149" y="2479"/>
                    <a:pt x="21001" y="2381"/>
                    <a:pt x="21590" y="2038"/>
                  </a:cubicBezTo>
                  <a:close/>
                  <a:moveTo>
                    <a:pt x="21590" y="2038"/>
                  </a:moveTo>
                </a:path>
              </a:pathLst>
            </a:custGeom>
            <a:grpFill/>
            <a:ln>
              <a:noFill/>
            </a:ln>
          </p:spPr>
          <p:txBody>
            <a:bodyPr lIns="0" tIns="0" rIns="0" bIns="0"/>
            <a:lstStyle/>
            <a:p>
              <a:endParaRPr lang="en-GB"/>
            </a:p>
          </p:txBody>
        </p:sp>
        <p:sp>
          <p:nvSpPr>
            <p:cNvPr id="16" name="AutoShape 15"/>
            <p:cNvSpPr>
              <a:spLocks/>
            </p:cNvSpPr>
            <p:nvPr/>
          </p:nvSpPr>
          <p:spPr bwMode="auto">
            <a:xfrm>
              <a:off x="2007841" y="5388718"/>
              <a:ext cx="280478" cy="602180"/>
            </a:xfrm>
            <a:custGeom>
              <a:avLst/>
              <a:gdLst>
                <a:gd name="T0" fmla="*/ 262945285 w 21600"/>
                <a:gd name="T1" fmla="*/ 616631 h 21437"/>
                <a:gd name="T2" fmla="*/ 262945285 w 21600"/>
                <a:gd name="T3" fmla="*/ 451557226 h 21437"/>
                <a:gd name="T4" fmla="*/ 180361170 w 21600"/>
                <a:gd name="T5" fmla="*/ 514655930 h 21437"/>
                <a:gd name="T6" fmla="*/ 173604519 w 21600"/>
                <a:gd name="T7" fmla="*/ 869221096 h 21437"/>
                <a:gd name="T8" fmla="*/ 262945285 w 21600"/>
                <a:gd name="T9" fmla="*/ 869221096 h 21437"/>
                <a:gd name="T10" fmla="*/ 252829379 w 21600"/>
                <a:gd name="T11" fmla="*/ 1326201898 h 21437"/>
                <a:gd name="T12" fmla="*/ 176977025 w 21600"/>
                <a:gd name="T13" fmla="*/ 1326201898 h 21437"/>
                <a:gd name="T14" fmla="*/ 176977025 w 21600"/>
                <a:gd name="T15" fmla="*/ 2147483646 h 21437"/>
                <a:gd name="T16" fmla="*/ 57300181 w 21600"/>
                <a:gd name="T17" fmla="*/ 2147483646 h 21437"/>
                <a:gd name="T18" fmla="*/ 57300181 w 21600"/>
                <a:gd name="T19" fmla="*/ 1326201898 h 21437"/>
                <a:gd name="T20" fmla="*/ 0 w 21600"/>
                <a:gd name="T21" fmla="*/ 1326201898 h 21437"/>
                <a:gd name="T22" fmla="*/ 0 w 21600"/>
                <a:gd name="T23" fmla="*/ 869221096 h 21437"/>
                <a:gd name="T24" fmla="*/ 55620013 w 21600"/>
                <a:gd name="T25" fmla="*/ 869221096 h 21437"/>
                <a:gd name="T26" fmla="*/ 87648428 w 21600"/>
                <a:gd name="T27" fmla="*/ 152203103 h 21437"/>
                <a:gd name="T28" fmla="*/ 262945285 w 21600"/>
                <a:gd name="T29" fmla="*/ 616631 h 21437"/>
                <a:gd name="T30" fmla="*/ 262945285 w 21600"/>
                <a:gd name="T31" fmla="*/ 616631 h 2143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1600" h="21437">
                  <a:moveTo>
                    <a:pt x="21600" y="5"/>
                  </a:moveTo>
                  <a:cubicBezTo>
                    <a:pt x="21600" y="1241"/>
                    <a:pt x="21600" y="3664"/>
                    <a:pt x="21600" y="3664"/>
                  </a:cubicBezTo>
                  <a:cubicBezTo>
                    <a:pt x="21600" y="3664"/>
                    <a:pt x="15693" y="3516"/>
                    <a:pt x="14816" y="4176"/>
                  </a:cubicBezTo>
                  <a:cubicBezTo>
                    <a:pt x="14095" y="4718"/>
                    <a:pt x="14328" y="5933"/>
                    <a:pt x="14261" y="7053"/>
                  </a:cubicBezTo>
                  <a:cubicBezTo>
                    <a:pt x="16662" y="7053"/>
                    <a:pt x="19200" y="7053"/>
                    <a:pt x="21600" y="7053"/>
                  </a:cubicBezTo>
                  <a:cubicBezTo>
                    <a:pt x="21438" y="8341"/>
                    <a:pt x="21132" y="9564"/>
                    <a:pt x="20769" y="10761"/>
                  </a:cubicBezTo>
                  <a:cubicBezTo>
                    <a:pt x="18692" y="10761"/>
                    <a:pt x="14538" y="10761"/>
                    <a:pt x="14538" y="10761"/>
                  </a:cubicBezTo>
                  <a:lnTo>
                    <a:pt x="14538" y="21437"/>
                  </a:lnTo>
                  <a:cubicBezTo>
                    <a:pt x="14538" y="21437"/>
                    <a:pt x="7938" y="21437"/>
                    <a:pt x="4707" y="21437"/>
                  </a:cubicBezTo>
                  <a:cubicBezTo>
                    <a:pt x="4709" y="18133"/>
                    <a:pt x="4705" y="14278"/>
                    <a:pt x="4707" y="10761"/>
                  </a:cubicBezTo>
                  <a:cubicBezTo>
                    <a:pt x="3137" y="10761"/>
                    <a:pt x="1568" y="10761"/>
                    <a:pt x="0" y="10761"/>
                  </a:cubicBezTo>
                  <a:cubicBezTo>
                    <a:pt x="0" y="9525"/>
                    <a:pt x="0" y="8288"/>
                    <a:pt x="0" y="7053"/>
                  </a:cubicBezTo>
                  <a:cubicBezTo>
                    <a:pt x="1522" y="7053"/>
                    <a:pt x="3046" y="7053"/>
                    <a:pt x="4569" y="7053"/>
                  </a:cubicBezTo>
                  <a:cubicBezTo>
                    <a:pt x="4787" y="4587"/>
                    <a:pt x="4552" y="2480"/>
                    <a:pt x="7200" y="1235"/>
                  </a:cubicBezTo>
                  <a:cubicBezTo>
                    <a:pt x="10176" y="-163"/>
                    <a:pt x="15466" y="8"/>
                    <a:pt x="21600" y="5"/>
                  </a:cubicBezTo>
                  <a:close/>
                  <a:moveTo>
                    <a:pt x="21600" y="5"/>
                  </a:moveTo>
                </a:path>
              </a:pathLst>
            </a:custGeom>
            <a:grpFill/>
            <a:ln>
              <a:noFill/>
            </a:ln>
          </p:spPr>
          <p:txBody>
            <a:bodyPr lIns="0" tIns="0" rIns="0" bIns="0"/>
            <a:lstStyle/>
            <a:p>
              <a:endParaRPr lang="en-GB"/>
            </a:p>
          </p:txBody>
        </p:sp>
      </p:grpSp>
      <p:sp>
        <p:nvSpPr>
          <p:cNvPr id="17" name="TextBox 16"/>
          <p:cNvSpPr txBox="1"/>
          <p:nvPr/>
        </p:nvSpPr>
        <p:spPr>
          <a:xfrm>
            <a:off x="3424758" y="2095176"/>
            <a:ext cx="2180405" cy="707886"/>
          </a:xfrm>
          <a:prstGeom prst="rect">
            <a:avLst/>
          </a:prstGeom>
          <a:noFill/>
        </p:spPr>
        <p:txBody>
          <a:bodyPr wrap="none" rtlCol="0">
            <a:spAutoFit/>
          </a:bodyPr>
          <a:lstStyle/>
          <a:p>
            <a:endParaRPr lang="en-US" sz="2000" b="1" dirty="0" smtClean="0">
              <a:solidFill>
                <a:schemeClr val="bg2"/>
              </a:solidFill>
            </a:endParaRPr>
          </a:p>
          <a:p>
            <a:r>
              <a:rPr lang="en-US" sz="2000" b="1" dirty="0" err="1" smtClean="0">
                <a:solidFill>
                  <a:schemeClr val="bg2"/>
                </a:solidFill>
              </a:rPr>
              <a:t>Gyanesh</a:t>
            </a:r>
            <a:r>
              <a:rPr lang="en-US" sz="2000" b="1" dirty="0" smtClean="0">
                <a:solidFill>
                  <a:schemeClr val="bg2"/>
                </a:solidFill>
              </a:rPr>
              <a:t> </a:t>
            </a:r>
            <a:r>
              <a:rPr lang="en-US" sz="2000" b="1" dirty="0" err="1">
                <a:solidFill>
                  <a:schemeClr val="bg2"/>
                </a:solidFill>
              </a:rPr>
              <a:t>Shukla</a:t>
            </a:r>
            <a:endParaRPr lang="en-GB" sz="2000" b="1" dirty="0">
              <a:solidFill>
                <a:schemeClr val="bg2"/>
              </a:solidFill>
            </a:endParaRPr>
          </a:p>
        </p:txBody>
      </p:sp>
      <p:cxnSp>
        <p:nvCxnSpPr>
          <p:cNvPr id="18" name="Straight Connector 17"/>
          <p:cNvCxnSpPr/>
          <p:nvPr/>
        </p:nvCxnSpPr>
        <p:spPr>
          <a:xfrm>
            <a:off x="3492147" y="2567607"/>
            <a:ext cx="10918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3424758" y="2719637"/>
            <a:ext cx="3565692" cy="646331"/>
          </a:xfrm>
          <a:prstGeom prst="rect">
            <a:avLst/>
          </a:prstGeom>
        </p:spPr>
        <p:txBody>
          <a:bodyPr wrap="square">
            <a:spAutoFit/>
          </a:bodyPr>
          <a:lstStyle/>
          <a:p>
            <a:r>
              <a:rPr lang="en-GB" sz="1200" dirty="0" smtClean="0">
                <a:solidFill>
                  <a:schemeClr val="bg2"/>
                </a:solidFill>
              </a:rPr>
              <a:t> </a:t>
            </a:r>
          </a:p>
          <a:p>
            <a:endParaRPr lang="en-GB" sz="1200" dirty="0" smtClean="0">
              <a:solidFill>
                <a:schemeClr val="bg2"/>
              </a:solidFill>
            </a:endParaRPr>
          </a:p>
          <a:p>
            <a:endParaRPr lang="en-GB" sz="1200" dirty="0">
              <a:solidFill>
                <a:schemeClr val="bg2"/>
              </a:solidFill>
            </a:endParaRPr>
          </a:p>
        </p:txBody>
      </p:sp>
      <p:sp>
        <p:nvSpPr>
          <p:cNvPr id="20" name="TextBox 19"/>
          <p:cNvSpPr txBox="1"/>
          <p:nvPr/>
        </p:nvSpPr>
        <p:spPr>
          <a:xfrm>
            <a:off x="3424758" y="4129560"/>
            <a:ext cx="2133276" cy="400110"/>
          </a:xfrm>
          <a:prstGeom prst="rect">
            <a:avLst/>
          </a:prstGeom>
          <a:noFill/>
        </p:spPr>
        <p:txBody>
          <a:bodyPr wrap="none" rtlCol="0">
            <a:spAutoFit/>
          </a:bodyPr>
          <a:lstStyle/>
          <a:p>
            <a:r>
              <a:rPr lang="en-US" sz="2000" b="1">
                <a:solidFill>
                  <a:schemeClr val="bg2"/>
                </a:solidFill>
              </a:rPr>
              <a:t>ACHIEVEMENTS</a:t>
            </a:r>
            <a:endParaRPr lang="en-GB" sz="2000" b="1">
              <a:solidFill>
                <a:schemeClr val="bg2"/>
              </a:solidFill>
            </a:endParaRPr>
          </a:p>
        </p:txBody>
      </p:sp>
      <p:sp>
        <p:nvSpPr>
          <p:cNvPr id="21" name="Freeform 20"/>
          <p:cNvSpPr>
            <a:spLocks noEditPoints="1"/>
          </p:cNvSpPr>
          <p:nvPr/>
        </p:nvSpPr>
        <p:spPr bwMode="auto">
          <a:xfrm>
            <a:off x="3489258" y="4732770"/>
            <a:ext cx="408375" cy="267161"/>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accent2"/>
          </a:solidFill>
          <a:ln>
            <a:noFill/>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endParaRPr>
          </a:p>
        </p:txBody>
      </p:sp>
      <p:sp>
        <p:nvSpPr>
          <p:cNvPr id="22" name="Freeform 21"/>
          <p:cNvSpPr>
            <a:spLocks noEditPoints="1"/>
          </p:cNvSpPr>
          <p:nvPr/>
        </p:nvSpPr>
        <p:spPr bwMode="auto">
          <a:xfrm>
            <a:off x="3533148" y="5225963"/>
            <a:ext cx="320594" cy="362576"/>
          </a:xfrm>
          <a:custGeom>
            <a:avLst/>
            <a:gdLst>
              <a:gd name="T0" fmla="*/ 20 w 78"/>
              <a:gd name="T1" fmla="*/ 7 h 88"/>
              <a:gd name="T2" fmla="*/ 20 w 78"/>
              <a:gd name="T3" fmla="*/ 11 h 88"/>
              <a:gd name="T4" fmla="*/ 5 w 78"/>
              <a:gd name="T5" fmla="*/ 6 h 88"/>
              <a:gd name="T6" fmla="*/ 1 w 78"/>
              <a:gd name="T7" fmla="*/ 8 h 88"/>
              <a:gd name="T8" fmla="*/ 0 w 78"/>
              <a:gd name="T9" fmla="*/ 20 h 88"/>
              <a:gd name="T10" fmla="*/ 3 w 78"/>
              <a:gd name="T11" fmla="*/ 38 h 88"/>
              <a:gd name="T12" fmla="*/ 17 w 78"/>
              <a:gd name="T13" fmla="*/ 49 h 88"/>
              <a:gd name="T14" fmla="*/ 20 w 78"/>
              <a:gd name="T15" fmla="*/ 50 h 88"/>
              <a:gd name="T16" fmla="*/ 20 w 78"/>
              <a:gd name="T17" fmla="*/ 49 h 88"/>
              <a:gd name="T18" fmla="*/ 31 w 78"/>
              <a:gd name="T19" fmla="*/ 52 h 88"/>
              <a:gd name="T20" fmla="*/ 31 w 78"/>
              <a:gd name="T21" fmla="*/ 64 h 88"/>
              <a:gd name="T22" fmla="*/ 27 w 78"/>
              <a:gd name="T23" fmla="*/ 64 h 88"/>
              <a:gd name="T24" fmla="*/ 27 w 78"/>
              <a:gd name="T25" fmla="*/ 68 h 88"/>
              <a:gd name="T26" fmla="*/ 15 w 78"/>
              <a:gd name="T27" fmla="*/ 68 h 88"/>
              <a:gd name="T28" fmla="*/ 15 w 78"/>
              <a:gd name="T29" fmla="*/ 88 h 88"/>
              <a:gd name="T30" fmla="*/ 64 w 78"/>
              <a:gd name="T31" fmla="*/ 88 h 88"/>
              <a:gd name="T32" fmla="*/ 64 w 78"/>
              <a:gd name="T33" fmla="*/ 68 h 88"/>
              <a:gd name="T34" fmla="*/ 52 w 78"/>
              <a:gd name="T35" fmla="*/ 68 h 88"/>
              <a:gd name="T36" fmla="*/ 52 w 78"/>
              <a:gd name="T37" fmla="*/ 64 h 88"/>
              <a:gd name="T38" fmla="*/ 47 w 78"/>
              <a:gd name="T39" fmla="*/ 64 h 88"/>
              <a:gd name="T40" fmla="*/ 47 w 78"/>
              <a:gd name="T41" fmla="*/ 52 h 88"/>
              <a:gd name="T42" fmla="*/ 58 w 78"/>
              <a:gd name="T43" fmla="*/ 49 h 88"/>
              <a:gd name="T44" fmla="*/ 58 w 78"/>
              <a:gd name="T45" fmla="*/ 50 h 88"/>
              <a:gd name="T46" fmla="*/ 61 w 78"/>
              <a:gd name="T47" fmla="*/ 49 h 88"/>
              <a:gd name="T48" fmla="*/ 75 w 78"/>
              <a:gd name="T49" fmla="*/ 38 h 88"/>
              <a:gd name="T50" fmla="*/ 78 w 78"/>
              <a:gd name="T51" fmla="*/ 20 h 88"/>
              <a:gd name="T52" fmla="*/ 77 w 78"/>
              <a:gd name="T53" fmla="*/ 8 h 88"/>
              <a:gd name="T54" fmla="*/ 73 w 78"/>
              <a:gd name="T55" fmla="*/ 6 h 88"/>
              <a:gd name="T56" fmla="*/ 58 w 78"/>
              <a:gd name="T57" fmla="*/ 11 h 88"/>
              <a:gd name="T58" fmla="*/ 58 w 78"/>
              <a:gd name="T59" fmla="*/ 7 h 88"/>
              <a:gd name="T60" fmla="*/ 60 w 78"/>
              <a:gd name="T61" fmla="*/ 7 h 88"/>
              <a:gd name="T62" fmla="*/ 60 w 78"/>
              <a:gd name="T63" fmla="*/ 0 h 88"/>
              <a:gd name="T64" fmla="*/ 17 w 78"/>
              <a:gd name="T65" fmla="*/ 0 h 88"/>
              <a:gd name="T66" fmla="*/ 17 w 78"/>
              <a:gd name="T67" fmla="*/ 7 h 88"/>
              <a:gd name="T68" fmla="*/ 20 w 78"/>
              <a:gd name="T69" fmla="*/ 7 h 88"/>
              <a:gd name="T70" fmla="*/ 63 w 78"/>
              <a:gd name="T71" fmla="*/ 42 h 88"/>
              <a:gd name="T72" fmla="*/ 59 w 78"/>
              <a:gd name="T73" fmla="*/ 20 h 88"/>
              <a:gd name="T74" fmla="*/ 61 w 78"/>
              <a:gd name="T75" fmla="*/ 22 h 88"/>
              <a:gd name="T76" fmla="*/ 66 w 78"/>
              <a:gd name="T77" fmla="*/ 18 h 88"/>
              <a:gd name="T78" fmla="*/ 64 w 78"/>
              <a:gd name="T79" fmla="*/ 16 h 88"/>
              <a:gd name="T80" fmla="*/ 71 w 78"/>
              <a:gd name="T81" fmla="*/ 13 h 88"/>
              <a:gd name="T82" fmla="*/ 72 w 78"/>
              <a:gd name="T83" fmla="*/ 20 h 88"/>
              <a:gd name="T84" fmla="*/ 69 w 78"/>
              <a:gd name="T85" fmla="*/ 36 h 88"/>
              <a:gd name="T86" fmla="*/ 63 w 78"/>
              <a:gd name="T87" fmla="*/ 42 h 88"/>
              <a:gd name="T88" fmla="*/ 19 w 78"/>
              <a:gd name="T89" fmla="*/ 20 h 88"/>
              <a:gd name="T90" fmla="*/ 15 w 78"/>
              <a:gd name="T91" fmla="*/ 42 h 88"/>
              <a:gd name="T92" fmla="*/ 9 w 78"/>
              <a:gd name="T93" fmla="*/ 36 h 88"/>
              <a:gd name="T94" fmla="*/ 6 w 78"/>
              <a:gd name="T95" fmla="*/ 20 h 88"/>
              <a:gd name="T96" fmla="*/ 7 w 78"/>
              <a:gd name="T97" fmla="*/ 13 h 88"/>
              <a:gd name="T98" fmla="*/ 14 w 78"/>
              <a:gd name="T99" fmla="*/ 16 h 88"/>
              <a:gd name="T100" fmla="*/ 12 w 78"/>
              <a:gd name="T101" fmla="*/ 18 h 88"/>
              <a:gd name="T102" fmla="*/ 17 w 78"/>
              <a:gd name="T103" fmla="*/ 22 h 88"/>
              <a:gd name="T104" fmla="*/ 19 w 78"/>
              <a:gd name="T105" fmla="*/ 20 h 88"/>
              <a:gd name="T106" fmla="*/ 32 w 78"/>
              <a:gd name="T107" fmla="*/ 10 h 88"/>
              <a:gd name="T108" fmla="*/ 32 w 78"/>
              <a:gd name="T109" fmla="*/ 45 h 88"/>
              <a:gd name="T110" fmla="*/ 25 w 78"/>
              <a:gd name="T111" fmla="*/ 41 h 88"/>
              <a:gd name="T112" fmla="*/ 28 w 78"/>
              <a:gd name="T113" fmla="*/ 14 h 88"/>
              <a:gd name="T114" fmla="*/ 28 w 78"/>
              <a:gd name="T115" fmla="*/ 10 h 88"/>
              <a:gd name="T116" fmla="*/ 32 w 78"/>
              <a:gd name="T117" fmla="*/ 1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8" h="88">
                <a:moveTo>
                  <a:pt x="20" y="7"/>
                </a:moveTo>
                <a:cubicBezTo>
                  <a:pt x="20" y="8"/>
                  <a:pt x="21" y="10"/>
                  <a:pt x="20" y="11"/>
                </a:cubicBezTo>
                <a:cubicBezTo>
                  <a:pt x="5" y="6"/>
                  <a:pt x="5" y="6"/>
                  <a:pt x="5" y="6"/>
                </a:cubicBezTo>
                <a:cubicBezTo>
                  <a:pt x="1" y="8"/>
                  <a:pt x="1" y="8"/>
                  <a:pt x="1" y="8"/>
                </a:cubicBezTo>
                <a:cubicBezTo>
                  <a:pt x="0" y="11"/>
                  <a:pt x="0" y="16"/>
                  <a:pt x="0" y="20"/>
                </a:cubicBezTo>
                <a:cubicBezTo>
                  <a:pt x="0" y="26"/>
                  <a:pt x="1" y="33"/>
                  <a:pt x="3" y="38"/>
                </a:cubicBezTo>
                <a:cubicBezTo>
                  <a:pt x="6" y="44"/>
                  <a:pt x="10" y="48"/>
                  <a:pt x="17" y="49"/>
                </a:cubicBezTo>
                <a:cubicBezTo>
                  <a:pt x="18" y="50"/>
                  <a:pt x="19" y="50"/>
                  <a:pt x="20" y="50"/>
                </a:cubicBezTo>
                <a:cubicBezTo>
                  <a:pt x="20" y="49"/>
                  <a:pt x="20" y="49"/>
                  <a:pt x="20" y="49"/>
                </a:cubicBezTo>
                <a:cubicBezTo>
                  <a:pt x="22" y="51"/>
                  <a:pt x="26" y="52"/>
                  <a:pt x="31" y="52"/>
                </a:cubicBezTo>
                <a:cubicBezTo>
                  <a:pt x="31" y="64"/>
                  <a:pt x="31" y="64"/>
                  <a:pt x="31" y="64"/>
                </a:cubicBezTo>
                <a:cubicBezTo>
                  <a:pt x="27" y="64"/>
                  <a:pt x="27" y="64"/>
                  <a:pt x="27" y="64"/>
                </a:cubicBezTo>
                <a:cubicBezTo>
                  <a:pt x="27" y="68"/>
                  <a:pt x="27" y="68"/>
                  <a:pt x="27" y="68"/>
                </a:cubicBezTo>
                <a:cubicBezTo>
                  <a:pt x="15" y="68"/>
                  <a:pt x="15" y="68"/>
                  <a:pt x="15" y="68"/>
                </a:cubicBezTo>
                <a:cubicBezTo>
                  <a:pt x="15" y="88"/>
                  <a:pt x="15" y="88"/>
                  <a:pt x="15" y="88"/>
                </a:cubicBezTo>
                <a:cubicBezTo>
                  <a:pt x="64" y="88"/>
                  <a:pt x="64" y="88"/>
                  <a:pt x="64" y="88"/>
                </a:cubicBezTo>
                <a:cubicBezTo>
                  <a:pt x="64" y="68"/>
                  <a:pt x="64" y="68"/>
                  <a:pt x="64" y="68"/>
                </a:cubicBezTo>
                <a:cubicBezTo>
                  <a:pt x="52" y="68"/>
                  <a:pt x="52" y="68"/>
                  <a:pt x="52" y="68"/>
                </a:cubicBezTo>
                <a:cubicBezTo>
                  <a:pt x="52" y="64"/>
                  <a:pt x="52" y="64"/>
                  <a:pt x="52" y="64"/>
                </a:cubicBezTo>
                <a:cubicBezTo>
                  <a:pt x="47" y="64"/>
                  <a:pt x="47" y="64"/>
                  <a:pt x="47" y="64"/>
                </a:cubicBezTo>
                <a:cubicBezTo>
                  <a:pt x="47" y="52"/>
                  <a:pt x="47" y="52"/>
                  <a:pt x="47" y="52"/>
                </a:cubicBezTo>
                <a:cubicBezTo>
                  <a:pt x="52" y="52"/>
                  <a:pt x="56" y="51"/>
                  <a:pt x="58" y="49"/>
                </a:cubicBezTo>
                <a:cubicBezTo>
                  <a:pt x="58" y="50"/>
                  <a:pt x="58" y="50"/>
                  <a:pt x="58" y="50"/>
                </a:cubicBezTo>
                <a:cubicBezTo>
                  <a:pt x="59" y="50"/>
                  <a:pt x="60" y="50"/>
                  <a:pt x="61" y="49"/>
                </a:cubicBezTo>
                <a:cubicBezTo>
                  <a:pt x="68" y="48"/>
                  <a:pt x="72" y="44"/>
                  <a:pt x="75" y="38"/>
                </a:cubicBezTo>
                <a:cubicBezTo>
                  <a:pt x="77" y="33"/>
                  <a:pt x="78" y="26"/>
                  <a:pt x="78" y="20"/>
                </a:cubicBezTo>
                <a:cubicBezTo>
                  <a:pt x="78" y="16"/>
                  <a:pt x="78" y="11"/>
                  <a:pt x="77" y="8"/>
                </a:cubicBezTo>
                <a:cubicBezTo>
                  <a:pt x="73" y="6"/>
                  <a:pt x="73" y="6"/>
                  <a:pt x="73" y="6"/>
                </a:cubicBezTo>
                <a:cubicBezTo>
                  <a:pt x="58" y="11"/>
                  <a:pt x="58" y="11"/>
                  <a:pt x="58" y="11"/>
                </a:cubicBezTo>
                <a:cubicBezTo>
                  <a:pt x="57" y="10"/>
                  <a:pt x="58" y="8"/>
                  <a:pt x="58" y="7"/>
                </a:cubicBezTo>
                <a:cubicBezTo>
                  <a:pt x="60" y="7"/>
                  <a:pt x="60" y="7"/>
                  <a:pt x="60" y="7"/>
                </a:cubicBezTo>
                <a:cubicBezTo>
                  <a:pt x="60" y="0"/>
                  <a:pt x="60" y="0"/>
                  <a:pt x="60" y="0"/>
                </a:cubicBezTo>
                <a:cubicBezTo>
                  <a:pt x="17" y="0"/>
                  <a:pt x="17" y="0"/>
                  <a:pt x="17" y="0"/>
                </a:cubicBezTo>
                <a:cubicBezTo>
                  <a:pt x="17" y="7"/>
                  <a:pt x="17" y="7"/>
                  <a:pt x="17" y="7"/>
                </a:cubicBezTo>
                <a:cubicBezTo>
                  <a:pt x="20" y="7"/>
                  <a:pt x="20" y="7"/>
                  <a:pt x="20" y="7"/>
                </a:cubicBezTo>
                <a:close/>
                <a:moveTo>
                  <a:pt x="63" y="42"/>
                </a:moveTo>
                <a:cubicBezTo>
                  <a:pt x="64" y="36"/>
                  <a:pt x="60" y="28"/>
                  <a:pt x="59" y="20"/>
                </a:cubicBezTo>
                <a:cubicBezTo>
                  <a:pt x="61" y="22"/>
                  <a:pt x="61" y="22"/>
                  <a:pt x="61" y="22"/>
                </a:cubicBezTo>
                <a:cubicBezTo>
                  <a:pt x="66" y="18"/>
                  <a:pt x="66" y="18"/>
                  <a:pt x="66" y="18"/>
                </a:cubicBezTo>
                <a:cubicBezTo>
                  <a:pt x="64" y="16"/>
                  <a:pt x="64" y="16"/>
                  <a:pt x="64" y="16"/>
                </a:cubicBezTo>
                <a:cubicBezTo>
                  <a:pt x="71" y="13"/>
                  <a:pt x="71" y="13"/>
                  <a:pt x="71" y="13"/>
                </a:cubicBezTo>
                <a:cubicBezTo>
                  <a:pt x="72" y="15"/>
                  <a:pt x="72" y="18"/>
                  <a:pt x="72" y="20"/>
                </a:cubicBezTo>
                <a:cubicBezTo>
                  <a:pt x="71" y="26"/>
                  <a:pt x="71" y="31"/>
                  <a:pt x="69" y="36"/>
                </a:cubicBezTo>
                <a:cubicBezTo>
                  <a:pt x="67" y="39"/>
                  <a:pt x="65" y="41"/>
                  <a:pt x="63" y="42"/>
                </a:cubicBezTo>
                <a:close/>
                <a:moveTo>
                  <a:pt x="19" y="20"/>
                </a:moveTo>
                <a:cubicBezTo>
                  <a:pt x="17" y="28"/>
                  <a:pt x="14" y="36"/>
                  <a:pt x="15" y="42"/>
                </a:cubicBezTo>
                <a:cubicBezTo>
                  <a:pt x="13" y="41"/>
                  <a:pt x="11" y="39"/>
                  <a:pt x="9" y="36"/>
                </a:cubicBezTo>
                <a:cubicBezTo>
                  <a:pt x="7" y="31"/>
                  <a:pt x="6" y="26"/>
                  <a:pt x="6" y="20"/>
                </a:cubicBezTo>
                <a:cubicBezTo>
                  <a:pt x="6" y="18"/>
                  <a:pt x="6" y="15"/>
                  <a:pt x="7" y="13"/>
                </a:cubicBezTo>
                <a:cubicBezTo>
                  <a:pt x="14" y="16"/>
                  <a:pt x="14" y="16"/>
                  <a:pt x="14" y="16"/>
                </a:cubicBezTo>
                <a:cubicBezTo>
                  <a:pt x="12" y="18"/>
                  <a:pt x="12" y="18"/>
                  <a:pt x="12" y="18"/>
                </a:cubicBezTo>
                <a:cubicBezTo>
                  <a:pt x="17" y="22"/>
                  <a:pt x="17" y="22"/>
                  <a:pt x="17" y="22"/>
                </a:cubicBezTo>
                <a:cubicBezTo>
                  <a:pt x="19" y="20"/>
                  <a:pt x="19" y="20"/>
                  <a:pt x="19" y="20"/>
                </a:cubicBezTo>
                <a:close/>
                <a:moveTo>
                  <a:pt x="32" y="10"/>
                </a:moveTo>
                <a:cubicBezTo>
                  <a:pt x="32" y="45"/>
                  <a:pt x="32" y="45"/>
                  <a:pt x="32" y="45"/>
                </a:cubicBezTo>
                <a:cubicBezTo>
                  <a:pt x="32" y="45"/>
                  <a:pt x="27" y="45"/>
                  <a:pt x="25" y="41"/>
                </a:cubicBezTo>
                <a:cubicBezTo>
                  <a:pt x="24" y="37"/>
                  <a:pt x="28" y="16"/>
                  <a:pt x="28" y="14"/>
                </a:cubicBezTo>
                <a:cubicBezTo>
                  <a:pt x="28" y="13"/>
                  <a:pt x="28" y="10"/>
                  <a:pt x="28" y="10"/>
                </a:cubicBezTo>
                <a:lnTo>
                  <a:pt x="32" y="1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endParaRPr>
          </a:p>
        </p:txBody>
      </p:sp>
      <p:sp>
        <p:nvSpPr>
          <p:cNvPr id="23" name="TextBox 22"/>
          <p:cNvSpPr txBox="1"/>
          <p:nvPr/>
        </p:nvSpPr>
        <p:spPr>
          <a:xfrm>
            <a:off x="3920418" y="4692466"/>
            <a:ext cx="3567772" cy="1569660"/>
          </a:xfrm>
          <a:prstGeom prst="rect">
            <a:avLst/>
          </a:prstGeom>
          <a:noFill/>
        </p:spPr>
        <p:txBody>
          <a:bodyPr wrap="none" rtlCol="0">
            <a:spAutoFit/>
          </a:bodyPr>
          <a:lstStyle/>
          <a:p>
            <a:r>
              <a:rPr lang="en-GB" sz="1600" b="1" dirty="0">
                <a:solidFill>
                  <a:schemeClr val="bg2"/>
                </a:solidFill>
              </a:rPr>
              <a:t>Graduated From Punjab Technical </a:t>
            </a:r>
          </a:p>
          <a:p>
            <a:r>
              <a:rPr lang="en-GB" sz="1600" b="1" dirty="0">
                <a:solidFill>
                  <a:schemeClr val="bg2"/>
                </a:solidFill>
              </a:rPr>
              <a:t>University, </a:t>
            </a:r>
            <a:r>
              <a:rPr lang="en-GB" sz="1600" b="1" dirty="0" err="1">
                <a:solidFill>
                  <a:schemeClr val="bg2"/>
                </a:solidFill>
              </a:rPr>
              <a:t>Jalandhar</a:t>
            </a:r>
            <a:r>
              <a:rPr lang="en-GB" sz="1600" b="1" dirty="0">
                <a:solidFill>
                  <a:schemeClr val="bg2"/>
                </a:solidFill>
              </a:rPr>
              <a:t> (Punjab)</a:t>
            </a:r>
          </a:p>
          <a:p>
            <a:endParaRPr lang="en-GB" sz="1600" b="1" dirty="0">
              <a:solidFill>
                <a:schemeClr val="bg2"/>
              </a:solidFill>
            </a:endParaRPr>
          </a:p>
          <a:p>
            <a:endParaRPr lang="en-GB" sz="1600" b="1" dirty="0">
              <a:solidFill>
                <a:schemeClr val="bg2"/>
              </a:solidFill>
            </a:endParaRPr>
          </a:p>
          <a:p>
            <a:endParaRPr lang="en-GB" sz="1600" b="1" dirty="0">
              <a:solidFill>
                <a:schemeClr val="bg2"/>
              </a:solidFill>
            </a:endParaRPr>
          </a:p>
          <a:p>
            <a:endParaRPr lang="en-GB" sz="1600" b="1" dirty="0">
              <a:solidFill>
                <a:schemeClr val="bg2"/>
              </a:solidFill>
            </a:endParaRPr>
          </a:p>
        </p:txBody>
      </p:sp>
      <p:sp>
        <p:nvSpPr>
          <p:cNvPr id="25" name="Freeform 24"/>
          <p:cNvSpPr>
            <a:spLocks noEditPoints="1"/>
          </p:cNvSpPr>
          <p:nvPr/>
        </p:nvSpPr>
        <p:spPr bwMode="auto">
          <a:xfrm>
            <a:off x="3487475" y="5811157"/>
            <a:ext cx="448449" cy="362576"/>
          </a:xfrm>
          <a:custGeom>
            <a:avLst/>
            <a:gdLst>
              <a:gd name="T0" fmla="*/ 86 w 109"/>
              <a:gd name="T1" fmla="*/ 88 h 88"/>
              <a:gd name="T2" fmla="*/ 84 w 109"/>
              <a:gd name="T3" fmla="*/ 44 h 88"/>
              <a:gd name="T4" fmla="*/ 80 w 109"/>
              <a:gd name="T5" fmla="*/ 71 h 88"/>
              <a:gd name="T6" fmla="*/ 109 w 109"/>
              <a:gd name="T7" fmla="*/ 0 h 88"/>
              <a:gd name="T8" fmla="*/ 92 w 109"/>
              <a:gd name="T9" fmla="*/ 33 h 88"/>
              <a:gd name="T10" fmla="*/ 80 w 109"/>
              <a:gd name="T11" fmla="*/ 25 h 88"/>
              <a:gd name="T12" fmla="*/ 67 w 109"/>
              <a:gd name="T13" fmla="*/ 68 h 88"/>
              <a:gd name="T14" fmla="*/ 37 w 109"/>
              <a:gd name="T15" fmla="*/ 73 h 88"/>
              <a:gd name="T16" fmla="*/ 19 w 109"/>
              <a:gd name="T17" fmla="*/ 63 h 88"/>
              <a:gd name="T18" fmla="*/ 0 w 109"/>
              <a:gd name="T19" fmla="*/ 56 h 88"/>
              <a:gd name="T20" fmla="*/ 25 w 109"/>
              <a:gd name="T21" fmla="*/ 48 h 88"/>
              <a:gd name="T22" fmla="*/ 30 w 109"/>
              <a:gd name="T23" fmla="*/ 57 h 88"/>
              <a:gd name="T24" fmla="*/ 44 w 109"/>
              <a:gd name="T25" fmla="*/ 29 h 88"/>
              <a:gd name="T26" fmla="*/ 66 w 109"/>
              <a:gd name="T27" fmla="*/ 50 h 88"/>
              <a:gd name="T28" fmla="*/ 68 w 109"/>
              <a:gd name="T29" fmla="*/ 18 h 88"/>
              <a:gd name="T30" fmla="*/ 78 w 109"/>
              <a:gd name="T31" fmla="*/ 12 h 88"/>
              <a:gd name="T32" fmla="*/ 90 w 109"/>
              <a:gd name="T33" fmla="*/ 1 h 88"/>
              <a:gd name="T34" fmla="*/ 22 w 109"/>
              <a:gd name="T35" fmla="*/ 88 h 88"/>
              <a:gd name="T36" fmla="*/ 29 w 109"/>
              <a:gd name="T37" fmla="*/ 80 h 88"/>
              <a:gd name="T38" fmla="*/ 22 w 109"/>
              <a:gd name="T39" fmla="*/ 79 h 88"/>
              <a:gd name="T40" fmla="*/ 11 w 109"/>
              <a:gd name="T41" fmla="*/ 88 h 88"/>
              <a:gd name="T42" fmla="*/ 17 w 109"/>
              <a:gd name="T43" fmla="*/ 71 h 88"/>
              <a:gd name="T44" fmla="*/ 11 w 109"/>
              <a:gd name="T45" fmla="*/ 73 h 88"/>
              <a:gd name="T46" fmla="*/ 34 w 109"/>
              <a:gd name="T47" fmla="*/ 88 h 88"/>
              <a:gd name="T48" fmla="*/ 40 w 109"/>
              <a:gd name="T49" fmla="*/ 79 h 88"/>
              <a:gd name="T50" fmla="*/ 34 w 109"/>
              <a:gd name="T51" fmla="*/ 80 h 88"/>
              <a:gd name="T52" fmla="*/ 45 w 109"/>
              <a:gd name="T53" fmla="*/ 88 h 88"/>
              <a:gd name="T54" fmla="*/ 52 w 109"/>
              <a:gd name="T55" fmla="*/ 63 h 88"/>
              <a:gd name="T56" fmla="*/ 45 w 109"/>
              <a:gd name="T57" fmla="*/ 69 h 88"/>
              <a:gd name="T58" fmla="*/ 57 w 109"/>
              <a:gd name="T59" fmla="*/ 88 h 88"/>
              <a:gd name="T60" fmla="*/ 63 w 109"/>
              <a:gd name="T61" fmla="*/ 73 h 88"/>
              <a:gd name="T62" fmla="*/ 57 w 109"/>
              <a:gd name="T63" fmla="*/ 88 h 88"/>
              <a:gd name="T64" fmla="*/ 75 w 109"/>
              <a:gd name="T65" fmla="*/ 88 h 88"/>
              <a:gd name="T66" fmla="*/ 68 w 109"/>
              <a:gd name="T67"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9" h="88">
                <a:moveTo>
                  <a:pt x="80" y="88"/>
                </a:moveTo>
                <a:cubicBezTo>
                  <a:pt x="86" y="88"/>
                  <a:pt x="86" y="88"/>
                  <a:pt x="86" y="88"/>
                </a:cubicBezTo>
                <a:cubicBezTo>
                  <a:pt x="86" y="44"/>
                  <a:pt x="86" y="44"/>
                  <a:pt x="86" y="44"/>
                </a:cubicBezTo>
                <a:cubicBezTo>
                  <a:pt x="84" y="44"/>
                  <a:pt x="84" y="44"/>
                  <a:pt x="84" y="44"/>
                </a:cubicBezTo>
                <a:cubicBezTo>
                  <a:pt x="82" y="70"/>
                  <a:pt x="82" y="70"/>
                  <a:pt x="82" y="70"/>
                </a:cubicBezTo>
                <a:cubicBezTo>
                  <a:pt x="80" y="71"/>
                  <a:pt x="80" y="71"/>
                  <a:pt x="80" y="71"/>
                </a:cubicBezTo>
                <a:cubicBezTo>
                  <a:pt x="80" y="88"/>
                  <a:pt x="80" y="88"/>
                  <a:pt x="80" y="88"/>
                </a:cubicBezTo>
                <a:close/>
                <a:moveTo>
                  <a:pt x="109" y="0"/>
                </a:moveTo>
                <a:cubicBezTo>
                  <a:pt x="100" y="17"/>
                  <a:pt x="100" y="17"/>
                  <a:pt x="100" y="17"/>
                </a:cubicBezTo>
                <a:cubicBezTo>
                  <a:pt x="92" y="33"/>
                  <a:pt x="92" y="33"/>
                  <a:pt x="92" y="33"/>
                </a:cubicBezTo>
                <a:cubicBezTo>
                  <a:pt x="84" y="22"/>
                  <a:pt x="84" y="22"/>
                  <a:pt x="84" y="22"/>
                </a:cubicBezTo>
                <a:cubicBezTo>
                  <a:pt x="80" y="25"/>
                  <a:pt x="80" y="25"/>
                  <a:pt x="80" y="25"/>
                </a:cubicBezTo>
                <a:cubicBezTo>
                  <a:pt x="77" y="64"/>
                  <a:pt x="77" y="64"/>
                  <a:pt x="77" y="64"/>
                </a:cubicBezTo>
                <a:cubicBezTo>
                  <a:pt x="67" y="68"/>
                  <a:pt x="67" y="68"/>
                  <a:pt x="67" y="68"/>
                </a:cubicBezTo>
                <a:cubicBezTo>
                  <a:pt x="48" y="50"/>
                  <a:pt x="48" y="50"/>
                  <a:pt x="48" y="50"/>
                </a:cubicBezTo>
                <a:cubicBezTo>
                  <a:pt x="37" y="73"/>
                  <a:pt x="37" y="73"/>
                  <a:pt x="37" y="73"/>
                </a:cubicBezTo>
                <a:cubicBezTo>
                  <a:pt x="26" y="73"/>
                  <a:pt x="26" y="73"/>
                  <a:pt x="26" y="73"/>
                </a:cubicBezTo>
                <a:cubicBezTo>
                  <a:pt x="19" y="63"/>
                  <a:pt x="19" y="63"/>
                  <a:pt x="19" y="63"/>
                </a:cubicBezTo>
                <a:cubicBezTo>
                  <a:pt x="4" y="67"/>
                  <a:pt x="4" y="67"/>
                  <a:pt x="4" y="67"/>
                </a:cubicBezTo>
                <a:cubicBezTo>
                  <a:pt x="0" y="56"/>
                  <a:pt x="0" y="56"/>
                  <a:pt x="0" y="56"/>
                </a:cubicBezTo>
                <a:cubicBezTo>
                  <a:pt x="20" y="50"/>
                  <a:pt x="20" y="50"/>
                  <a:pt x="20" y="50"/>
                </a:cubicBezTo>
                <a:cubicBezTo>
                  <a:pt x="25" y="48"/>
                  <a:pt x="25" y="48"/>
                  <a:pt x="25" y="48"/>
                </a:cubicBezTo>
                <a:cubicBezTo>
                  <a:pt x="27" y="52"/>
                  <a:pt x="27" y="52"/>
                  <a:pt x="27" y="52"/>
                </a:cubicBezTo>
                <a:cubicBezTo>
                  <a:pt x="30" y="57"/>
                  <a:pt x="30" y="57"/>
                  <a:pt x="30" y="57"/>
                </a:cubicBezTo>
                <a:cubicBezTo>
                  <a:pt x="40" y="37"/>
                  <a:pt x="40" y="37"/>
                  <a:pt x="40" y="37"/>
                </a:cubicBezTo>
                <a:cubicBezTo>
                  <a:pt x="44" y="29"/>
                  <a:pt x="44" y="29"/>
                  <a:pt x="44" y="29"/>
                </a:cubicBezTo>
                <a:cubicBezTo>
                  <a:pt x="50" y="35"/>
                  <a:pt x="50" y="35"/>
                  <a:pt x="50" y="35"/>
                </a:cubicBezTo>
                <a:cubicBezTo>
                  <a:pt x="66" y="50"/>
                  <a:pt x="66" y="50"/>
                  <a:pt x="66" y="50"/>
                </a:cubicBezTo>
                <a:cubicBezTo>
                  <a:pt x="68" y="21"/>
                  <a:pt x="68" y="21"/>
                  <a:pt x="68" y="21"/>
                </a:cubicBezTo>
                <a:cubicBezTo>
                  <a:pt x="68" y="18"/>
                  <a:pt x="68" y="18"/>
                  <a:pt x="68" y="18"/>
                </a:cubicBezTo>
                <a:cubicBezTo>
                  <a:pt x="71" y="16"/>
                  <a:pt x="71" y="16"/>
                  <a:pt x="71" y="16"/>
                </a:cubicBezTo>
                <a:cubicBezTo>
                  <a:pt x="78" y="12"/>
                  <a:pt x="78" y="12"/>
                  <a:pt x="78" y="12"/>
                </a:cubicBezTo>
                <a:cubicBezTo>
                  <a:pt x="72" y="2"/>
                  <a:pt x="72" y="2"/>
                  <a:pt x="72" y="2"/>
                </a:cubicBezTo>
                <a:cubicBezTo>
                  <a:pt x="90" y="1"/>
                  <a:pt x="90" y="1"/>
                  <a:pt x="90" y="1"/>
                </a:cubicBezTo>
                <a:cubicBezTo>
                  <a:pt x="109" y="0"/>
                  <a:pt x="109" y="0"/>
                  <a:pt x="109" y="0"/>
                </a:cubicBezTo>
                <a:close/>
                <a:moveTo>
                  <a:pt x="22" y="88"/>
                </a:moveTo>
                <a:cubicBezTo>
                  <a:pt x="24" y="88"/>
                  <a:pt x="27" y="88"/>
                  <a:pt x="29" y="88"/>
                </a:cubicBezTo>
                <a:cubicBezTo>
                  <a:pt x="29" y="80"/>
                  <a:pt x="29" y="80"/>
                  <a:pt x="29" y="80"/>
                </a:cubicBezTo>
                <a:cubicBezTo>
                  <a:pt x="23" y="81"/>
                  <a:pt x="23" y="81"/>
                  <a:pt x="23" y="81"/>
                </a:cubicBezTo>
                <a:cubicBezTo>
                  <a:pt x="22" y="79"/>
                  <a:pt x="22" y="79"/>
                  <a:pt x="22" y="79"/>
                </a:cubicBezTo>
                <a:cubicBezTo>
                  <a:pt x="22" y="88"/>
                  <a:pt x="22" y="88"/>
                  <a:pt x="22" y="88"/>
                </a:cubicBezTo>
                <a:close/>
                <a:moveTo>
                  <a:pt x="11" y="88"/>
                </a:moveTo>
                <a:cubicBezTo>
                  <a:pt x="17" y="88"/>
                  <a:pt x="17" y="88"/>
                  <a:pt x="17" y="88"/>
                </a:cubicBezTo>
                <a:cubicBezTo>
                  <a:pt x="17" y="71"/>
                  <a:pt x="17" y="71"/>
                  <a:pt x="17" y="71"/>
                </a:cubicBezTo>
                <a:cubicBezTo>
                  <a:pt x="17" y="71"/>
                  <a:pt x="17" y="71"/>
                  <a:pt x="17" y="71"/>
                </a:cubicBezTo>
                <a:cubicBezTo>
                  <a:pt x="11" y="73"/>
                  <a:pt x="11" y="73"/>
                  <a:pt x="11" y="73"/>
                </a:cubicBezTo>
                <a:cubicBezTo>
                  <a:pt x="11" y="88"/>
                  <a:pt x="11" y="88"/>
                  <a:pt x="11" y="88"/>
                </a:cubicBezTo>
                <a:close/>
                <a:moveTo>
                  <a:pt x="34" y="88"/>
                </a:moveTo>
                <a:cubicBezTo>
                  <a:pt x="36" y="88"/>
                  <a:pt x="38" y="88"/>
                  <a:pt x="40" y="88"/>
                </a:cubicBezTo>
                <a:cubicBezTo>
                  <a:pt x="40" y="79"/>
                  <a:pt x="40" y="79"/>
                  <a:pt x="40" y="79"/>
                </a:cubicBezTo>
                <a:cubicBezTo>
                  <a:pt x="40" y="80"/>
                  <a:pt x="40" y="80"/>
                  <a:pt x="40" y="80"/>
                </a:cubicBezTo>
                <a:cubicBezTo>
                  <a:pt x="34" y="80"/>
                  <a:pt x="34" y="80"/>
                  <a:pt x="34" y="80"/>
                </a:cubicBezTo>
                <a:cubicBezTo>
                  <a:pt x="34" y="88"/>
                  <a:pt x="34" y="88"/>
                  <a:pt x="34" y="88"/>
                </a:cubicBezTo>
                <a:close/>
                <a:moveTo>
                  <a:pt x="45" y="88"/>
                </a:moveTo>
                <a:cubicBezTo>
                  <a:pt x="47" y="88"/>
                  <a:pt x="50" y="88"/>
                  <a:pt x="52" y="88"/>
                </a:cubicBezTo>
                <a:cubicBezTo>
                  <a:pt x="52" y="63"/>
                  <a:pt x="52" y="63"/>
                  <a:pt x="52" y="63"/>
                </a:cubicBezTo>
                <a:cubicBezTo>
                  <a:pt x="49" y="60"/>
                  <a:pt x="49" y="60"/>
                  <a:pt x="49" y="60"/>
                </a:cubicBezTo>
                <a:cubicBezTo>
                  <a:pt x="45" y="69"/>
                  <a:pt x="45" y="69"/>
                  <a:pt x="45" y="69"/>
                </a:cubicBezTo>
                <a:cubicBezTo>
                  <a:pt x="45" y="88"/>
                  <a:pt x="45" y="88"/>
                  <a:pt x="45" y="88"/>
                </a:cubicBezTo>
                <a:close/>
                <a:moveTo>
                  <a:pt x="57" y="88"/>
                </a:moveTo>
                <a:cubicBezTo>
                  <a:pt x="59" y="88"/>
                  <a:pt x="61" y="88"/>
                  <a:pt x="63" y="88"/>
                </a:cubicBezTo>
                <a:cubicBezTo>
                  <a:pt x="63" y="73"/>
                  <a:pt x="63" y="73"/>
                  <a:pt x="63" y="73"/>
                </a:cubicBezTo>
                <a:cubicBezTo>
                  <a:pt x="57" y="67"/>
                  <a:pt x="57" y="67"/>
                  <a:pt x="57" y="67"/>
                </a:cubicBezTo>
                <a:cubicBezTo>
                  <a:pt x="57" y="88"/>
                  <a:pt x="57" y="88"/>
                  <a:pt x="57" y="88"/>
                </a:cubicBezTo>
                <a:close/>
                <a:moveTo>
                  <a:pt x="68" y="88"/>
                </a:moveTo>
                <a:cubicBezTo>
                  <a:pt x="70" y="88"/>
                  <a:pt x="73" y="88"/>
                  <a:pt x="75" y="88"/>
                </a:cubicBezTo>
                <a:cubicBezTo>
                  <a:pt x="75" y="72"/>
                  <a:pt x="75" y="72"/>
                  <a:pt x="75" y="72"/>
                </a:cubicBezTo>
                <a:cubicBezTo>
                  <a:pt x="68" y="75"/>
                  <a:pt x="68" y="75"/>
                  <a:pt x="68" y="75"/>
                </a:cubicBezTo>
                <a:lnTo>
                  <a:pt x="68" y="88"/>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endParaRPr>
          </a:p>
        </p:txBody>
      </p:sp>
      <p:cxnSp>
        <p:nvCxnSpPr>
          <p:cNvPr id="27" name="Straight Connector 26"/>
          <p:cNvCxnSpPr/>
          <p:nvPr/>
        </p:nvCxnSpPr>
        <p:spPr>
          <a:xfrm>
            <a:off x="3492147" y="4628885"/>
            <a:ext cx="16767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1017121" y="4176844"/>
            <a:ext cx="631904" cy="369332"/>
          </a:xfrm>
          <a:prstGeom prst="rect">
            <a:avLst/>
          </a:prstGeom>
          <a:noFill/>
        </p:spPr>
        <p:txBody>
          <a:bodyPr wrap="none" rtlCol="0">
            <a:spAutoFit/>
          </a:bodyPr>
          <a:lstStyle/>
          <a:p>
            <a:r>
              <a:rPr lang="en-US" b="1">
                <a:solidFill>
                  <a:schemeClr val="accent3"/>
                </a:solidFill>
              </a:rPr>
              <a:t>90%</a:t>
            </a:r>
          </a:p>
        </p:txBody>
      </p:sp>
      <p:sp>
        <p:nvSpPr>
          <p:cNvPr id="29" name="TextBox 28"/>
          <p:cNvSpPr txBox="1"/>
          <p:nvPr/>
        </p:nvSpPr>
        <p:spPr>
          <a:xfrm>
            <a:off x="11017121" y="4786001"/>
            <a:ext cx="631904" cy="369332"/>
          </a:xfrm>
          <a:prstGeom prst="rect">
            <a:avLst/>
          </a:prstGeom>
          <a:noFill/>
        </p:spPr>
        <p:txBody>
          <a:bodyPr wrap="none" rtlCol="0">
            <a:spAutoFit/>
          </a:bodyPr>
          <a:lstStyle/>
          <a:p>
            <a:r>
              <a:rPr lang="en-US" b="1">
                <a:solidFill>
                  <a:schemeClr val="accent4"/>
                </a:solidFill>
              </a:rPr>
              <a:t>72%</a:t>
            </a:r>
          </a:p>
        </p:txBody>
      </p:sp>
      <p:sp>
        <p:nvSpPr>
          <p:cNvPr id="30" name="TextBox 29"/>
          <p:cNvSpPr txBox="1"/>
          <p:nvPr/>
        </p:nvSpPr>
        <p:spPr>
          <a:xfrm>
            <a:off x="11017122" y="5387439"/>
            <a:ext cx="631904" cy="369332"/>
          </a:xfrm>
          <a:prstGeom prst="rect">
            <a:avLst/>
          </a:prstGeom>
          <a:noFill/>
        </p:spPr>
        <p:txBody>
          <a:bodyPr wrap="none" rtlCol="0">
            <a:spAutoFit/>
          </a:bodyPr>
          <a:lstStyle/>
          <a:p>
            <a:r>
              <a:rPr lang="en-US" b="1">
                <a:solidFill>
                  <a:schemeClr val="tx2"/>
                </a:solidFill>
              </a:rPr>
              <a:t>85%</a:t>
            </a:r>
          </a:p>
        </p:txBody>
      </p:sp>
      <p:cxnSp>
        <p:nvCxnSpPr>
          <p:cNvPr id="31" name="Straight Connector 30"/>
          <p:cNvCxnSpPr/>
          <p:nvPr/>
        </p:nvCxnSpPr>
        <p:spPr>
          <a:xfrm flipH="1">
            <a:off x="7558037" y="4418846"/>
            <a:ext cx="3170147"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7558037" y="5004898"/>
            <a:ext cx="3170147"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7558038" y="5599142"/>
            <a:ext cx="3170146"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4" name="Rounded Rectangle 33"/>
          <p:cNvSpPr/>
          <p:nvPr/>
        </p:nvSpPr>
        <p:spPr>
          <a:xfrm rot="16200000">
            <a:off x="8968481" y="2925606"/>
            <a:ext cx="150793" cy="297750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p:cNvSpPr/>
          <p:nvPr/>
        </p:nvSpPr>
        <p:spPr>
          <a:xfrm rot="16200000">
            <a:off x="8384379" y="4099261"/>
            <a:ext cx="150793" cy="181127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p:cNvSpPr/>
          <p:nvPr/>
        </p:nvSpPr>
        <p:spPr>
          <a:xfrm rot="16200000">
            <a:off x="8889986" y="4187899"/>
            <a:ext cx="150793" cy="2822488"/>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7456811" y="3986615"/>
            <a:ext cx="2330510" cy="369332"/>
          </a:xfrm>
          <a:prstGeom prst="rect">
            <a:avLst/>
          </a:prstGeom>
          <a:noFill/>
        </p:spPr>
        <p:txBody>
          <a:bodyPr wrap="none" rtlCol="0">
            <a:spAutoFit/>
          </a:bodyPr>
          <a:lstStyle/>
          <a:p>
            <a:r>
              <a:rPr lang="en-US" b="1" dirty="0" smtClean="0">
                <a:solidFill>
                  <a:schemeClr val="bg2"/>
                </a:solidFill>
              </a:rPr>
              <a:t>Waste Management</a:t>
            </a:r>
            <a:endParaRPr lang="en-US" b="1" dirty="0">
              <a:solidFill>
                <a:schemeClr val="bg2"/>
              </a:solidFill>
            </a:endParaRPr>
          </a:p>
        </p:txBody>
      </p:sp>
      <p:sp>
        <p:nvSpPr>
          <p:cNvPr id="38" name="TextBox 37"/>
          <p:cNvSpPr txBox="1"/>
          <p:nvPr/>
        </p:nvSpPr>
        <p:spPr>
          <a:xfrm>
            <a:off x="7464117" y="4552542"/>
            <a:ext cx="1333763" cy="369332"/>
          </a:xfrm>
          <a:prstGeom prst="rect">
            <a:avLst/>
          </a:prstGeom>
          <a:noFill/>
        </p:spPr>
        <p:txBody>
          <a:bodyPr wrap="none" rtlCol="0">
            <a:spAutoFit/>
          </a:bodyPr>
          <a:lstStyle/>
          <a:p>
            <a:r>
              <a:rPr lang="en-US" b="1">
                <a:solidFill>
                  <a:schemeClr val="bg2"/>
                </a:solidFill>
              </a:rPr>
              <a:t>Powerpoint</a:t>
            </a:r>
          </a:p>
        </p:txBody>
      </p:sp>
      <p:sp>
        <p:nvSpPr>
          <p:cNvPr id="39" name="TextBox 38"/>
          <p:cNvSpPr txBox="1"/>
          <p:nvPr/>
        </p:nvSpPr>
        <p:spPr>
          <a:xfrm>
            <a:off x="7456811" y="5147272"/>
            <a:ext cx="1770549" cy="369332"/>
          </a:xfrm>
          <a:prstGeom prst="rect">
            <a:avLst/>
          </a:prstGeom>
          <a:noFill/>
        </p:spPr>
        <p:txBody>
          <a:bodyPr wrap="none" rtlCol="0">
            <a:spAutoFit/>
          </a:bodyPr>
          <a:lstStyle/>
          <a:p>
            <a:r>
              <a:rPr lang="en-US" b="1" dirty="0">
                <a:solidFill>
                  <a:schemeClr val="bg2"/>
                </a:solidFill>
              </a:rPr>
              <a:t>NEGOTIATION</a:t>
            </a:r>
          </a:p>
        </p:txBody>
      </p:sp>
      <p:sp>
        <p:nvSpPr>
          <p:cNvPr id="40" name="TextBox 39"/>
          <p:cNvSpPr txBox="1"/>
          <p:nvPr/>
        </p:nvSpPr>
        <p:spPr>
          <a:xfrm>
            <a:off x="11017121" y="2967684"/>
            <a:ext cx="582211" cy="369332"/>
          </a:xfrm>
          <a:prstGeom prst="rect">
            <a:avLst/>
          </a:prstGeom>
          <a:noFill/>
        </p:spPr>
        <p:txBody>
          <a:bodyPr wrap="none" rtlCol="0">
            <a:spAutoFit/>
          </a:bodyPr>
          <a:lstStyle/>
          <a:p>
            <a:r>
              <a:rPr lang="en-US" b="1">
                <a:solidFill>
                  <a:schemeClr val="accent1"/>
                </a:solidFill>
              </a:rPr>
              <a:t>87%</a:t>
            </a:r>
          </a:p>
        </p:txBody>
      </p:sp>
      <p:sp>
        <p:nvSpPr>
          <p:cNvPr id="41" name="TextBox 40"/>
          <p:cNvSpPr txBox="1"/>
          <p:nvPr/>
        </p:nvSpPr>
        <p:spPr>
          <a:xfrm>
            <a:off x="11017121" y="3576840"/>
            <a:ext cx="631904" cy="369332"/>
          </a:xfrm>
          <a:prstGeom prst="rect">
            <a:avLst/>
          </a:prstGeom>
          <a:noFill/>
        </p:spPr>
        <p:txBody>
          <a:bodyPr wrap="none" rtlCol="0">
            <a:spAutoFit/>
          </a:bodyPr>
          <a:lstStyle/>
          <a:p>
            <a:r>
              <a:rPr lang="en-US" b="1">
                <a:solidFill>
                  <a:schemeClr val="accent2"/>
                </a:solidFill>
              </a:rPr>
              <a:t>83%</a:t>
            </a:r>
          </a:p>
        </p:txBody>
      </p:sp>
      <p:cxnSp>
        <p:nvCxnSpPr>
          <p:cNvPr id="42" name="Straight Connector 41"/>
          <p:cNvCxnSpPr/>
          <p:nvPr/>
        </p:nvCxnSpPr>
        <p:spPr>
          <a:xfrm flipH="1">
            <a:off x="7558037" y="3209686"/>
            <a:ext cx="3170147"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H="1">
            <a:off x="7558037" y="3795737"/>
            <a:ext cx="3170147"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4" name="Rounded Rectangle 43"/>
          <p:cNvSpPr/>
          <p:nvPr/>
        </p:nvSpPr>
        <p:spPr>
          <a:xfrm rot="16200000">
            <a:off x="8938889" y="1746037"/>
            <a:ext cx="150793" cy="2918325"/>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ounded Rectangle 44"/>
          <p:cNvSpPr/>
          <p:nvPr/>
        </p:nvSpPr>
        <p:spPr>
          <a:xfrm rot="16200000">
            <a:off x="8649888" y="2624590"/>
            <a:ext cx="150793" cy="234228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7456811" y="2777455"/>
            <a:ext cx="1582484" cy="369332"/>
          </a:xfrm>
          <a:prstGeom prst="rect">
            <a:avLst/>
          </a:prstGeom>
          <a:noFill/>
        </p:spPr>
        <p:txBody>
          <a:bodyPr wrap="none" rtlCol="0">
            <a:spAutoFit/>
          </a:bodyPr>
          <a:lstStyle/>
          <a:p>
            <a:r>
              <a:rPr lang="en-US" b="1" dirty="0">
                <a:solidFill>
                  <a:schemeClr val="bg2"/>
                </a:solidFill>
              </a:rPr>
              <a:t>MARKETING</a:t>
            </a:r>
          </a:p>
        </p:txBody>
      </p:sp>
      <p:sp>
        <p:nvSpPr>
          <p:cNvPr id="47" name="TextBox 46"/>
          <p:cNvSpPr txBox="1"/>
          <p:nvPr/>
        </p:nvSpPr>
        <p:spPr>
          <a:xfrm>
            <a:off x="7464117" y="3343382"/>
            <a:ext cx="1424301" cy="369332"/>
          </a:xfrm>
          <a:prstGeom prst="rect">
            <a:avLst/>
          </a:prstGeom>
          <a:noFill/>
        </p:spPr>
        <p:txBody>
          <a:bodyPr wrap="none" rtlCol="0">
            <a:spAutoFit/>
          </a:bodyPr>
          <a:lstStyle/>
          <a:p>
            <a:r>
              <a:rPr lang="en-US" b="1" dirty="0">
                <a:solidFill>
                  <a:schemeClr val="bg2"/>
                </a:solidFill>
              </a:rPr>
              <a:t>STRATEGY</a:t>
            </a:r>
          </a:p>
        </p:txBody>
      </p:sp>
      <p:sp>
        <p:nvSpPr>
          <p:cNvPr id="48" name="TextBox 47"/>
          <p:cNvSpPr txBox="1"/>
          <p:nvPr/>
        </p:nvSpPr>
        <p:spPr>
          <a:xfrm>
            <a:off x="7464117" y="2191404"/>
            <a:ext cx="1604927" cy="400110"/>
          </a:xfrm>
          <a:prstGeom prst="rect">
            <a:avLst/>
          </a:prstGeom>
          <a:noFill/>
        </p:spPr>
        <p:txBody>
          <a:bodyPr wrap="none" rtlCol="0">
            <a:spAutoFit/>
          </a:bodyPr>
          <a:lstStyle/>
          <a:p>
            <a:r>
              <a:rPr lang="en-US" sz="2000" b="1">
                <a:solidFill>
                  <a:schemeClr val="bg2"/>
                </a:solidFill>
              </a:rPr>
              <a:t>SOME SKILL</a:t>
            </a:r>
            <a:endParaRPr lang="en-GB" sz="2000" b="1">
              <a:solidFill>
                <a:schemeClr val="bg2"/>
              </a:solidFill>
            </a:endParaRPr>
          </a:p>
        </p:txBody>
      </p:sp>
      <p:pic>
        <p:nvPicPr>
          <p:cNvPr id="49" name="Picture 48"/>
          <p:cNvPicPr/>
          <p:nvPr/>
        </p:nvPicPr>
        <p:blipFill>
          <a:blip r:embed="rId2" cstate="print"/>
          <a:srcRect/>
          <a:stretch>
            <a:fillRect/>
          </a:stretch>
        </p:blipFill>
        <p:spPr bwMode="auto">
          <a:xfrm>
            <a:off x="739301" y="1789888"/>
            <a:ext cx="1867711" cy="1994171"/>
          </a:xfrm>
          <a:prstGeom prst="rect">
            <a:avLst/>
          </a:prstGeom>
          <a:noFill/>
          <a:ln w="9525">
            <a:noFill/>
            <a:miter lim="800000"/>
            <a:headEnd/>
            <a:tailEnd/>
          </a:ln>
        </p:spPr>
      </p:pic>
    </p:spTree>
    <p:extLst>
      <p:ext uri="{BB962C8B-B14F-4D97-AF65-F5344CB8AC3E}">
        <p14:creationId xmlns:p14="http://schemas.microsoft.com/office/powerpoint/2010/main" val="3166797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2" presetClass="entr" presetSubtype="1"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p:tgtEl>
                                          <p:spTgt spid="6"/>
                                        </p:tgtEl>
                                        <p:attrNameLst>
                                          <p:attrName>ppt_y</p:attrName>
                                        </p:attrNameLst>
                                      </p:cBhvr>
                                      <p:tavLst>
                                        <p:tav tm="0">
                                          <p:val>
                                            <p:strVal val="#ppt_y-#ppt_h*1.125000"/>
                                          </p:val>
                                        </p:tav>
                                        <p:tav tm="100000">
                                          <p:val>
                                            <p:strVal val="#ppt_y"/>
                                          </p:val>
                                        </p:tav>
                                      </p:tavLst>
                                    </p:anim>
                                    <p:animEffect transition="in" filter="wipe(down)">
                                      <p:cBhvr>
                                        <p:cTn id="14" dur="500"/>
                                        <p:tgtEl>
                                          <p:spTgt spid="6"/>
                                        </p:tgtEl>
                                      </p:cBhvr>
                                    </p:animEffect>
                                  </p:childTnLst>
                                </p:cTn>
                              </p:par>
                            </p:childTnLst>
                          </p:cTn>
                        </p:par>
                        <p:par>
                          <p:cTn id="15" fill="hold">
                            <p:stCondLst>
                              <p:cond delay="1500"/>
                            </p:stCondLst>
                            <p:childTnLst>
                              <p:par>
                                <p:cTn id="16" presetID="12" presetClass="entr" presetSubtype="1" fill="hold" grpId="0" nodeType="afterEffect" nodePh="1">
                                  <p:stCondLst>
                                    <p:cond delay="0"/>
                                  </p:stCondLst>
                                  <p:endCondLst>
                                    <p:cond evt="begin" delay="0">
                                      <p:tn val="16"/>
                                    </p:cond>
                                  </p:end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p:tgtEl>
                                          <p:spTgt spid="7"/>
                                        </p:tgtEl>
                                        <p:attrNameLst>
                                          <p:attrName>ppt_y</p:attrName>
                                        </p:attrNameLst>
                                      </p:cBhvr>
                                      <p:tavLst>
                                        <p:tav tm="0">
                                          <p:val>
                                            <p:strVal val="#ppt_y-#ppt_h*1.125000"/>
                                          </p:val>
                                        </p:tav>
                                        <p:tav tm="100000">
                                          <p:val>
                                            <p:strVal val="#ppt_y"/>
                                          </p:val>
                                        </p:tav>
                                      </p:tavLst>
                                    </p:anim>
                                    <p:animEffect transition="in" filter="wipe(down)">
                                      <p:cBhvr>
                                        <p:cTn id="19" dur="500"/>
                                        <p:tgtEl>
                                          <p:spTgt spid="7"/>
                                        </p:tgtEl>
                                      </p:cBhvr>
                                    </p:animEffect>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par>
                          <p:cTn id="25" fill="hold">
                            <p:stCondLst>
                              <p:cond delay="2500"/>
                            </p:stCondLst>
                            <p:childTnLst>
                              <p:par>
                                <p:cTn id="26" presetID="22" presetClass="entr" presetSubtype="8" fill="hold" grpId="0" nodeType="after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par>
                          <p:cTn id="29" fill="hold">
                            <p:stCondLst>
                              <p:cond delay="3000"/>
                            </p:stCondLst>
                            <p:childTnLst>
                              <p:par>
                                <p:cTn id="30" presetID="22" presetClass="entr" presetSubtype="8" fill="hold" nodeType="after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500"/>
                                        <p:tgtEl>
                                          <p:spTgt spid="18"/>
                                        </p:tgtEl>
                                      </p:cBhvr>
                                    </p:animEffect>
                                  </p:childTnLst>
                                </p:cTn>
                              </p:par>
                            </p:childTnLst>
                          </p:cTn>
                        </p:par>
                        <p:par>
                          <p:cTn id="33" fill="hold">
                            <p:stCondLst>
                              <p:cond delay="3500"/>
                            </p:stCondLst>
                            <p:childTnLst>
                              <p:par>
                                <p:cTn id="34" presetID="22" presetClass="entr" presetSubtype="8" fill="hold" grpId="0" nodeType="after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left)">
                                      <p:cBhvr>
                                        <p:cTn id="36" dur="500"/>
                                        <p:tgtEl>
                                          <p:spTgt spid="19"/>
                                        </p:tgtEl>
                                      </p:cBhvr>
                                    </p:animEffect>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500"/>
                                        <p:tgtEl>
                                          <p:spTgt spid="20"/>
                                        </p:tgtEl>
                                      </p:cBhvr>
                                    </p:animEffect>
                                  </p:childTnLst>
                                </p:cTn>
                              </p:par>
                            </p:childTnLst>
                          </p:cTn>
                        </p:par>
                        <p:par>
                          <p:cTn id="41" fill="hold">
                            <p:stCondLst>
                              <p:cond delay="4500"/>
                            </p:stCondLst>
                            <p:childTnLst>
                              <p:par>
                                <p:cTn id="42" presetID="22" presetClass="entr" presetSubtype="8" fill="hold" nodeType="after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ipe(left)">
                                      <p:cBhvr>
                                        <p:cTn id="44" dur="500"/>
                                        <p:tgtEl>
                                          <p:spTgt spid="27"/>
                                        </p:tgtEl>
                                      </p:cBhvr>
                                    </p:animEffect>
                                  </p:childTnLst>
                                </p:cTn>
                              </p:par>
                            </p:childTnLst>
                          </p:cTn>
                        </p:par>
                        <p:par>
                          <p:cTn id="45" fill="hold">
                            <p:stCondLst>
                              <p:cond delay="5000"/>
                            </p:stCondLst>
                            <p:childTnLst>
                              <p:par>
                                <p:cTn id="46" presetID="53" presetClass="entr" presetSubtype="16" fill="hold" grpId="0" nodeType="afterEffect">
                                  <p:stCondLst>
                                    <p:cond delay="0"/>
                                  </p:stCondLst>
                                  <p:childTnLst>
                                    <p:set>
                                      <p:cBhvr>
                                        <p:cTn id="47" dur="1" fill="hold">
                                          <p:stCondLst>
                                            <p:cond delay="0"/>
                                          </p:stCondLst>
                                        </p:cTn>
                                        <p:tgtEl>
                                          <p:spTgt spid="21"/>
                                        </p:tgtEl>
                                        <p:attrNameLst>
                                          <p:attrName>style.visibility</p:attrName>
                                        </p:attrNameLst>
                                      </p:cBhvr>
                                      <p:to>
                                        <p:strVal val="visible"/>
                                      </p:to>
                                    </p:set>
                                    <p:anim calcmode="lin" valueType="num">
                                      <p:cBhvr>
                                        <p:cTn id="48" dur="500" fill="hold"/>
                                        <p:tgtEl>
                                          <p:spTgt spid="21"/>
                                        </p:tgtEl>
                                        <p:attrNameLst>
                                          <p:attrName>ppt_w</p:attrName>
                                        </p:attrNameLst>
                                      </p:cBhvr>
                                      <p:tavLst>
                                        <p:tav tm="0">
                                          <p:val>
                                            <p:fltVal val="0"/>
                                          </p:val>
                                        </p:tav>
                                        <p:tav tm="100000">
                                          <p:val>
                                            <p:strVal val="#ppt_w"/>
                                          </p:val>
                                        </p:tav>
                                      </p:tavLst>
                                    </p:anim>
                                    <p:anim calcmode="lin" valueType="num">
                                      <p:cBhvr>
                                        <p:cTn id="49" dur="500" fill="hold"/>
                                        <p:tgtEl>
                                          <p:spTgt spid="21"/>
                                        </p:tgtEl>
                                        <p:attrNameLst>
                                          <p:attrName>ppt_h</p:attrName>
                                        </p:attrNameLst>
                                      </p:cBhvr>
                                      <p:tavLst>
                                        <p:tav tm="0">
                                          <p:val>
                                            <p:fltVal val="0"/>
                                          </p:val>
                                        </p:tav>
                                        <p:tav tm="100000">
                                          <p:val>
                                            <p:strVal val="#ppt_h"/>
                                          </p:val>
                                        </p:tav>
                                      </p:tavLst>
                                    </p:anim>
                                    <p:animEffect transition="in" filter="fade">
                                      <p:cBhvr>
                                        <p:cTn id="50" dur="500"/>
                                        <p:tgtEl>
                                          <p:spTgt spid="21"/>
                                        </p:tgtEl>
                                      </p:cBhvr>
                                    </p:animEffect>
                                  </p:childTnLst>
                                </p:cTn>
                              </p:par>
                            </p:childTnLst>
                          </p:cTn>
                        </p:par>
                        <p:par>
                          <p:cTn id="51" fill="hold">
                            <p:stCondLst>
                              <p:cond delay="5500"/>
                            </p:stCondLst>
                            <p:childTnLst>
                              <p:par>
                                <p:cTn id="52" presetID="22" presetClass="entr" presetSubtype="8" fill="hold" grpId="0" nodeType="after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wipe(left)">
                                      <p:cBhvr>
                                        <p:cTn id="54" dur="500"/>
                                        <p:tgtEl>
                                          <p:spTgt spid="23"/>
                                        </p:tgtEl>
                                      </p:cBhvr>
                                    </p:animEffect>
                                  </p:childTnLst>
                                </p:cTn>
                              </p:par>
                            </p:childTnLst>
                          </p:cTn>
                        </p:par>
                        <p:par>
                          <p:cTn id="55" fill="hold">
                            <p:stCondLst>
                              <p:cond delay="6000"/>
                            </p:stCondLst>
                            <p:childTnLst>
                              <p:par>
                                <p:cTn id="56" presetID="53" presetClass="entr" presetSubtype="16" fill="hold" grpId="0" nodeType="afterEffect">
                                  <p:stCondLst>
                                    <p:cond delay="0"/>
                                  </p:stCondLst>
                                  <p:childTnLst>
                                    <p:set>
                                      <p:cBhvr>
                                        <p:cTn id="57" dur="1" fill="hold">
                                          <p:stCondLst>
                                            <p:cond delay="0"/>
                                          </p:stCondLst>
                                        </p:cTn>
                                        <p:tgtEl>
                                          <p:spTgt spid="22"/>
                                        </p:tgtEl>
                                        <p:attrNameLst>
                                          <p:attrName>style.visibility</p:attrName>
                                        </p:attrNameLst>
                                      </p:cBhvr>
                                      <p:to>
                                        <p:strVal val="visible"/>
                                      </p:to>
                                    </p:set>
                                    <p:anim calcmode="lin" valueType="num">
                                      <p:cBhvr>
                                        <p:cTn id="58" dur="500" fill="hold"/>
                                        <p:tgtEl>
                                          <p:spTgt spid="22"/>
                                        </p:tgtEl>
                                        <p:attrNameLst>
                                          <p:attrName>ppt_w</p:attrName>
                                        </p:attrNameLst>
                                      </p:cBhvr>
                                      <p:tavLst>
                                        <p:tav tm="0">
                                          <p:val>
                                            <p:fltVal val="0"/>
                                          </p:val>
                                        </p:tav>
                                        <p:tav tm="100000">
                                          <p:val>
                                            <p:strVal val="#ppt_w"/>
                                          </p:val>
                                        </p:tav>
                                      </p:tavLst>
                                    </p:anim>
                                    <p:anim calcmode="lin" valueType="num">
                                      <p:cBhvr>
                                        <p:cTn id="59" dur="500" fill="hold"/>
                                        <p:tgtEl>
                                          <p:spTgt spid="22"/>
                                        </p:tgtEl>
                                        <p:attrNameLst>
                                          <p:attrName>ppt_h</p:attrName>
                                        </p:attrNameLst>
                                      </p:cBhvr>
                                      <p:tavLst>
                                        <p:tav tm="0">
                                          <p:val>
                                            <p:fltVal val="0"/>
                                          </p:val>
                                        </p:tav>
                                        <p:tav tm="100000">
                                          <p:val>
                                            <p:strVal val="#ppt_h"/>
                                          </p:val>
                                        </p:tav>
                                      </p:tavLst>
                                    </p:anim>
                                    <p:animEffect transition="in" filter="fade">
                                      <p:cBhvr>
                                        <p:cTn id="60" dur="500"/>
                                        <p:tgtEl>
                                          <p:spTgt spid="22"/>
                                        </p:tgtEl>
                                      </p:cBhvr>
                                    </p:animEffect>
                                  </p:childTnLst>
                                </p:cTn>
                              </p:par>
                            </p:childTnLst>
                          </p:cTn>
                        </p:par>
                        <p:par>
                          <p:cTn id="61" fill="hold">
                            <p:stCondLst>
                              <p:cond delay="6500"/>
                            </p:stCondLst>
                            <p:childTnLst>
                              <p:par>
                                <p:cTn id="62" presetID="53" presetClass="entr" presetSubtype="16" fill="hold" grpId="0" nodeType="afterEffect">
                                  <p:stCondLst>
                                    <p:cond delay="0"/>
                                  </p:stCondLst>
                                  <p:childTnLst>
                                    <p:set>
                                      <p:cBhvr>
                                        <p:cTn id="63" dur="1" fill="hold">
                                          <p:stCondLst>
                                            <p:cond delay="0"/>
                                          </p:stCondLst>
                                        </p:cTn>
                                        <p:tgtEl>
                                          <p:spTgt spid="25"/>
                                        </p:tgtEl>
                                        <p:attrNameLst>
                                          <p:attrName>style.visibility</p:attrName>
                                        </p:attrNameLst>
                                      </p:cBhvr>
                                      <p:to>
                                        <p:strVal val="visible"/>
                                      </p:to>
                                    </p:set>
                                    <p:anim calcmode="lin" valueType="num">
                                      <p:cBhvr>
                                        <p:cTn id="64" dur="500" fill="hold"/>
                                        <p:tgtEl>
                                          <p:spTgt spid="25"/>
                                        </p:tgtEl>
                                        <p:attrNameLst>
                                          <p:attrName>ppt_w</p:attrName>
                                        </p:attrNameLst>
                                      </p:cBhvr>
                                      <p:tavLst>
                                        <p:tav tm="0">
                                          <p:val>
                                            <p:fltVal val="0"/>
                                          </p:val>
                                        </p:tav>
                                        <p:tav tm="100000">
                                          <p:val>
                                            <p:strVal val="#ppt_w"/>
                                          </p:val>
                                        </p:tav>
                                      </p:tavLst>
                                    </p:anim>
                                    <p:anim calcmode="lin" valueType="num">
                                      <p:cBhvr>
                                        <p:cTn id="65" dur="500" fill="hold"/>
                                        <p:tgtEl>
                                          <p:spTgt spid="25"/>
                                        </p:tgtEl>
                                        <p:attrNameLst>
                                          <p:attrName>ppt_h</p:attrName>
                                        </p:attrNameLst>
                                      </p:cBhvr>
                                      <p:tavLst>
                                        <p:tav tm="0">
                                          <p:val>
                                            <p:fltVal val="0"/>
                                          </p:val>
                                        </p:tav>
                                        <p:tav tm="100000">
                                          <p:val>
                                            <p:strVal val="#ppt_h"/>
                                          </p:val>
                                        </p:tav>
                                      </p:tavLst>
                                    </p:anim>
                                    <p:animEffect transition="in" filter="fade">
                                      <p:cBhvr>
                                        <p:cTn id="66" dur="500"/>
                                        <p:tgtEl>
                                          <p:spTgt spid="25"/>
                                        </p:tgtEl>
                                      </p:cBhvr>
                                    </p:animEffect>
                                  </p:childTnLst>
                                </p:cTn>
                              </p:par>
                            </p:childTnLst>
                          </p:cTn>
                        </p:par>
                        <p:par>
                          <p:cTn id="67" fill="hold">
                            <p:stCondLst>
                              <p:cond delay="7000"/>
                            </p:stCondLst>
                            <p:childTnLst>
                              <p:par>
                                <p:cTn id="68" presetID="22" presetClass="entr" presetSubtype="8" fill="hold" grpId="0" nodeType="afterEffect">
                                  <p:stCondLst>
                                    <p:cond delay="0"/>
                                  </p:stCondLst>
                                  <p:childTnLst>
                                    <p:set>
                                      <p:cBhvr>
                                        <p:cTn id="69" dur="1" fill="hold">
                                          <p:stCondLst>
                                            <p:cond delay="0"/>
                                          </p:stCondLst>
                                        </p:cTn>
                                        <p:tgtEl>
                                          <p:spTgt spid="48"/>
                                        </p:tgtEl>
                                        <p:attrNameLst>
                                          <p:attrName>style.visibility</p:attrName>
                                        </p:attrNameLst>
                                      </p:cBhvr>
                                      <p:to>
                                        <p:strVal val="visible"/>
                                      </p:to>
                                    </p:set>
                                    <p:animEffect transition="in" filter="wipe(left)">
                                      <p:cBhvr>
                                        <p:cTn id="70" dur="500"/>
                                        <p:tgtEl>
                                          <p:spTgt spid="48"/>
                                        </p:tgtEl>
                                      </p:cBhvr>
                                    </p:animEffect>
                                  </p:childTnLst>
                                </p:cTn>
                              </p:par>
                            </p:childTnLst>
                          </p:cTn>
                        </p:par>
                        <p:par>
                          <p:cTn id="71" fill="hold">
                            <p:stCondLst>
                              <p:cond delay="7500"/>
                            </p:stCondLst>
                            <p:childTnLst>
                              <p:par>
                                <p:cTn id="72" presetID="10" presetClass="entr" presetSubtype="0" fill="hold" grpId="0" nodeType="afterEffect">
                                  <p:stCondLst>
                                    <p:cond delay="0"/>
                                  </p:stCondLst>
                                  <p:childTnLst>
                                    <p:set>
                                      <p:cBhvr>
                                        <p:cTn id="73" dur="1" fill="hold">
                                          <p:stCondLst>
                                            <p:cond delay="0"/>
                                          </p:stCondLst>
                                        </p:cTn>
                                        <p:tgtEl>
                                          <p:spTgt spid="46"/>
                                        </p:tgtEl>
                                        <p:attrNameLst>
                                          <p:attrName>style.visibility</p:attrName>
                                        </p:attrNameLst>
                                      </p:cBhvr>
                                      <p:to>
                                        <p:strVal val="visible"/>
                                      </p:to>
                                    </p:set>
                                    <p:animEffect transition="in" filter="fade">
                                      <p:cBhvr>
                                        <p:cTn id="74" dur="500"/>
                                        <p:tgtEl>
                                          <p:spTgt spid="46"/>
                                        </p:tgtEl>
                                      </p:cBhvr>
                                    </p:animEffect>
                                  </p:childTnLst>
                                </p:cTn>
                              </p:par>
                            </p:childTnLst>
                          </p:cTn>
                        </p:par>
                        <p:par>
                          <p:cTn id="75" fill="hold">
                            <p:stCondLst>
                              <p:cond delay="8000"/>
                            </p:stCondLst>
                            <p:childTnLst>
                              <p:par>
                                <p:cTn id="76" presetID="22" presetClass="entr" presetSubtype="8" fill="hold" nodeType="after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wipe(left)">
                                      <p:cBhvr>
                                        <p:cTn id="78" dur="500"/>
                                        <p:tgtEl>
                                          <p:spTgt spid="42"/>
                                        </p:tgtEl>
                                      </p:cBhvr>
                                    </p:animEffect>
                                  </p:childTnLst>
                                </p:cTn>
                              </p:par>
                            </p:childTnLst>
                          </p:cTn>
                        </p:par>
                        <p:par>
                          <p:cTn id="79" fill="hold">
                            <p:stCondLst>
                              <p:cond delay="8500"/>
                            </p:stCondLst>
                            <p:childTnLst>
                              <p:par>
                                <p:cTn id="80" presetID="22" presetClass="entr" presetSubtype="8" fill="hold" grpId="0" nodeType="after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wipe(left)">
                                      <p:cBhvr>
                                        <p:cTn id="82" dur="500"/>
                                        <p:tgtEl>
                                          <p:spTgt spid="44"/>
                                        </p:tgtEl>
                                      </p:cBhvr>
                                    </p:animEffect>
                                  </p:childTnLst>
                                </p:cTn>
                              </p:par>
                            </p:childTnLst>
                          </p:cTn>
                        </p:par>
                        <p:par>
                          <p:cTn id="83" fill="hold">
                            <p:stCondLst>
                              <p:cond delay="9000"/>
                            </p:stCondLst>
                            <p:childTnLst>
                              <p:par>
                                <p:cTn id="84" presetID="1" presetClass="entr" presetSubtype="0" fill="hold" grpId="0" nodeType="afterEffect">
                                  <p:stCondLst>
                                    <p:cond delay="0"/>
                                  </p:stCondLst>
                                  <p:childTnLst>
                                    <p:set>
                                      <p:cBhvr>
                                        <p:cTn id="85" dur="1" fill="hold">
                                          <p:stCondLst>
                                            <p:cond delay="0"/>
                                          </p:stCondLst>
                                        </p:cTn>
                                        <p:tgtEl>
                                          <p:spTgt spid="40"/>
                                        </p:tgtEl>
                                        <p:attrNameLst>
                                          <p:attrName>style.visibility</p:attrName>
                                        </p:attrNameLst>
                                      </p:cBhvr>
                                      <p:to>
                                        <p:strVal val="visible"/>
                                      </p:to>
                                    </p:set>
                                  </p:childTnLst>
                                </p:cTn>
                              </p:par>
                            </p:childTnLst>
                          </p:cTn>
                        </p:par>
                        <p:par>
                          <p:cTn id="86" fill="hold">
                            <p:stCondLst>
                              <p:cond delay="9000"/>
                            </p:stCondLst>
                            <p:childTnLst>
                              <p:par>
                                <p:cTn id="87" presetID="10" presetClass="entr" presetSubtype="0" fill="hold" grpId="0" nodeType="afterEffect">
                                  <p:stCondLst>
                                    <p:cond delay="0"/>
                                  </p:stCondLst>
                                  <p:childTnLst>
                                    <p:set>
                                      <p:cBhvr>
                                        <p:cTn id="88" dur="1" fill="hold">
                                          <p:stCondLst>
                                            <p:cond delay="0"/>
                                          </p:stCondLst>
                                        </p:cTn>
                                        <p:tgtEl>
                                          <p:spTgt spid="47"/>
                                        </p:tgtEl>
                                        <p:attrNameLst>
                                          <p:attrName>style.visibility</p:attrName>
                                        </p:attrNameLst>
                                      </p:cBhvr>
                                      <p:to>
                                        <p:strVal val="visible"/>
                                      </p:to>
                                    </p:set>
                                    <p:animEffect transition="in" filter="fade">
                                      <p:cBhvr>
                                        <p:cTn id="89" dur="500"/>
                                        <p:tgtEl>
                                          <p:spTgt spid="47"/>
                                        </p:tgtEl>
                                      </p:cBhvr>
                                    </p:animEffect>
                                  </p:childTnLst>
                                </p:cTn>
                              </p:par>
                            </p:childTnLst>
                          </p:cTn>
                        </p:par>
                        <p:par>
                          <p:cTn id="90" fill="hold">
                            <p:stCondLst>
                              <p:cond delay="9500"/>
                            </p:stCondLst>
                            <p:childTnLst>
                              <p:par>
                                <p:cTn id="91" presetID="22" presetClass="entr" presetSubtype="8" fill="hold" nodeType="afterEffect">
                                  <p:stCondLst>
                                    <p:cond delay="0"/>
                                  </p:stCondLst>
                                  <p:childTnLst>
                                    <p:set>
                                      <p:cBhvr>
                                        <p:cTn id="92" dur="1" fill="hold">
                                          <p:stCondLst>
                                            <p:cond delay="0"/>
                                          </p:stCondLst>
                                        </p:cTn>
                                        <p:tgtEl>
                                          <p:spTgt spid="43"/>
                                        </p:tgtEl>
                                        <p:attrNameLst>
                                          <p:attrName>style.visibility</p:attrName>
                                        </p:attrNameLst>
                                      </p:cBhvr>
                                      <p:to>
                                        <p:strVal val="visible"/>
                                      </p:to>
                                    </p:set>
                                    <p:animEffect transition="in" filter="wipe(left)">
                                      <p:cBhvr>
                                        <p:cTn id="93" dur="500"/>
                                        <p:tgtEl>
                                          <p:spTgt spid="43"/>
                                        </p:tgtEl>
                                      </p:cBhvr>
                                    </p:animEffect>
                                  </p:childTnLst>
                                </p:cTn>
                              </p:par>
                            </p:childTnLst>
                          </p:cTn>
                        </p:par>
                        <p:par>
                          <p:cTn id="94" fill="hold">
                            <p:stCondLst>
                              <p:cond delay="10000"/>
                            </p:stCondLst>
                            <p:childTnLst>
                              <p:par>
                                <p:cTn id="95" presetID="22" presetClass="entr" presetSubtype="8" fill="hold" grpId="0" nodeType="afterEffect">
                                  <p:stCondLst>
                                    <p:cond delay="0"/>
                                  </p:stCondLst>
                                  <p:childTnLst>
                                    <p:set>
                                      <p:cBhvr>
                                        <p:cTn id="96" dur="1" fill="hold">
                                          <p:stCondLst>
                                            <p:cond delay="0"/>
                                          </p:stCondLst>
                                        </p:cTn>
                                        <p:tgtEl>
                                          <p:spTgt spid="45"/>
                                        </p:tgtEl>
                                        <p:attrNameLst>
                                          <p:attrName>style.visibility</p:attrName>
                                        </p:attrNameLst>
                                      </p:cBhvr>
                                      <p:to>
                                        <p:strVal val="visible"/>
                                      </p:to>
                                    </p:set>
                                    <p:animEffect transition="in" filter="wipe(left)">
                                      <p:cBhvr>
                                        <p:cTn id="97" dur="500"/>
                                        <p:tgtEl>
                                          <p:spTgt spid="45"/>
                                        </p:tgtEl>
                                      </p:cBhvr>
                                    </p:animEffect>
                                  </p:childTnLst>
                                </p:cTn>
                              </p:par>
                            </p:childTnLst>
                          </p:cTn>
                        </p:par>
                        <p:par>
                          <p:cTn id="98" fill="hold">
                            <p:stCondLst>
                              <p:cond delay="10500"/>
                            </p:stCondLst>
                            <p:childTnLst>
                              <p:par>
                                <p:cTn id="99" presetID="1" presetClass="entr" presetSubtype="0" fill="hold" grpId="0" nodeType="afterEffect">
                                  <p:stCondLst>
                                    <p:cond delay="0"/>
                                  </p:stCondLst>
                                  <p:childTnLst>
                                    <p:set>
                                      <p:cBhvr>
                                        <p:cTn id="100" dur="1" fill="hold">
                                          <p:stCondLst>
                                            <p:cond delay="0"/>
                                          </p:stCondLst>
                                        </p:cTn>
                                        <p:tgtEl>
                                          <p:spTgt spid="41"/>
                                        </p:tgtEl>
                                        <p:attrNameLst>
                                          <p:attrName>style.visibility</p:attrName>
                                        </p:attrNameLst>
                                      </p:cBhvr>
                                      <p:to>
                                        <p:strVal val="visible"/>
                                      </p:to>
                                    </p:set>
                                  </p:childTnLst>
                                </p:cTn>
                              </p:par>
                            </p:childTnLst>
                          </p:cTn>
                        </p:par>
                        <p:par>
                          <p:cTn id="101" fill="hold">
                            <p:stCondLst>
                              <p:cond delay="10500"/>
                            </p:stCondLst>
                            <p:childTnLst>
                              <p:par>
                                <p:cTn id="102" presetID="10" presetClass="entr" presetSubtype="0" fill="hold" grpId="0" nodeType="afterEffect">
                                  <p:stCondLst>
                                    <p:cond delay="0"/>
                                  </p:stCondLst>
                                  <p:childTnLst>
                                    <p:set>
                                      <p:cBhvr>
                                        <p:cTn id="103" dur="1" fill="hold">
                                          <p:stCondLst>
                                            <p:cond delay="0"/>
                                          </p:stCondLst>
                                        </p:cTn>
                                        <p:tgtEl>
                                          <p:spTgt spid="37"/>
                                        </p:tgtEl>
                                        <p:attrNameLst>
                                          <p:attrName>style.visibility</p:attrName>
                                        </p:attrNameLst>
                                      </p:cBhvr>
                                      <p:to>
                                        <p:strVal val="visible"/>
                                      </p:to>
                                    </p:set>
                                    <p:animEffect transition="in" filter="fade">
                                      <p:cBhvr>
                                        <p:cTn id="104" dur="500"/>
                                        <p:tgtEl>
                                          <p:spTgt spid="37"/>
                                        </p:tgtEl>
                                      </p:cBhvr>
                                    </p:animEffect>
                                  </p:childTnLst>
                                </p:cTn>
                              </p:par>
                            </p:childTnLst>
                          </p:cTn>
                        </p:par>
                        <p:par>
                          <p:cTn id="105" fill="hold">
                            <p:stCondLst>
                              <p:cond delay="11000"/>
                            </p:stCondLst>
                            <p:childTnLst>
                              <p:par>
                                <p:cTn id="106" presetID="22" presetClass="entr" presetSubtype="8" fill="hold" nodeType="afterEffect">
                                  <p:stCondLst>
                                    <p:cond delay="0"/>
                                  </p:stCondLst>
                                  <p:childTnLst>
                                    <p:set>
                                      <p:cBhvr>
                                        <p:cTn id="107" dur="1" fill="hold">
                                          <p:stCondLst>
                                            <p:cond delay="0"/>
                                          </p:stCondLst>
                                        </p:cTn>
                                        <p:tgtEl>
                                          <p:spTgt spid="31"/>
                                        </p:tgtEl>
                                        <p:attrNameLst>
                                          <p:attrName>style.visibility</p:attrName>
                                        </p:attrNameLst>
                                      </p:cBhvr>
                                      <p:to>
                                        <p:strVal val="visible"/>
                                      </p:to>
                                    </p:set>
                                    <p:animEffect transition="in" filter="wipe(left)">
                                      <p:cBhvr>
                                        <p:cTn id="108" dur="500"/>
                                        <p:tgtEl>
                                          <p:spTgt spid="31"/>
                                        </p:tgtEl>
                                      </p:cBhvr>
                                    </p:animEffect>
                                  </p:childTnLst>
                                </p:cTn>
                              </p:par>
                            </p:childTnLst>
                          </p:cTn>
                        </p:par>
                        <p:par>
                          <p:cTn id="109" fill="hold">
                            <p:stCondLst>
                              <p:cond delay="11500"/>
                            </p:stCondLst>
                            <p:childTnLst>
                              <p:par>
                                <p:cTn id="110" presetID="22" presetClass="entr" presetSubtype="8" fill="hold" grpId="0" nodeType="after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wipe(left)">
                                      <p:cBhvr>
                                        <p:cTn id="112" dur="500"/>
                                        <p:tgtEl>
                                          <p:spTgt spid="34"/>
                                        </p:tgtEl>
                                      </p:cBhvr>
                                    </p:animEffect>
                                  </p:childTnLst>
                                </p:cTn>
                              </p:par>
                            </p:childTnLst>
                          </p:cTn>
                        </p:par>
                        <p:par>
                          <p:cTn id="113" fill="hold">
                            <p:stCondLst>
                              <p:cond delay="12000"/>
                            </p:stCondLst>
                            <p:childTnLst>
                              <p:par>
                                <p:cTn id="114" presetID="1" presetClass="entr" presetSubtype="0" fill="hold" grpId="0" nodeType="afterEffect">
                                  <p:stCondLst>
                                    <p:cond delay="0"/>
                                  </p:stCondLst>
                                  <p:childTnLst>
                                    <p:set>
                                      <p:cBhvr>
                                        <p:cTn id="115" dur="1" fill="hold">
                                          <p:stCondLst>
                                            <p:cond delay="0"/>
                                          </p:stCondLst>
                                        </p:cTn>
                                        <p:tgtEl>
                                          <p:spTgt spid="28"/>
                                        </p:tgtEl>
                                        <p:attrNameLst>
                                          <p:attrName>style.visibility</p:attrName>
                                        </p:attrNameLst>
                                      </p:cBhvr>
                                      <p:to>
                                        <p:strVal val="visible"/>
                                      </p:to>
                                    </p:set>
                                  </p:childTnLst>
                                </p:cTn>
                              </p:par>
                            </p:childTnLst>
                          </p:cTn>
                        </p:par>
                        <p:par>
                          <p:cTn id="116" fill="hold">
                            <p:stCondLst>
                              <p:cond delay="12000"/>
                            </p:stCondLst>
                            <p:childTnLst>
                              <p:par>
                                <p:cTn id="117" presetID="10" presetClass="entr" presetSubtype="0" fill="hold" grpId="0" nodeType="after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500"/>
                                        <p:tgtEl>
                                          <p:spTgt spid="38"/>
                                        </p:tgtEl>
                                      </p:cBhvr>
                                    </p:animEffect>
                                  </p:childTnLst>
                                </p:cTn>
                              </p:par>
                            </p:childTnLst>
                          </p:cTn>
                        </p:par>
                        <p:par>
                          <p:cTn id="120" fill="hold">
                            <p:stCondLst>
                              <p:cond delay="12500"/>
                            </p:stCondLst>
                            <p:childTnLst>
                              <p:par>
                                <p:cTn id="121" presetID="22" presetClass="entr" presetSubtype="8" fill="hold" nodeType="afterEffect">
                                  <p:stCondLst>
                                    <p:cond delay="0"/>
                                  </p:stCondLst>
                                  <p:childTnLst>
                                    <p:set>
                                      <p:cBhvr>
                                        <p:cTn id="122" dur="1" fill="hold">
                                          <p:stCondLst>
                                            <p:cond delay="0"/>
                                          </p:stCondLst>
                                        </p:cTn>
                                        <p:tgtEl>
                                          <p:spTgt spid="32"/>
                                        </p:tgtEl>
                                        <p:attrNameLst>
                                          <p:attrName>style.visibility</p:attrName>
                                        </p:attrNameLst>
                                      </p:cBhvr>
                                      <p:to>
                                        <p:strVal val="visible"/>
                                      </p:to>
                                    </p:set>
                                    <p:animEffect transition="in" filter="wipe(left)">
                                      <p:cBhvr>
                                        <p:cTn id="123" dur="500"/>
                                        <p:tgtEl>
                                          <p:spTgt spid="32"/>
                                        </p:tgtEl>
                                      </p:cBhvr>
                                    </p:animEffect>
                                  </p:childTnLst>
                                </p:cTn>
                              </p:par>
                            </p:childTnLst>
                          </p:cTn>
                        </p:par>
                        <p:par>
                          <p:cTn id="124" fill="hold">
                            <p:stCondLst>
                              <p:cond delay="13000"/>
                            </p:stCondLst>
                            <p:childTnLst>
                              <p:par>
                                <p:cTn id="125" presetID="22" presetClass="entr" presetSubtype="8" fill="hold" grpId="0" nodeType="afterEffect">
                                  <p:stCondLst>
                                    <p:cond delay="0"/>
                                  </p:stCondLst>
                                  <p:childTnLst>
                                    <p:set>
                                      <p:cBhvr>
                                        <p:cTn id="126" dur="1" fill="hold">
                                          <p:stCondLst>
                                            <p:cond delay="0"/>
                                          </p:stCondLst>
                                        </p:cTn>
                                        <p:tgtEl>
                                          <p:spTgt spid="35"/>
                                        </p:tgtEl>
                                        <p:attrNameLst>
                                          <p:attrName>style.visibility</p:attrName>
                                        </p:attrNameLst>
                                      </p:cBhvr>
                                      <p:to>
                                        <p:strVal val="visible"/>
                                      </p:to>
                                    </p:set>
                                    <p:animEffect transition="in" filter="wipe(left)">
                                      <p:cBhvr>
                                        <p:cTn id="127" dur="500"/>
                                        <p:tgtEl>
                                          <p:spTgt spid="35"/>
                                        </p:tgtEl>
                                      </p:cBhvr>
                                    </p:animEffect>
                                  </p:childTnLst>
                                </p:cTn>
                              </p:par>
                            </p:childTnLst>
                          </p:cTn>
                        </p:par>
                        <p:par>
                          <p:cTn id="128" fill="hold">
                            <p:stCondLst>
                              <p:cond delay="13500"/>
                            </p:stCondLst>
                            <p:childTnLst>
                              <p:par>
                                <p:cTn id="129" presetID="1" presetClass="entr" presetSubtype="0" fill="hold" grpId="0" nodeType="afterEffect">
                                  <p:stCondLst>
                                    <p:cond delay="0"/>
                                  </p:stCondLst>
                                  <p:childTnLst>
                                    <p:set>
                                      <p:cBhvr>
                                        <p:cTn id="130" dur="1" fill="hold">
                                          <p:stCondLst>
                                            <p:cond delay="0"/>
                                          </p:stCondLst>
                                        </p:cTn>
                                        <p:tgtEl>
                                          <p:spTgt spid="29"/>
                                        </p:tgtEl>
                                        <p:attrNameLst>
                                          <p:attrName>style.visibility</p:attrName>
                                        </p:attrNameLst>
                                      </p:cBhvr>
                                      <p:to>
                                        <p:strVal val="visible"/>
                                      </p:to>
                                    </p:set>
                                  </p:childTnLst>
                                </p:cTn>
                              </p:par>
                            </p:childTnLst>
                          </p:cTn>
                        </p:par>
                        <p:par>
                          <p:cTn id="131" fill="hold">
                            <p:stCondLst>
                              <p:cond delay="13500"/>
                            </p:stCondLst>
                            <p:childTnLst>
                              <p:par>
                                <p:cTn id="132" presetID="10" presetClass="entr" presetSubtype="0" fill="hold" grpId="0" nodeType="afterEffect">
                                  <p:stCondLst>
                                    <p:cond delay="0"/>
                                  </p:stCondLst>
                                  <p:childTnLst>
                                    <p:set>
                                      <p:cBhvr>
                                        <p:cTn id="133" dur="1" fill="hold">
                                          <p:stCondLst>
                                            <p:cond delay="0"/>
                                          </p:stCondLst>
                                        </p:cTn>
                                        <p:tgtEl>
                                          <p:spTgt spid="39"/>
                                        </p:tgtEl>
                                        <p:attrNameLst>
                                          <p:attrName>style.visibility</p:attrName>
                                        </p:attrNameLst>
                                      </p:cBhvr>
                                      <p:to>
                                        <p:strVal val="visible"/>
                                      </p:to>
                                    </p:set>
                                    <p:animEffect transition="in" filter="fade">
                                      <p:cBhvr>
                                        <p:cTn id="134" dur="500"/>
                                        <p:tgtEl>
                                          <p:spTgt spid="39"/>
                                        </p:tgtEl>
                                      </p:cBhvr>
                                    </p:animEffect>
                                  </p:childTnLst>
                                </p:cTn>
                              </p:par>
                            </p:childTnLst>
                          </p:cTn>
                        </p:par>
                        <p:par>
                          <p:cTn id="135" fill="hold">
                            <p:stCondLst>
                              <p:cond delay="14000"/>
                            </p:stCondLst>
                            <p:childTnLst>
                              <p:par>
                                <p:cTn id="136" presetID="22" presetClass="entr" presetSubtype="8" fill="hold" nodeType="afterEffect">
                                  <p:stCondLst>
                                    <p:cond delay="0"/>
                                  </p:stCondLst>
                                  <p:childTnLst>
                                    <p:set>
                                      <p:cBhvr>
                                        <p:cTn id="137" dur="1" fill="hold">
                                          <p:stCondLst>
                                            <p:cond delay="0"/>
                                          </p:stCondLst>
                                        </p:cTn>
                                        <p:tgtEl>
                                          <p:spTgt spid="33"/>
                                        </p:tgtEl>
                                        <p:attrNameLst>
                                          <p:attrName>style.visibility</p:attrName>
                                        </p:attrNameLst>
                                      </p:cBhvr>
                                      <p:to>
                                        <p:strVal val="visible"/>
                                      </p:to>
                                    </p:set>
                                    <p:animEffect transition="in" filter="wipe(left)">
                                      <p:cBhvr>
                                        <p:cTn id="138" dur="500"/>
                                        <p:tgtEl>
                                          <p:spTgt spid="33"/>
                                        </p:tgtEl>
                                      </p:cBhvr>
                                    </p:animEffect>
                                  </p:childTnLst>
                                </p:cTn>
                              </p:par>
                            </p:childTnLst>
                          </p:cTn>
                        </p:par>
                        <p:par>
                          <p:cTn id="139" fill="hold">
                            <p:stCondLst>
                              <p:cond delay="14500"/>
                            </p:stCondLst>
                            <p:childTnLst>
                              <p:par>
                                <p:cTn id="140" presetID="22" presetClass="entr" presetSubtype="8" fill="hold" grpId="0" nodeType="afterEffect">
                                  <p:stCondLst>
                                    <p:cond delay="0"/>
                                  </p:stCondLst>
                                  <p:childTnLst>
                                    <p:set>
                                      <p:cBhvr>
                                        <p:cTn id="141" dur="1" fill="hold">
                                          <p:stCondLst>
                                            <p:cond delay="0"/>
                                          </p:stCondLst>
                                        </p:cTn>
                                        <p:tgtEl>
                                          <p:spTgt spid="36"/>
                                        </p:tgtEl>
                                        <p:attrNameLst>
                                          <p:attrName>style.visibility</p:attrName>
                                        </p:attrNameLst>
                                      </p:cBhvr>
                                      <p:to>
                                        <p:strVal val="visible"/>
                                      </p:to>
                                    </p:set>
                                    <p:animEffect transition="in" filter="wipe(left)">
                                      <p:cBhvr>
                                        <p:cTn id="142" dur="500"/>
                                        <p:tgtEl>
                                          <p:spTgt spid="36"/>
                                        </p:tgtEl>
                                      </p:cBhvr>
                                    </p:animEffect>
                                  </p:childTnLst>
                                </p:cTn>
                              </p:par>
                            </p:childTnLst>
                          </p:cTn>
                        </p:par>
                        <p:par>
                          <p:cTn id="143" fill="hold">
                            <p:stCondLst>
                              <p:cond delay="15000"/>
                            </p:stCondLst>
                            <p:childTnLst>
                              <p:par>
                                <p:cTn id="144" presetID="1" presetClass="entr" presetSubtype="0" fill="hold" grpId="0" nodeType="afterEffect">
                                  <p:stCondLst>
                                    <p:cond delay="0"/>
                                  </p:stCondLst>
                                  <p:childTnLst>
                                    <p:set>
                                      <p:cBhvr>
                                        <p:cTn id="145"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17" grpId="0"/>
      <p:bldP spid="19" grpId="0"/>
      <p:bldP spid="20" grpId="0"/>
      <p:bldP spid="21" grpId="0" animBg="1"/>
      <p:bldP spid="22" grpId="0" animBg="1"/>
      <p:bldP spid="23" grpId="0"/>
      <p:bldP spid="25" grpId="0" animBg="1"/>
      <p:bldP spid="28" grpId="0"/>
      <p:bldP spid="29" grpId="0"/>
      <p:bldP spid="30" grpId="0"/>
      <p:bldP spid="34" grpId="0" animBg="1"/>
      <p:bldP spid="35" grpId="0" animBg="1"/>
      <p:bldP spid="36" grpId="0" animBg="1"/>
      <p:bldP spid="37" grpId="0"/>
      <p:bldP spid="38" grpId="0"/>
      <p:bldP spid="39" grpId="0"/>
      <p:bldP spid="40" grpId="0"/>
      <p:bldP spid="41" grpId="0"/>
      <p:bldP spid="44" grpId="0" animBg="1"/>
      <p:bldP spid="45" grpId="0" animBg="1"/>
      <p:bldP spid="46" grpId="0"/>
      <p:bldP spid="47" grpId="0"/>
      <p:bldP spid="4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674962" y="189933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3477608" y="189933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6280256" y="189933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9082903" y="189933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674962" y="429362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3477608" y="429362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6280256" y="429362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9082903" y="429362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b="1" dirty="0" smtClean="0">
                <a:solidFill>
                  <a:srgbClr val="FF0000"/>
                </a:solidFill>
                <a:latin typeface="+mj-lt"/>
              </a:rPr>
              <a:t>AVANTI</a:t>
            </a:r>
            <a:endParaRPr lang="en-US" sz="4000" b="1" dirty="0">
              <a:solidFill>
                <a:srgbClr val="FF0000"/>
              </a:solidFill>
              <a:latin typeface="+mj-lt"/>
            </a:endParaRPr>
          </a:p>
        </p:txBody>
      </p:sp>
      <p:sp>
        <p:nvSpPr>
          <p:cNvPr id="2" name="Title 1"/>
          <p:cNvSpPr>
            <a:spLocks noGrp="1"/>
          </p:cNvSpPr>
          <p:nvPr>
            <p:ph type="title"/>
          </p:nvPr>
        </p:nvSpPr>
        <p:spPr/>
        <p:txBody>
          <a:bodyPr/>
          <a:lstStyle/>
          <a:p>
            <a:r>
              <a:rPr lang="en-US" dirty="0"/>
              <a:t>Our Alliance</a:t>
            </a:r>
          </a:p>
        </p:txBody>
      </p:sp>
      <p:sp>
        <p:nvSpPr>
          <p:cNvPr id="4" name="Slide Number Placeholder 3"/>
          <p:cNvSpPr>
            <a:spLocks noGrp="1"/>
          </p:cNvSpPr>
          <p:nvPr>
            <p:ph type="sldNum" sz="quarter" idx="12"/>
          </p:nvPr>
        </p:nvSpPr>
        <p:spPr/>
        <p:txBody>
          <a:bodyPr/>
          <a:lstStyle/>
          <a:p>
            <a:fld id="{98C37ADA-FE03-4EF7-8F15-3521BBE76F4D}" type="slidenum">
              <a:rPr lang="en-US"/>
              <a:pPr/>
              <a:t>9</a:t>
            </a:fld>
            <a:endParaRPr lang="en-US"/>
          </a:p>
        </p:txBody>
      </p:sp>
      <p:grpSp>
        <p:nvGrpSpPr>
          <p:cNvPr id="3" name="Group 26"/>
          <p:cNvGrpSpPr/>
          <p:nvPr/>
        </p:nvGrpSpPr>
        <p:grpSpPr>
          <a:xfrm>
            <a:off x="674962" y="3484842"/>
            <a:ext cx="1274708" cy="592100"/>
            <a:chOff x="674962" y="3484842"/>
            <a:chExt cx="1274708" cy="592100"/>
          </a:xfrm>
        </p:grpSpPr>
        <p:sp>
          <p:nvSpPr>
            <p:cNvPr id="25" name="TextBox 24"/>
            <p:cNvSpPr txBox="1"/>
            <p:nvPr/>
          </p:nvSpPr>
          <p:spPr>
            <a:xfrm>
              <a:off x="674962" y="3484842"/>
              <a:ext cx="1274708" cy="369332"/>
            </a:xfrm>
            <a:prstGeom prst="rect">
              <a:avLst/>
            </a:prstGeom>
            <a:noFill/>
          </p:spPr>
          <p:txBody>
            <a:bodyPr wrap="none" rtlCol="0">
              <a:spAutoFit/>
            </a:bodyPr>
            <a:lstStyle/>
            <a:p>
              <a:r>
                <a:rPr lang="en-US" b="1" dirty="0" smtClean="0">
                  <a:solidFill>
                    <a:schemeClr val="bg2"/>
                  </a:solidFill>
                </a:rPr>
                <a:t>            HP</a:t>
              </a:r>
              <a:endParaRPr lang="en-US" b="1" dirty="0">
                <a:solidFill>
                  <a:schemeClr val="bg2"/>
                </a:solidFill>
              </a:endParaRPr>
            </a:p>
          </p:txBody>
        </p:sp>
        <p:sp>
          <p:nvSpPr>
            <p:cNvPr id="26" name="Rectangle 25"/>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5" name="Group 27"/>
          <p:cNvGrpSpPr/>
          <p:nvPr/>
        </p:nvGrpSpPr>
        <p:grpSpPr>
          <a:xfrm>
            <a:off x="3477609" y="3484842"/>
            <a:ext cx="1535420" cy="592100"/>
            <a:chOff x="674962" y="3484842"/>
            <a:chExt cx="1535420" cy="592100"/>
          </a:xfrm>
        </p:grpSpPr>
        <p:sp>
          <p:nvSpPr>
            <p:cNvPr id="29" name="TextBox 28"/>
            <p:cNvSpPr txBox="1"/>
            <p:nvPr/>
          </p:nvSpPr>
          <p:spPr>
            <a:xfrm>
              <a:off x="674962" y="3484842"/>
              <a:ext cx="1535420" cy="369332"/>
            </a:xfrm>
            <a:prstGeom prst="rect">
              <a:avLst/>
            </a:prstGeom>
            <a:noFill/>
          </p:spPr>
          <p:txBody>
            <a:bodyPr wrap="none" rtlCol="0">
              <a:spAutoFit/>
            </a:bodyPr>
            <a:lstStyle/>
            <a:p>
              <a:r>
                <a:rPr lang="en-US" b="1" dirty="0" smtClean="0">
                  <a:solidFill>
                    <a:schemeClr val="bg2"/>
                  </a:solidFill>
                </a:rPr>
                <a:t>           ACER</a:t>
              </a:r>
              <a:endParaRPr lang="en-US" b="1" dirty="0">
                <a:solidFill>
                  <a:schemeClr val="bg2"/>
                </a:solidFill>
              </a:endParaRPr>
            </a:p>
          </p:txBody>
        </p:sp>
        <p:sp>
          <p:nvSpPr>
            <p:cNvPr id="30" name="Rectangle 29"/>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6" name="Group 30"/>
          <p:cNvGrpSpPr/>
          <p:nvPr/>
        </p:nvGrpSpPr>
        <p:grpSpPr>
          <a:xfrm>
            <a:off x="6280256" y="3484842"/>
            <a:ext cx="1620957" cy="592100"/>
            <a:chOff x="674962" y="3484842"/>
            <a:chExt cx="1620957" cy="592100"/>
          </a:xfrm>
        </p:grpSpPr>
        <p:sp>
          <p:nvSpPr>
            <p:cNvPr id="32" name="TextBox 31"/>
            <p:cNvSpPr txBox="1"/>
            <p:nvPr/>
          </p:nvSpPr>
          <p:spPr>
            <a:xfrm>
              <a:off x="674962" y="3484842"/>
              <a:ext cx="1620957" cy="369332"/>
            </a:xfrm>
            <a:prstGeom prst="rect">
              <a:avLst/>
            </a:prstGeom>
            <a:noFill/>
          </p:spPr>
          <p:txBody>
            <a:bodyPr wrap="none" rtlCol="0">
              <a:spAutoFit/>
            </a:bodyPr>
            <a:lstStyle/>
            <a:p>
              <a:r>
                <a:rPr lang="en-US" b="1" dirty="0" smtClean="0">
                  <a:solidFill>
                    <a:schemeClr val="bg2"/>
                  </a:solidFill>
                </a:rPr>
                <a:t>             DELL</a:t>
              </a:r>
              <a:endParaRPr lang="en-US" b="1" dirty="0">
                <a:solidFill>
                  <a:schemeClr val="bg2"/>
                </a:solidFill>
              </a:endParaRPr>
            </a:p>
          </p:txBody>
        </p:sp>
        <p:sp>
          <p:nvSpPr>
            <p:cNvPr id="33" name="Rectangle 32"/>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7" name="Group 33"/>
          <p:cNvGrpSpPr/>
          <p:nvPr/>
        </p:nvGrpSpPr>
        <p:grpSpPr>
          <a:xfrm>
            <a:off x="9082903" y="3484842"/>
            <a:ext cx="1714957" cy="592100"/>
            <a:chOff x="674962" y="3484842"/>
            <a:chExt cx="1714957" cy="592100"/>
          </a:xfrm>
        </p:grpSpPr>
        <p:sp>
          <p:nvSpPr>
            <p:cNvPr id="35" name="TextBox 34"/>
            <p:cNvSpPr txBox="1"/>
            <p:nvPr/>
          </p:nvSpPr>
          <p:spPr>
            <a:xfrm>
              <a:off x="674962" y="3484842"/>
              <a:ext cx="1714957" cy="369332"/>
            </a:xfrm>
            <a:prstGeom prst="rect">
              <a:avLst/>
            </a:prstGeom>
            <a:noFill/>
          </p:spPr>
          <p:txBody>
            <a:bodyPr wrap="none" rtlCol="0">
              <a:spAutoFit/>
            </a:bodyPr>
            <a:lstStyle/>
            <a:p>
              <a:r>
                <a:rPr lang="en-US" b="1" dirty="0" smtClean="0">
                  <a:solidFill>
                    <a:schemeClr val="bg2"/>
                  </a:solidFill>
                </a:rPr>
                <a:t>            APPLE</a:t>
              </a:r>
              <a:endParaRPr lang="en-US" b="1" dirty="0">
                <a:solidFill>
                  <a:schemeClr val="bg2"/>
                </a:solidFill>
              </a:endParaRPr>
            </a:p>
          </p:txBody>
        </p:sp>
        <p:sp>
          <p:nvSpPr>
            <p:cNvPr id="36" name="Rectangle 35"/>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8" name="Group 36"/>
          <p:cNvGrpSpPr/>
          <p:nvPr/>
        </p:nvGrpSpPr>
        <p:grpSpPr>
          <a:xfrm>
            <a:off x="674962" y="5881239"/>
            <a:ext cx="1620957" cy="592100"/>
            <a:chOff x="674962" y="3484842"/>
            <a:chExt cx="1620957" cy="592100"/>
          </a:xfrm>
        </p:grpSpPr>
        <p:sp>
          <p:nvSpPr>
            <p:cNvPr id="38" name="TextBox 37"/>
            <p:cNvSpPr txBox="1"/>
            <p:nvPr/>
          </p:nvSpPr>
          <p:spPr>
            <a:xfrm>
              <a:off x="674962" y="3484842"/>
              <a:ext cx="1620957" cy="369332"/>
            </a:xfrm>
            <a:prstGeom prst="rect">
              <a:avLst/>
            </a:prstGeom>
            <a:noFill/>
          </p:spPr>
          <p:txBody>
            <a:bodyPr wrap="none" rtlCol="0">
              <a:spAutoFit/>
            </a:bodyPr>
            <a:lstStyle/>
            <a:p>
              <a:r>
                <a:rPr lang="en-US" b="1" dirty="0" smtClean="0">
                  <a:solidFill>
                    <a:schemeClr val="bg2"/>
                  </a:solidFill>
                </a:rPr>
                <a:t>           CISCO</a:t>
              </a:r>
              <a:endParaRPr lang="en-US" b="1" dirty="0">
                <a:solidFill>
                  <a:schemeClr val="bg2"/>
                </a:solidFill>
              </a:endParaRPr>
            </a:p>
          </p:txBody>
        </p:sp>
        <p:sp>
          <p:nvSpPr>
            <p:cNvPr id="39" name="Rectangle 38"/>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9" name="Group 39"/>
          <p:cNvGrpSpPr/>
          <p:nvPr/>
        </p:nvGrpSpPr>
        <p:grpSpPr>
          <a:xfrm>
            <a:off x="3477609" y="5881239"/>
            <a:ext cx="2018501" cy="592100"/>
            <a:chOff x="674962" y="3484842"/>
            <a:chExt cx="2018501" cy="592100"/>
          </a:xfrm>
        </p:grpSpPr>
        <p:sp>
          <p:nvSpPr>
            <p:cNvPr id="41" name="TextBox 40"/>
            <p:cNvSpPr txBox="1"/>
            <p:nvPr/>
          </p:nvSpPr>
          <p:spPr>
            <a:xfrm>
              <a:off x="674962" y="3484842"/>
              <a:ext cx="2018501" cy="369332"/>
            </a:xfrm>
            <a:prstGeom prst="rect">
              <a:avLst/>
            </a:prstGeom>
            <a:noFill/>
          </p:spPr>
          <p:txBody>
            <a:bodyPr wrap="none" rtlCol="0">
              <a:spAutoFit/>
            </a:bodyPr>
            <a:lstStyle/>
            <a:p>
              <a:r>
                <a:rPr lang="en-US" b="1" dirty="0" smtClean="0">
                  <a:solidFill>
                    <a:schemeClr val="bg2"/>
                  </a:solidFill>
                </a:rPr>
                <a:t>       MICROSOFT</a:t>
              </a:r>
              <a:endParaRPr lang="en-US" b="1" dirty="0">
                <a:solidFill>
                  <a:schemeClr val="bg2"/>
                </a:solidFill>
              </a:endParaRPr>
            </a:p>
          </p:txBody>
        </p:sp>
        <p:sp>
          <p:nvSpPr>
            <p:cNvPr id="42" name="Rectangle 41"/>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10" name="Group 42"/>
          <p:cNvGrpSpPr/>
          <p:nvPr/>
        </p:nvGrpSpPr>
        <p:grpSpPr>
          <a:xfrm>
            <a:off x="6280256" y="5881239"/>
            <a:ext cx="1595309" cy="592100"/>
            <a:chOff x="674962" y="3484842"/>
            <a:chExt cx="1595309" cy="592100"/>
          </a:xfrm>
        </p:grpSpPr>
        <p:sp>
          <p:nvSpPr>
            <p:cNvPr id="44" name="TextBox 43"/>
            <p:cNvSpPr txBox="1"/>
            <p:nvPr/>
          </p:nvSpPr>
          <p:spPr>
            <a:xfrm>
              <a:off x="674962" y="3484842"/>
              <a:ext cx="1595309" cy="369332"/>
            </a:xfrm>
            <a:prstGeom prst="rect">
              <a:avLst/>
            </a:prstGeom>
            <a:noFill/>
          </p:spPr>
          <p:txBody>
            <a:bodyPr wrap="none" rtlCol="0">
              <a:spAutoFit/>
            </a:bodyPr>
            <a:lstStyle/>
            <a:p>
              <a:r>
                <a:rPr lang="en-US" b="1" dirty="0" smtClean="0">
                  <a:solidFill>
                    <a:schemeClr val="bg2"/>
                  </a:solidFill>
                </a:rPr>
                <a:t>           DLINK</a:t>
              </a:r>
              <a:endParaRPr lang="en-US" b="1" dirty="0">
                <a:solidFill>
                  <a:schemeClr val="bg2"/>
                </a:solidFill>
              </a:endParaRPr>
            </a:p>
          </p:txBody>
        </p:sp>
        <p:sp>
          <p:nvSpPr>
            <p:cNvPr id="45" name="Rectangle 44"/>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11" name="Group 45"/>
          <p:cNvGrpSpPr/>
          <p:nvPr/>
        </p:nvGrpSpPr>
        <p:grpSpPr>
          <a:xfrm>
            <a:off x="9082903" y="5881239"/>
            <a:ext cx="1514004" cy="592100"/>
            <a:chOff x="674962" y="3484842"/>
            <a:chExt cx="1514004" cy="592100"/>
          </a:xfrm>
        </p:grpSpPr>
        <p:sp>
          <p:nvSpPr>
            <p:cNvPr id="47" name="TextBox 46"/>
            <p:cNvSpPr txBox="1"/>
            <p:nvPr/>
          </p:nvSpPr>
          <p:spPr>
            <a:xfrm>
              <a:off x="674962" y="3484842"/>
              <a:ext cx="1514004" cy="369332"/>
            </a:xfrm>
            <a:prstGeom prst="rect">
              <a:avLst/>
            </a:prstGeom>
            <a:noFill/>
          </p:spPr>
          <p:txBody>
            <a:bodyPr wrap="none" rtlCol="0">
              <a:spAutoFit/>
            </a:bodyPr>
            <a:lstStyle/>
            <a:p>
              <a:r>
                <a:rPr lang="en-US" b="1" dirty="0" smtClean="0">
                  <a:solidFill>
                    <a:schemeClr val="bg2"/>
                  </a:solidFill>
                </a:rPr>
                <a:t>          Avanti</a:t>
              </a:r>
              <a:endParaRPr lang="en-US" b="1" dirty="0">
                <a:solidFill>
                  <a:schemeClr val="bg2"/>
                </a:solidFill>
              </a:endParaRPr>
            </a:p>
          </p:txBody>
        </p:sp>
        <p:sp>
          <p:nvSpPr>
            <p:cNvPr id="48" name="Rectangle 47"/>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pic>
        <p:nvPicPr>
          <p:cNvPr id="5121" name="Picture 1"/>
          <p:cNvPicPr>
            <a:picLocks noChangeAspect="1" noChangeArrowheads="1"/>
          </p:cNvPicPr>
          <p:nvPr/>
        </p:nvPicPr>
        <p:blipFill>
          <a:blip r:embed="rId2" cstate="print"/>
          <a:srcRect/>
          <a:stretch>
            <a:fillRect/>
          </a:stretch>
        </p:blipFill>
        <p:spPr bwMode="auto">
          <a:xfrm>
            <a:off x="916041" y="2070703"/>
            <a:ext cx="1984813" cy="1171575"/>
          </a:xfrm>
          <a:prstGeom prst="rect">
            <a:avLst/>
          </a:prstGeom>
          <a:noFill/>
          <a:ln w="9525">
            <a:noFill/>
            <a:miter lim="800000"/>
            <a:headEnd/>
            <a:tailEnd/>
          </a:ln>
        </p:spPr>
      </p:pic>
      <p:pic>
        <p:nvPicPr>
          <p:cNvPr id="5122" name="Picture 2"/>
          <p:cNvPicPr>
            <a:picLocks noChangeAspect="1" noChangeArrowheads="1"/>
          </p:cNvPicPr>
          <p:nvPr/>
        </p:nvPicPr>
        <p:blipFill>
          <a:blip r:embed="rId3" cstate="print"/>
          <a:srcRect/>
          <a:stretch>
            <a:fillRect/>
          </a:stretch>
        </p:blipFill>
        <p:spPr bwMode="auto">
          <a:xfrm>
            <a:off x="3459824" y="2144110"/>
            <a:ext cx="2404242" cy="1024759"/>
          </a:xfrm>
          <a:prstGeom prst="rect">
            <a:avLst/>
          </a:prstGeom>
          <a:noFill/>
          <a:ln w="9525">
            <a:noFill/>
            <a:miter lim="800000"/>
            <a:headEnd/>
            <a:tailEnd/>
          </a:ln>
        </p:spPr>
      </p:pic>
      <p:pic>
        <p:nvPicPr>
          <p:cNvPr id="5123" name="Picture 3"/>
          <p:cNvPicPr>
            <a:picLocks noChangeAspect="1" noChangeArrowheads="1"/>
          </p:cNvPicPr>
          <p:nvPr/>
        </p:nvPicPr>
        <p:blipFill>
          <a:blip r:embed="rId4" cstate="print"/>
          <a:srcRect/>
          <a:stretch>
            <a:fillRect/>
          </a:stretch>
        </p:blipFill>
        <p:spPr bwMode="auto">
          <a:xfrm>
            <a:off x="6364260" y="2175641"/>
            <a:ext cx="2200275" cy="914400"/>
          </a:xfrm>
          <a:prstGeom prst="rect">
            <a:avLst/>
          </a:prstGeom>
          <a:noFill/>
          <a:ln w="9525">
            <a:noFill/>
            <a:miter lim="800000"/>
            <a:headEnd/>
            <a:tailEnd/>
          </a:ln>
        </p:spPr>
      </p:pic>
      <p:pic>
        <p:nvPicPr>
          <p:cNvPr id="5124" name="Picture 4"/>
          <p:cNvPicPr>
            <a:picLocks noChangeAspect="1" noChangeArrowheads="1"/>
          </p:cNvPicPr>
          <p:nvPr/>
        </p:nvPicPr>
        <p:blipFill>
          <a:blip r:embed="rId5" cstate="print"/>
          <a:srcRect/>
          <a:stretch>
            <a:fillRect/>
          </a:stretch>
        </p:blipFill>
        <p:spPr bwMode="auto">
          <a:xfrm>
            <a:off x="9270124" y="1867412"/>
            <a:ext cx="1797269" cy="1472049"/>
          </a:xfrm>
          <a:prstGeom prst="rect">
            <a:avLst/>
          </a:prstGeom>
          <a:noFill/>
          <a:ln w="9525">
            <a:noFill/>
            <a:miter lim="800000"/>
            <a:headEnd/>
            <a:tailEnd/>
          </a:ln>
        </p:spPr>
      </p:pic>
      <p:pic>
        <p:nvPicPr>
          <p:cNvPr id="5125" name="Picture 5"/>
          <p:cNvPicPr>
            <a:picLocks noChangeAspect="1" noChangeArrowheads="1"/>
          </p:cNvPicPr>
          <p:nvPr/>
        </p:nvPicPr>
        <p:blipFill>
          <a:blip r:embed="rId6" cstate="print"/>
          <a:srcRect/>
          <a:stretch>
            <a:fillRect/>
          </a:stretch>
        </p:blipFill>
        <p:spPr bwMode="auto">
          <a:xfrm>
            <a:off x="814717" y="4540469"/>
            <a:ext cx="2142854" cy="984030"/>
          </a:xfrm>
          <a:prstGeom prst="rect">
            <a:avLst/>
          </a:prstGeom>
          <a:noFill/>
          <a:ln w="9525">
            <a:noFill/>
            <a:miter lim="800000"/>
            <a:headEnd/>
            <a:tailEnd/>
          </a:ln>
        </p:spPr>
      </p:pic>
      <p:pic>
        <p:nvPicPr>
          <p:cNvPr id="5126" name="Picture 6"/>
          <p:cNvPicPr>
            <a:picLocks noChangeAspect="1" noChangeArrowheads="1"/>
          </p:cNvPicPr>
          <p:nvPr/>
        </p:nvPicPr>
        <p:blipFill>
          <a:blip r:embed="rId7" cstate="print"/>
          <a:srcRect/>
          <a:stretch>
            <a:fillRect/>
          </a:stretch>
        </p:blipFill>
        <p:spPr bwMode="auto">
          <a:xfrm>
            <a:off x="3556108" y="4635063"/>
            <a:ext cx="2186783" cy="750012"/>
          </a:xfrm>
          <a:prstGeom prst="rect">
            <a:avLst/>
          </a:prstGeom>
          <a:noFill/>
          <a:ln w="9525">
            <a:noFill/>
            <a:miter lim="800000"/>
            <a:headEnd/>
            <a:tailEnd/>
          </a:ln>
        </p:spPr>
      </p:pic>
      <p:pic>
        <p:nvPicPr>
          <p:cNvPr id="5127" name="Picture 7"/>
          <p:cNvPicPr>
            <a:picLocks noChangeAspect="1" noChangeArrowheads="1"/>
          </p:cNvPicPr>
          <p:nvPr/>
        </p:nvPicPr>
        <p:blipFill>
          <a:blip r:embed="rId8" cstate="print"/>
          <a:srcRect/>
          <a:stretch>
            <a:fillRect/>
          </a:stretch>
        </p:blipFill>
        <p:spPr bwMode="auto">
          <a:xfrm>
            <a:off x="6463862" y="4745421"/>
            <a:ext cx="2038350" cy="610750"/>
          </a:xfrm>
          <a:prstGeom prst="rect">
            <a:avLst/>
          </a:prstGeom>
          <a:noFill/>
          <a:ln w="9525">
            <a:noFill/>
            <a:miter lim="800000"/>
            <a:headEnd/>
            <a:tailEnd/>
          </a:ln>
        </p:spPr>
      </p:pic>
    </p:spTree>
    <p:extLst>
      <p:ext uri="{BB962C8B-B14F-4D97-AF65-F5344CB8AC3E}">
        <p14:creationId xmlns:p14="http://schemas.microsoft.com/office/powerpoint/2010/main" val="3108088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674962" y="189933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3477608" y="189933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6280256" y="189933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9082903" y="189933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674962" y="429362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3477608" y="429362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6280256" y="429362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9082903" y="4293628"/>
            <a:ext cx="2434133" cy="15093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Our Alliance</a:t>
            </a:r>
          </a:p>
        </p:txBody>
      </p:sp>
      <p:sp>
        <p:nvSpPr>
          <p:cNvPr id="4" name="Slide Number Placeholder 3"/>
          <p:cNvSpPr>
            <a:spLocks noGrp="1"/>
          </p:cNvSpPr>
          <p:nvPr>
            <p:ph type="sldNum" sz="quarter" idx="12"/>
          </p:nvPr>
        </p:nvSpPr>
        <p:spPr/>
        <p:txBody>
          <a:bodyPr/>
          <a:lstStyle/>
          <a:p>
            <a:fld id="{98C37ADA-FE03-4EF7-8F15-3521BBE76F4D}" type="slidenum">
              <a:rPr lang="en-US"/>
              <a:pPr/>
              <a:t>10</a:t>
            </a:fld>
            <a:endParaRPr lang="en-US"/>
          </a:p>
        </p:txBody>
      </p:sp>
      <p:grpSp>
        <p:nvGrpSpPr>
          <p:cNvPr id="3" name="Group 26"/>
          <p:cNvGrpSpPr/>
          <p:nvPr/>
        </p:nvGrpSpPr>
        <p:grpSpPr>
          <a:xfrm>
            <a:off x="674962" y="3484842"/>
            <a:ext cx="1428596" cy="592100"/>
            <a:chOff x="674962" y="3484842"/>
            <a:chExt cx="1428596" cy="592100"/>
          </a:xfrm>
        </p:grpSpPr>
        <p:sp>
          <p:nvSpPr>
            <p:cNvPr id="25" name="TextBox 24"/>
            <p:cNvSpPr txBox="1"/>
            <p:nvPr/>
          </p:nvSpPr>
          <p:spPr>
            <a:xfrm>
              <a:off x="674962" y="3484842"/>
              <a:ext cx="1428596" cy="369332"/>
            </a:xfrm>
            <a:prstGeom prst="rect">
              <a:avLst/>
            </a:prstGeom>
            <a:noFill/>
          </p:spPr>
          <p:txBody>
            <a:bodyPr wrap="none" rtlCol="0">
              <a:spAutoFit/>
            </a:bodyPr>
            <a:lstStyle/>
            <a:p>
              <a:r>
                <a:rPr lang="en-US" b="1" dirty="0" smtClean="0">
                  <a:solidFill>
                    <a:schemeClr val="bg2"/>
                  </a:solidFill>
                </a:rPr>
                <a:t>         BENQ</a:t>
              </a:r>
              <a:endParaRPr lang="en-US" b="1" dirty="0">
                <a:solidFill>
                  <a:schemeClr val="bg2"/>
                </a:solidFill>
              </a:endParaRPr>
            </a:p>
          </p:txBody>
        </p:sp>
        <p:sp>
          <p:nvSpPr>
            <p:cNvPr id="26" name="Rectangle 25"/>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5" name="Group 27"/>
          <p:cNvGrpSpPr/>
          <p:nvPr/>
        </p:nvGrpSpPr>
        <p:grpSpPr>
          <a:xfrm>
            <a:off x="3477609" y="3484842"/>
            <a:ext cx="2159566" cy="592100"/>
            <a:chOff x="674962" y="3484842"/>
            <a:chExt cx="2159566" cy="592100"/>
          </a:xfrm>
        </p:grpSpPr>
        <p:sp>
          <p:nvSpPr>
            <p:cNvPr id="29" name="TextBox 28"/>
            <p:cNvSpPr txBox="1"/>
            <p:nvPr/>
          </p:nvSpPr>
          <p:spPr>
            <a:xfrm>
              <a:off x="674962" y="3484842"/>
              <a:ext cx="2159566" cy="369332"/>
            </a:xfrm>
            <a:prstGeom prst="rect">
              <a:avLst/>
            </a:prstGeom>
            <a:noFill/>
          </p:spPr>
          <p:txBody>
            <a:bodyPr wrap="none" rtlCol="0">
              <a:spAutoFit/>
            </a:bodyPr>
            <a:lstStyle/>
            <a:p>
              <a:r>
                <a:rPr lang="en-US" b="1" dirty="0" smtClean="0">
                  <a:solidFill>
                    <a:schemeClr val="bg2"/>
                  </a:solidFill>
                </a:rPr>
                <a:t>    FUSION CRAFT</a:t>
              </a:r>
              <a:endParaRPr lang="en-US" b="1" dirty="0">
                <a:solidFill>
                  <a:schemeClr val="bg2"/>
                </a:solidFill>
              </a:endParaRPr>
            </a:p>
          </p:txBody>
        </p:sp>
        <p:sp>
          <p:nvSpPr>
            <p:cNvPr id="30" name="Rectangle 29"/>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6" name="Group 30"/>
          <p:cNvGrpSpPr/>
          <p:nvPr/>
        </p:nvGrpSpPr>
        <p:grpSpPr>
          <a:xfrm>
            <a:off x="6280256" y="3484842"/>
            <a:ext cx="2005677" cy="592100"/>
            <a:chOff x="674962" y="3484842"/>
            <a:chExt cx="2005677" cy="592100"/>
          </a:xfrm>
        </p:grpSpPr>
        <p:sp>
          <p:nvSpPr>
            <p:cNvPr id="32" name="TextBox 31"/>
            <p:cNvSpPr txBox="1"/>
            <p:nvPr/>
          </p:nvSpPr>
          <p:spPr>
            <a:xfrm>
              <a:off x="674962" y="3484842"/>
              <a:ext cx="2005677" cy="369332"/>
            </a:xfrm>
            <a:prstGeom prst="rect">
              <a:avLst/>
            </a:prstGeom>
            <a:noFill/>
          </p:spPr>
          <p:txBody>
            <a:bodyPr wrap="none" rtlCol="0">
              <a:spAutoFit/>
            </a:bodyPr>
            <a:lstStyle/>
            <a:p>
              <a:r>
                <a:rPr lang="en-US" b="1" dirty="0" smtClean="0">
                  <a:solidFill>
                    <a:schemeClr val="bg2"/>
                  </a:solidFill>
                </a:rPr>
                <a:t>          HIKVISION</a:t>
              </a:r>
              <a:endParaRPr lang="en-US" b="1" dirty="0">
                <a:solidFill>
                  <a:schemeClr val="bg2"/>
                </a:solidFill>
              </a:endParaRPr>
            </a:p>
          </p:txBody>
        </p:sp>
        <p:sp>
          <p:nvSpPr>
            <p:cNvPr id="33" name="Rectangle 32"/>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7" name="Group 33"/>
          <p:cNvGrpSpPr/>
          <p:nvPr/>
        </p:nvGrpSpPr>
        <p:grpSpPr>
          <a:xfrm>
            <a:off x="9082903" y="3484842"/>
            <a:ext cx="1505540" cy="592100"/>
            <a:chOff x="674962" y="3484842"/>
            <a:chExt cx="1505540" cy="592100"/>
          </a:xfrm>
        </p:grpSpPr>
        <p:sp>
          <p:nvSpPr>
            <p:cNvPr id="35" name="TextBox 34"/>
            <p:cNvSpPr txBox="1"/>
            <p:nvPr/>
          </p:nvSpPr>
          <p:spPr>
            <a:xfrm>
              <a:off x="674962" y="3484842"/>
              <a:ext cx="1505540" cy="369332"/>
            </a:xfrm>
            <a:prstGeom prst="rect">
              <a:avLst/>
            </a:prstGeom>
            <a:noFill/>
          </p:spPr>
          <p:txBody>
            <a:bodyPr wrap="none" rtlCol="0">
              <a:spAutoFit/>
            </a:bodyPr>
            <a:lstStyle/>
            <a:p>
              <a:r>
                <a:rPr lang="en-US" b="1" dirty="0" smtClean="0">
                  <a:solidFill>
                    <a:schemeClr val="bg2"/>
                  </a:solidFill>
                </a:rPr>
                <a:t>        EPSON</a:t>
              </a:r>
              <a:endParaRPr lang="en-US" b="1" dirty="0">
                <a:solidFill>
                  <a:schemeClr val="bg2"/>
                </a:solidFill>
              </a:endParaRPr>
            </a:p>
          </p:txBody>
        </p:sp>
        <p:sp>
          <p:nvSpPr>
            <p:cNvPr id="36" name="Rectangle 35"/>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8" name="Group 36"/>
          <p:cNvGrpSpPr/>
          <p:nvPr/>
        </p:nvGrpSpPr>
        <p:grpSpPr>
          <a:xfrm>
            <a:off x="674962" y="5881239"/>
            <a:ext cx="2005677" cy="592100"/>
            <a:chOff x="674962" y="3484842"/>
            <a:chExt cx="2005677" cy="592100"/>
          </a:xfrm>
        </p:grpSpPr>
        <p:sp>
          <p:nvSpPr>
            <p:cNvPr id="38" name="TextBox 37"/>
            <p:cNvSpPr txBox="1"/>
            <p:nvPr/>
          </p:nvSpPr>
          <p:spPr>
            <a:xfrm>
              <a:off x="674962" y="3484842"/>
              <a:ext cx="2005677" cy="369332"/>
            </a:xfrm>
            <a:prstGeom prst="rect">
              <a:avLst/>
            </a:prstGeom>
            <a:noFill/>
          </p:spPr>
          <p:txBody>
            <a:bodyPr wrap="none" rtlCol="0">
              <a:spAutoFit/>
            </a:bodyPr>
            <a:lstStyle/>
            <a:p>
              <a:r>
                <a:rPr lang="en-US" b="1" dirty="0" smtClean="0">
                  <a:solidFill>
                    <a:schemeClr val="bg2"/>
                  </a:solidFill>
                </a:rPr>
                <a:t>      QUICK </a:t>
              </a:r>
              <a:r>
                <a:rPr lang="en-US" b="1" dirty="0">
                  <a:solidFill>
                    <a:schemeClr val="bg2"/>
                  </a:solidFill>
                </a:rPr>
                <a:t>HEAL</a:t>
              </a:r>
            </a:p>
          </p:txBody>
        </p:sp>
        <p:sp>
          <p:nvSpPr>
            <p:cNvPr id="39" name="Rectangle 38"/>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9" name="Group 39"/>
          <p:cNvGrpSpPr/>
          <p:nvPr/>
        </p:nvGrpSpPr>
        <p:grpSpPr>
          <a:xfrm>
            <a:off x="3477609" y="5881239"/>
            <a:ext cx="1984261" cy="592100"/>
            <a:chOff x="674962" y="3484842"/>
            <a:chExt cx="1984261" cy="592100"/>
          </a:xfrm>
        </p:grpSpPr>
        <p:sp>
          <p:nvSpPr>
            <p:cNvPr id="41" name="TextBox 40"/>
            <p:cNvSpPr txBox="1"/>
            <p:nvPr/>
          </p:nvSpPr>
          <p:spPr>
            <a:xfrm>
              <a:off x="674962" y="3484842"/>
              <a:ext cx="1984261" cy="369332"/>
            </a:xfrm>
            <a:prstGeom prst="rect">
              <a:avLst/>
            </a:prstGeom>
            <a:noFill/>
          </p:spPr>
          <p:txBody>
            <a:bodyPr wrap="none" rtlCol="0">
              <a:spAutoFit/>
            </a:bodyPr>
            <a:lstStyle/>
            <a:p>
              <a:r>
                <a:rPr lang="en-US" b="1" dirty="0" smtClean="0">
                  <a:solidFill>
                    <a:schemeClr val="bg2"/>
                  </a:solidFill>
                </a:rPr>
                <a:t>         DATABYTE</a:t>
              </a:r>
              <a:endParaRPr lang="en-US" b="1" dirty="0">
                <a:solidFill>
                  <a:schemeClr val="bg2"/>
                </a:solidFill>
              </a:endParaRPr>
            </a:p>
          </p:txBody>
        </p:sp>
        <p:sp>
          <p:nvSpPr>
            <p:cNvPr id="42" name="Rectangle 41"/>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10" name="Group 42"/>
          <p:cNvGrpSpPr/>
          <p:nvPr/>
        </p:nvGrpSpPr>
        <p:grpSpPr>
          <a:xfrm>
            <a:off x="6280256" y="5881239"/>
            <a:ext cx="1736373" cy="592100"/>
            <a:chOff x="674962" y="3484842"/>
            <a:chExt cx="1736373" cy="592100"/>
          </a:xfrm>
        </p:grpSpPr>
        <p:sp>
          <p:nvSpPr>
            <p:cNvPr id="44" name="TextBox 43"/>
            <p:cNvSpPr txBox="1"/>
            <p:nvPr/>
          </p:nvSpPr>
          <p:spPr>
            <a:xfrm>
              <a:off x="674962" y="3484842"/>
              <a:ext cx="1736373" cy="369332"/>
            </a:xfrm>
            <a:prstGeom prst="rect">
              <a:avLst/>
            </a:prstGeom>
            <a:noFill/>
          </p:spPr>
          <p:txBody>
            <a:bodyPr wrap="none" rtlCol="0">
              <a:spAutoFit/>
            </a:bodyPr>
            <a:lstStyle/>
            <a:p>
              <a:r>
                <a:rPr lang="en-US" b="1" dirty="0" smtClean="0">
                  <a:solidFill>
                    <a:schemeClr val="bg2"/>
                  </a:solidFill>
                </a:rPr>
                <a:t>       MEDILINE</a:t>
              </a:r>
              <a:endParaRPr lang="en-US" b="1" dirty="0">
                <a:solidFill>
                  <a:schemeClr val="bg2"/>
                </a:solidFill>
              </a:endParaRPr>
            </a:p>
          </p:txBody>
        </p:sp>
        <p:sp>
          <p:nvSpPr>
            <p:cNvPr id="45" name="Rectangle 44"/>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grpSp>
        <p:nvGrpSpPr>
          <p:cNvPr id="11" name="Group 45"/>
          <p:cNvGrpSpPr/>
          <p:nvPr/>
        </p:nvGrpSpPr>
        <p:grpSpPr>
          <a:xfrm>
            <a:off x="9082903" y="5881239"/>
            <a:ext cx="1980029" cy="592100"/>
            <a:chOff x="674962" y="3484842"/>
            <a:chExt cx="1980029" cy="592100"/>
          </a:xfrm>
        </p:grpSpPr>
        <p:sp>
          <p:nvSpPr>
            <p:cNvPr id="47" name="TextBox 46"/>
            <p:cNvSpPr txBox="1"/>
            <p:nvPr/>
          </p:nvSpPr>
          <p:spPr>
            <a:xfrm>
              <a:off x="674962" y="3484842"/>
              <a:ext cx="1980029" cy="369332"/>
            </a:xfrm>
            <a:prstGeom prst="rect">
              <a:avLst/>
            </a:prstGeom>
            <a:noFill/>
          </p:spPr>
          <p:txBody>
            <a:bodyPr wrap="none" rtlCol="0">
              <a:spAutoFit/>
            </a:bodyPr>
            <a:lstStyle/>
            <a:p>
              <a:r>
                <a:rPr lang="en-US" b="1" dirty="0" smtClean="0">
                  <a:solidFill>
                    <a:schemeClr val="bg2"/>
                  </a:solidFill>
                </a:rPr>
                <a:t>          VORTRON</a:t>
              </a:r>
              <a:endParaRPr lang="en-US" b="1" dirty="0">
                <a:solidFill>
                  <a:schemeClr val="bg2"/>
                </a:solidFill>
              </a:endParaRPr>
            </a:p>
          </p:txBody>
        </p:sp>
        <p:sp>
          <p:nvSpPr>
            <p:cNvPr id="48" name="Rectangle 47"/>
            <p:cNvSpPr/>
            <p:nvPr/>
          </p:nvSpPr>
          <p:spPr>
            <a:xfrm>
              <a:off x="674962" y="3799943"/>
              <a:ext cx="184731" cy="276999"/>
            </a:xfrm>
            <a:prstGeom prst="rect">
              <a:avLst/>
            </a:prstGeom>
          </p:spPr>
          <p:txBody>
            <a:bodyPr wrap="none">
              <a:spAutoFit/>
            </a:bodyPr>
            <a:lstStyle/>
            <a:p>
              <a:endParaRPr lang="en-US" sz="1200" dirty="0">
                <a:solidFill>
                  <a:schemeClr val="bg2"/>
                </a:solidFill>
              </a:endParaRPr>
            </a:p>
          </p:txBody>
        </p:sp>
      </p:grpSp>
      <p:pic>
        <p:nvPicPr>
          <p:cNvPr id="4097" name="Picture 1"/>
          <p:cNvPicPr>
            <a:picLocks noChangeAspect="1" noChangeArrowheads="1"/>
          </p:cNvPicPr>
          <p:nvPr/>
        </p:nvPicPr>
        <p:blipFill>
          <a:blip r:embed="rId2" cstate="print"/>
          <a:srcRect/>
          <a:stretch>
            <a:fillRect/>
          </a:stretch>
        </p:blipFill>
        <p:spPr bwMode="auto">
          <a:xfrm>
            <a:off x="812765" y="2033752"/>
            <a:ext cx="1961966" cy="1216095"/>
          </a:xfrm>
          <a:prstGeom prst="rect">
            <a:avLst/>
          </a:prstGeom>
          <a:noFill/>
          <a:ln w="9525">
            <a:noFill/>
            <a:miter lim="800000"/>
            <a:headEnd/>
            <a:tailEnd/>
          </a:ln>
        </p:spPr>
      </p:pic>
      <p:pic>
        <p:nvPicPr>
          <p:cNvPr id="4098" name="Picture 2"/>
          <p:cNvPicPr>
            <a:picLocks noChangeAspect="1" noChangeArrowheads="1"/>
          </p:cNvPicPr>
          <p:nvPr/>
        </p:nvPicPr>
        <p:blipFill>
          <a:blip r:embed="rId3" cstate="print"/>
          <a:srcRect/>
          <a:stretch>
            <a:fillRect/>
          </a:stretch>
        </p:blipFill>
        <p:spPr bwMode="auto">
          <a:xfrm>
            <a:off x="3487792" y="2189107"/>
            <a:ext cx="2266622" cy="979761"/>
          </a:xfrm>
          <a:prstGeom prst="rect">
            <a:avLst/>
          </a:prstGeom>
          <a:noFill/>
          <a:ln w="9525">
            <a:noFill/>
            <a:miter lim="800000"/>
            <a:headEnd/>
            <a:tailEnd/>
          </a:ln>
        </p:spPr>
      </p:pic>
      <p:pic>
        <p:nvPicPr>
          <p:cNvPr id="4099" name="Picture 3"/>
          <p:cNvPicPr>
            <a:picLocks noChangeAspect="1" noChangeArrowheads="1"/>
          </p:cNvPicPr>
          <p:nvPr/>
        </p:nvPicPr>
        <p:blipFill>
          <a:blip r:embed="rId4" cstate="print"/>
          <a:srcRect/>
          <a:stretch>
            <a:fillRect/>
          </a:stretch>
        </p:blipFill>
        <p:spPr bwMode="auto">
          <a:xfrm>
            <a:off x="6330678" y="2412125"/>
            <a:ext cx="2152390" cy="612884"/>
          </a:xfrm>
          <a:prstGeom prst="rect">
            <a:avLst/>
          </a:prstGeom>
          <a:noFill/>
          <a:ln w="9525">
            <a:noFill/>
            <a:miter lim="800000"/>
            <a:headEnd/>
            <a:tailEnd/>
          </a:ln>
        </p:spPr>
      </p:pic>
      <p:pic>
        <p:nvPicPr>
          <p:cNvPr id="4100" name="Picture 4"/>
          <p:cNvPicPr>
            <a:picLocks noChangeAspect="1" noChangeArrowheads="1"/>
          </p:cNvPicPr>
          <p:nvPr/>
        </p:nvPicPr>
        <p:blipFill>
          <a:blip r:embed="rId5" cstate="print"/>
          <a:srcRect/>
          <a:stretch>
            <a:fillRect/>
          </a:stretch>
        </p:blipFill>
        <p:spPr bwMode="auto">
          <a:xfrm>
            <a:off x="9238593" y="2353989"/>
            <a:ext cx="2176955" cy="661912"/>
          </a:xfrm>
          <a:prstGeom prst="rect">
            <a:avLst/>
          </a:prstGeom>
          <a:noFill/>
          <a:ln w="9525">
            <a:noFill/>
            <a:miter lim="800000"/>
            <a:headEnd/>
            <a:tailEnd/>
          </a:ln>
        </p:spPr>
      </p:pic>
      <p:pic>
        <p:nvPicPr>
          <p:cNvPr id="4101" name="Picture 5"/>
          <p:cNvPicPr>
            <a:picLocks noChangeAspect="1" noChangeArrowheads="1"/>
          </p:cNvPicPr>
          <p:nvPr/>
        </p:nvPicPr>
        <p:blipFill>
          <a:blip r:embed="rId6" cstate="print"/>
          <a:srcRect/>
          <a:stretch>
            <a:fillRect/>
          </a:stretch>
        </p:blipFill>
        <p:spPr bwMode="auto">
          <a:xfrm>
            <a:off x="692370" y="4770441"/>
            <a:ext cx="2271548" cy="637295"/>
          </a:xfrm>
          <a:prstGeom prst="rect">
            <a:avLst/>
          </a:prstGeom>
          <a:noFill/>
          <a:ln w="9525">
            <a:noFill/>
            <a:miter lim="800000"/>
            <a:headEnd/>
            <a:tailEnd/>
          </a:ln>
        </p:spPr>
      </p:pic>
      <p:pic>
        <p:nvPicPr>
          <p:cNvPr id="4102" name="Picture 6"/>
          <p:cNvPicPr>
            <a:picLocks noChangeAspect="1" noChangeArrowheads="1"/>
          </p:cNvPicPr>
          <p:nvPr/>
        </p:nvPicPr>
        <p:blipFill>
          <a:blip r:embed="rId7" cstate="print"/>
          <a:srcRect/>
          <a:stretch>
            <a:fillRect/>
          </a:stretch>
        </p:blipFill>
        <p:spPr bwMode="auto">
          <a:xfrm>
            <a:off x="4174086" y="4357629"/>
            <a:ext cx="1154660" cy="1296772"/>
          </a:xfrm>
          <a:prstGeom prst="rect">
            <a:avLst/>
          </a:prstGeom>
          <a:noFill/>
          <a:ln w="9525">
            <a:noFill/>
            <a:miter lim="800000"/>
            <a:headEnd/>
            <a:tailEnd/>
          </a:ln>
        </p:spPr>
      </p:pic>
      <p:pic>
        <p:nvPicPr>
          <p:cNvPr id="4103" name="Picture 7"/>
          <p:cNvPicPr>
            <a:picLocks noChangeAspect="1" noChangeArrowheads="1"/>
          </p:cNvPicPr>
          <p:nvPr/>
        </p:nvPicPr>
        <p:blipFill>
          <a:blip r:embed="rId8" cstate="print"/>
          <a:srcRect/>
          <a:stretch>
            <a:fillRect/>
          </a:stretch>
        </p:blipFill>
        <p:spPr bwMode="auto">
          <a:xfrm>
            <a:off x="6736639" y="4290849"/>
            <a:ext cx="1492961" cy="1492961"/>
          </a:xfrm>
          <a:prstGeom prst="rect">
            <a:avLst/>
          </a:prstGeom>
          <a:noFill/>
          <a:ln w="9525">
            <a:noFill/>
            <a:miter lim="800000"/>
            <a:headEnd/>
            <a:tailEnd/>
          </a:ln>
        </p:spPr>
      </p:pic>
      <p:pic>
        <p:nvPicPr>
          <p:cNvPr id="4104" name="Picture 8"/>
          <p:cNvPicPr>
            <a:picLocks noChangeAspect="1" noChangeArrowheads="1"/>
          </p:cNvPicPr>
          <p:nvPr/>
        </p:nvPicPr>
        <p:blipFill>
          <a:blip r:embed="rId9" cstate="print"/>
          <a:srcRect/>
          <a:stretch>
            <a:fillRect/>
          </a:stretch>
        </p:blipFill>
        <p:spPr bwMode="auto">
          <a:xfrm>
            <a:off x="9385903" y="4455331"/>
            <a:ext cx="1839145" cy="1306309"/>
          </a:xfrm>
          <a:prstGeom prst="rect">
            <a:avLst/>
          </a:prstGeom>
          <a:noFill/>
          <a:ln w="9525">
            <a:noFill/>
            <a:miter lim="800000"/>
            <a:headEnd/>
            <a:tailEnd/>
          </a:ln>
        </p:spPr>
      </p:pic>
    </p:spTree>
    <p:extLst>
      <p:ext uri="{BB962C8B-B14F-4D97-AF65-F5344CB8AC3E}">
        <p14:creationId xmlns:p14="http://schemas.microsoft.com/office/powerpoint/2010/main" val="3108088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1"/>
            <a:ext cx="12192000" cy="3052689"/>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9"/>
          <p:cNvGrpSpPr/>
          <p:nvPr/>
        </p:nvGrpSpPr>
        <p:grpSpPr>
          <a:xfrm>
            <a:off x="3517257" y="266783"/>
            <a:ext cx="4843977" cy="929453"/>
            <a:chOff x="3674011" y="3232052"/>
            <a:chExt cx="4843977" cy="929453"/>
          </a:xfrm>
        </p:grpSpPr>
        <p:sp>
          <p:nvSpPr>
            <p:cNvPr id="3" name="TextBox 2"/>
            <p:cNvSpPr txBox="1"/>
            <p:nvPr/>
          </p:nvSpPr>
          <p:spPr>
            <a:xfrm>
              <a:off x="4756626" y="3232052"/>
              <a:ext cx="2783134" cy="707886"/>
            </a:xfrm>
            <a:prstGeom prst="rect">
              <a:avLst/>
            </a:prstGeom>
            <a:noFill/>
          </p:spPr>
          <p:txBody>
            <a:bodyPr wrap="none" rtlCol="0">
              <a:spAutoFit/>
            </a:bodyPr>
            <a:lstStyle/>
            <a:p>
              <a:pPr algn="ctr"/>
              <a:r>
                <a:rPr lang="en-US" sz="4000" dirty="0">
                  <a:solidFill>
                    <a:schemeClr val="bg2"/>
                  </a:solidFill>
                  <a:latin typeface="+mj-lt"/>
                </a:rPr>
                <a:t>Contact </a:t>
              </a:r>
              <a:r>
                <a:rPr lang="en-US" sz="4000" dirty="0" smtClean="0">
                  <a:solidFill>
                    <a:schemeClr val="bg2"/>
                  </a:solidFill>
                  <a:latin typeface="+mj-lt"/>
                </a:rPr>
                <a:t>Us </a:t>
              </a:r>
              <a:endParaRPr lang="en-US" sz="4000" dirty="0">
                <a:solidFill>
                  <a:schemeClr val="bg2"/>
                </a:solidFill>
                <a:latin typeface="+mj-lt"/>
              </a:endParaRPr>
            </a:p>
          </p:txBody>
        </p:sp>
        <p:sp>
          <p:nvSpPr>
            <p:cNvPr id="4" name="Rectangle 3"/>
            <p:cNvSpPr/>
            <p:nvPr/>
          </p:nvSpPr>
          <p:spPr>
            <a:xfrm>
              <a:off x="3674011" y="3853728"/>
              <a:ext cx="4843977" cy="307777"/>
            </a:xfrm>
            <a:prstGeom prst="rect">
              <a:avLst/>
            </a:prstGeom>
          </p:spPr>
          <p:txBody>
            <a:bodyPr wrap="square">
              <a:spAutoFit/>
            </a:bodyPr>
            <a:lstStyle/>
            <a:p>
              <a:pPr algn="ctr"/>
              <a:endParaRPr lang="en-US" sz="1400" dirty="0">
                <a:solidFill>
                  <a:schemeClr val="accent2"/>
                </a:solidFill>
              </a:endParaRPr>
            </a:p>
          </p:txBody>
        </p:sp>
      </p:grpSp>
      <p:sp>
        <p:nvSpPr>
          <p:cNvPr id="6" name="TextBox 5"/>
          <p:cNvSpPr txBox="1"/>
          <p:nvPr/>
        </p:nvSpPr>
        <p:spPr>
          <a:xfrm>
            <a:off x="1364566" y="4726745"/>
            <a:ext cx="184731" cy="369332"/>
          </a:xfrm>
          <a:prstGeom prst="rect">
            <a:avLst/>
          </a:prstGeom>
          <a:noFill/>
        </p:spPr>
        <p:txBody>
          <a:bodyPr wrap="none" rtlCol="0">
            <a:spAutoFit/>
          </a:bodyPr>
          <a:lstStyle/>
          <a:p>
            <a:endParaRPr lang="en-US"/>
          </a:p>
        </p:txBody>
      </p:sp>
      <p:grpSp>
        <p:nvGrpSpPr>
          <p:cNvPr id="10" name="Group 10"/>
          <p:cNvGrpSpPr/>
          <p:nvPr/>
        </p:nvGrpSpPr>
        <p:grpSpPr>
          <a:xfrm>
            <a:off x="2730138" y="3474721"/>
            <a:ext cx="5672884" cy="2058976"/>
            <a:chOff x="5760720" y="3540034"/>
            <a:chExt cx="5740623" cy="2456049"/>
          </a:xfrm>
        </p:grpSpPr>
        <p:sp>
          <p:nvSpPr>
            <p:cNvPr id="5" name="Rectangle 4"/>
            <p:cNvSpPr/>
            <p:nvPr/>
          </p:nvSpPr>
          <p:spPr>
            <a:xfrm>
              <a:off x="5760720" y="3540034"/>
              <a:ext cx="5740623" cy="1654964"/>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7" name="Rectangle 6"/>
            <p:cNvSpPr/>
            <p:nvPr/>
          </p:nvSpPr>
          <p:spPr>
            <a:xfrm>
              <a:off x="5878287" y="3605348"/>
              <a:ext cx="4545874" cy="2246769"/>
            </a:xfrm>
            <a:prstGeom prst="rect">
              <a:avLst/>
            </a:prstGeom>
          </p:spPr>
          <p:txBody>
            <a:bodyPr wrap="square">
              <a:spAutoFit/>
            </a:bodyPr>
            <a:lstStyle/>
            <a:p>
              <a:r>
                <a:rPr lang="en-IN" sz="1400" b="1" i="1" dirty="0">
                  <a:solidFill>
                    <a:schemeClr val="bg2"/>
                  </a:solidFill>
                </a:rPr>
                <a:t>Company Registered Address </a:t>
              </a:r>
              <a:r>
                <a:rPr lang="en-IN" sz="1400" i="1" dirty="0" smtClean="0">
                  <a:solidFill>
                    <a:schemeClr val="bg2"/>
                  </a:solidFill>
                </a:rPr>
                <a:t>–</a:t>
              </a:r>
            </a:p>
            <a:p>
              <a:r>
                <a:rPr lang="en-US" sz="1400" i="1" dirty="0" err="1" smtClean="0">
                  <a:solidFill>
                    <a:schemeClr val="bg2"/>
                  </a:solidFill>
                </a:rPr>
                <a:t>Shalvi</a:t>
              </a:r>
              <a:r>
                <a:rPr lang="en-US" sz="1400" i="1" dirty="0" smtClean="0">
                  <a:solidFill>
                    <a:schemeClr val="bg2"/>
                  </a:solidFill>
                </a:rPr>
                <a:t> Technologies</a:t>
              </a:r>
              <a:endParaRPr lang="en-IN" sz="1400" i="1" dirty="0">
                <a:solidFill>
                  <a:schemeClr val="bg2"/>
                </a:solidFill>
              </a:endParaRPr>
            </a:p>
            <a:p>
              <a:r>
                <a:rPr lang="en-IN" sz="1400" i="1" dirty="0">
                  <a:solidFill>
                    <a:schemeClr val="bg2"/>
                  </a:solidFill>
                </a:rPr>
                <a:t>Plot No</a:t>
              </a:r>
              <a:r>
                <a:rPr lang="en-IN" sz="1400" i="1" dirty="0" smtClean="0">
                  <a:solidFill>
                    <a:schemeClr val="bg2"/>
                  </a:solidFill>
                </a:rPr>
                <a:t>.- </a:t>
              </a:r>
              <a:r>
                <a:rPr lang="en-GB" sz="1400" dirty="0" smtClean="0">
                  <a:solidFill>
                    <a:schemeClr val="bg2"/>
                  </a:solidFill>
                </a:rPr>
                <a:t>67 &amp; 68, </a:t>
              </a:r>
              <a:r>
                <a:rPr lang="en-GB" sz="1400" dirty="0" err="1" smtClean="0">
                  <a:solidFill>
                    <a:schemeClr val="bg2"/>
                  </a:solidFill>
                </a:rPr>
                <a:t>Aranya</a:t>
              </a:r>
              <a:r>
                <a:rPr lang="en-GB" sz="1400" dirty="0" smtClean="0">
                  <a:solidFill>
                    <a:schemeClr val="bg2"/>
                  </a:solidFill>
                </a:rPr>
                <a:t> Estate, C.G. City,</a:t>
              </a:r>
            </a:p>
            <a:p>
              <a:r>
                <a:rPr lang="en-GB" sz="1400" dirty="0" err="1" smtClean="0">
                  <a:solidFill>
                    <a:schemeClr val="bg2"/>
                  </a:solidFill>
                </a:rPr>
                <a:t>Ahahamau</a:t>
              </a:r>
              <a:r>
                <a:rPr lang="en-GB" sz="1400" dirty="0" smtClean="0">
                  <a:solidFill>
                    <a:schemeClr val="bg2"/>
                  </a:solidFill>
                </a:rPr>
                <a:t>, </a:t>
              </a:r>
              <a:r>
                <a:rPr lang="en-GB" sz="1400" dirty="0" err="1" smtClean="0">
                  <a:solidFill>
                    <a:schemeClr val="bg2"/>
                  </a:solidFill>
                </a:rPr>
                <a:t>Sultanpur</a:t>
              </a:r>
              <a:r>
                <a:rPr lang="en-GB" sz="1400" dirty="0" smtClean="0">
                  <a:solidFill>
                    <a:schemeClr val="bg2"/>
                  </a:solidFill>
                </a:rPr>
                <a:t> Road</a:t>
              </a:r>
            </a:p>
            <a:p>
              <a:r>
                <a:rPr lang="en-GB" sz="1400" dirty="0" err="1" smtClean="0">
                  <a:solidFill>
                    <a:schemeClr val="bg2"/>
                  </a:solidFill>
                </a:rPr>
                <a:t>Lucknow</a:t>
              </a:r>
              <a:r>
                <a:rPr lang="en-GB" sz="1400" dirty="0" smtClean="0">
                  <a:solidFill>
                    <a:schemeClr val="bg2"/>
                  </a:solidFill>
                </a:rPr>
                <a:t> - 226002</a:t>
              </a:r>
            </a:p>
            <a:p>
              <a:endParaRPr lang="en-IN" sz="1400" i="1" dirty="0">
                <a:solidFill>
                  <a:schemeClr val="bg2"/>
                </a:solidFill>
              </a:endParaRPr>
            </a:p>
            <a:p>
              <a:r>
                <a:rPr lang="en-IN" sz="1400" i="1" dirty="0">
                  <a:solidFill>
                    <a:schemeClr val="bg2"/>
                  </a:solidFill>
                </a:rPr>
                <a:t>Contact- 	+91 </a:t>
              </a:r>
              <a:r>
                <a:rPr lang="en-IN" sz="1400" i="1" dirty="0" smtClean="0">
                  <a:solidFill>
                    <a:schemeClr val="bg2"/>
                  </a:solidFill>
                </a:rPr>
                <a:t>6307057085</a:t>
              </a:r>
              <a:endParaRPr lang="en-IN" sz="1400" i="1" dirty="0">
                <a:solidFill>
                  <a:schemeClr val="bg2"/>
                </a:solidFill>
              </a:endParaRPr>
            </a:p>
            <a:p>
              <a:r>
                <a:rPr lang="en-IN" sz="1400" i="1" dirty="0">
                  <a:solidFill>
                    <a:schemeClr val="bg2"/>
                  </a:solidFill>
                </a:rPr>
                <a:t>E-Mail- 	</a:t>
              </a:r>
              <a:r>
                <a:rPr lang="en-IN" sz="1400" i="1" dirty="0" smtClean="0">
                  <a:solidFill>
                    <a:schemeClr val="bg2"/>
                  </a:solidFill>
                  <a:hlinkClick r:id="rId2"/>
                </a:rPr>
                <a:t>shalvitechnologieslko@gmail.com</a:t>
              </a:r>
              <a:endParaRPr lang="en-IN" sz="1400" i="1" dirty="0">
                <a:solidFill>
                  <a:schemeClr val="bg2"/>
                </a:solidFill>
              </a:endParaRPr>
            </a:p>
            <a:p>
              <a:endParaRPr lang="en-IN" sz="1400" i="1" dirty="0">
                <a:solidFill>
                  <a:schemeClr val="bg2"/>
                </a:solidFill>
              </a:endParaRPr>
            </a:p>
            <a:p>
              <a:endParaRPr lang="en-US" sz="1400" i="1" dirty="0">
                <a:solidFill>
                  <a:schemeClr val="bg2"/>
                </a:solidFill>
              </a:endParaRPr>
            </a:p>
          </p:txBody>
        </p:sp>
        <p:sp>
          <p:nvSpPr>
            <p:cNvPr id="8" name="TextBox 7"/>
            <p:cNvSpPr txBox="1"/>
            <p:nvPr/>
          </p:nvSpPr>
          <p:spPr>
            <a:xfrm>
              <a:off x="8378157" y="5626751"/>
              <a:ext cx="184731" cy="369332"/>
            </a:xfrm>
            <a:prstGeom prst="rect">
              <a:avLst/>
            </a:prstGeom>
            <a:noFill/>
          </p:spPr>
          <p:txBody>
            <a:bodyPr wrap="none" rtlCol="0">
              <a:spAutoFit/>
            </a:bodyPr>
            <a:lstStyle/>
            <a:p>
              <a:pPr algn="ctr"/>
              <a:endParaRPr lang="en-US" b="1" dirty="0">
                <a:solidFill>
                  <a:schemeClr val="bg2"/>
                </a:solidFill>
              </a:endParaRPr>
            </a:p>
          </p:txBody>
        </p:sp>
      </p:grpSp>
      <p:pic>
        <p:nvPicPr>
          <p:cNvPr id="11" name="Picture 10"/>
          <p:cNvPicPr/>
          <p:nvPr/>
        </p:nvPicPr>
        <p:blipFill>
          <a:blip r:embed="rId3" cstate="print"/>
          <a:srcRect/>
          <a:stretch>
            <a:fillRect/>
          </a:stretch>
        </p:blipFill>
        <p:spPr bwMode="auto">
          <a:xfrm>
            <a:off x="487052" y="276399"/>
            <a:ext cx="1783181" cy="1851946"/>
          </a:xfrm>
          <a:prstGeom prst="rect">
            <a:avLst/>
          </a:prstGeom>
          <a:noFill/>
          <a:ln w="9525">
            <a:noFill/>
            <a:miter lim="800000"/>
            <a:headEnd/>
            <a:tailEnd/>
          </a:ln>
        </p:spPr>
      </p:pic>
      <p:pic>
        <p:nvPicPr>
          <p:cNvPr id="3073" name="Picture 1" descr="C:\Users\Gyanesh\Desktop\LOGO Chappi.png"/>
          <p:cNvPicPr>
            <a:picLocks noChangeAspect="1" noChangeArrowheads="1"/>
          </p:cNvPicPr>
          <p:nvPr/>
        </p:nvPicPr>
        <p:blipFill>
          <a:blip r:embed="rId4" cstate="print"/>
          <a:srcRect/>
          <a:stretch>
            <a:fillRect/>
          </a:stretch>
        </p:blipFill>
        <p:spPr bwMode="auto">
          <a:xfrm>
            <a:off x="10200291" y="271464"/>
            <a:ext cx="1465372" cy="1465372"/>
          </a:xfrm>
          <a:prstGeom prst="rect">
            <a:avLst/>
          </a:prstGeom>
          <a:noFill/>
        </p:spPr>
      </p:pic>
    </p:spTree>
    <p:extLst>
      <p:ext uri="{BB962C8B-B14F-4D97-AF65-F5344CB8AC3E}">
        <p14:creationId xmlns:p14="http://schemas.microsoft.com/office/powerpoint/2010/main" val="345064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7"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900" decel="100000" fill="hold"/>
                                        <p:tgtEl>
                                          <p:spTgt spid="10"/>
                                        </p:tgtEl>
                                        <p:attrNameLst>
                                          <p:attrName>ppt_y</p:attrName>
                                        </p:attrNameLst>
                                      </p:cBhvr>
                                      <p:tavLst>
                                        <p:tav tm="0">
                                          <p:val>
                                            <p:strVal val="#ppt_y+1"/>
                                          </p:val>
                                        </p:tav>
                                        <p:tav tm="100000">
                                          <p:val>
                                            <p:strVal val="#ppt_y-.03"/>
                                          </p:val>
                                        </p:tav>
                                      </p:tavLst>
                                    </p:anim>
                                    <p:anim calcmode="lin" valueType="num">
                                      <p:cBhvr>
                                        <p:cTn id="17"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Lime">
      <a:dk1>
        <a:srgbClr val="1C1C1C"/>
      </a:dk1>
      <a:lt1>
        <a:srgbClr val="FFFFFF"/>
      </a:lt1>
      <a:dk2>
        <a:srgbClr val="44546A"/>
      </a:dk2>
      <a:lt2>
        <a:srgbClr val="FCFCFC"/>
      </a:lt2>
      <a:accent1>
        <a:srgbClr val="505E19"/>
      </a:accent1>
      <a:accent2>
        <a:srgbClr val="788D26"/>
      </a:accent2>
      <a:accent3>
        <a:srgbClr val="A0BC34"/>
      </a:accent3>
      <a:accent4>
        <a:srgbClr val="C9DB80"/>
      </a:accent4>
      <a:accent5>
        <a:srgbClr val="DBE7AA"/>
      </a:accent5>
      <a:accent6>
        <a:srgbClr val="EDF3D4"/>
      </a:accent6>
      <a:hlink>
        <a:srgbClr val="F49100"/>
      </a:hlink>
      <a:folHlink>
        <a:srgbClr val="85DFD0"/>
      </a:folHlink>
    </a:clrScheme>
    <a:fontScheme name="Custom 3">
      <a:majorFont>
        <a:latin typeface="Lato"/>
        <a:ea typeface=""/>
        <a:cs typeface=""/>
      </a:majorFont>
      <a:minorFont>
        <a:latin typeface="La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
    <a:dk1>
      <a:srgbClr val="1C1C1C"/>
    </a:dk1>
    <a:lt1>
      <a:srgbClr val="FFFFFF"/>
    </a:lt1>
    <a:dk2>
      <a:srgbClr val="44546A"/>
    </a:dk2>
    <a:lt2>
      <a:srgbClr val="FCFCFC"/>
    </a:lt2>
    <a:accent1>
      <a:srgbClr val="0087B1"/>
    </a:accent1>
    <a:accent2>
      <a:srgbClr val="45BE9B"/>
    </a:accent2>
    <a:accent3>
      <a:srgbClr val="A0BC34"/>
    </a:accent3>
    <a:accent4>
      <a:srgbClr val="F49100"/>
    </a:accent4>
    <a:accent5>
      <a:srgbClr val="D44024"/>
    </a:accent5>
    <a:accent6>
      <a:srgbClr val="00B3DC"/>
    </a:accent6>
    <a:hlink>
      <a:srgbClr val="F491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
  <TotalTime>10387</TotalTime>
  <Words>539</Words>
  <Application>Microsoft Office PowerPoint</Application>
  <PresentationFormat>Custom</PresentationFormat>
  <Paragraphs>105</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OVERVIEW</vt:lpstr>
      <vt:lpstr>OVERVIEW</vt:lpstr>
      <vt:lpstr>PowerPoint Presentation</vt:lpstr>
      <vt:lpstr>Premium Customer</vt:lpstr>
      <vt:lpstr>Our Offerings</vt:lpstr>
      <vt:lpstr>Meet The Team</vt:lpstr>
      <vt:lpstr>Our Alliance</vt:lpstr>
      <vt:lpstr>Our Alliance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Hoàng Thanh Bình</dc:creator>
  <cp:lastModifiedBy>DELL</cp:lastModifiedBy>
  <cp:revision>259</cp:revision>
  <dcterms:created xsi:type="dcterms:W3CDTF">2015-08-01T04:11:49Z</dcterms:created>
  <dcterms:modified xsi:type="dcterms:W3CDTF">2025-05-26T05:51:07Z</dcterms:modified>
</cp:coreProperties>
</file>